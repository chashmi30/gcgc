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1"/>
    <p:sldMasterId id="2147483660" r:id="rId2"/>
  </p:sldMasterIdLst>
  <p:notesMasterIdLst>
    <p:notesMasterId r:id="rId13"/>
  </p:notesMasterIdLst>
  <p:sldIdLst>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07F1F7-274F-45A1-9929-5D52E28B21D4}" type="datetimeFigureOut">
              <a:rPr lang="en-IN" smtClean="0"/>
              <a:t>30-06-2026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4C6D87-6876-4B5A-B384-851E11994FAC}" type="slidenum">
              <a:rPr lang="en-IN" smtClean="0"/>
              <a:t>‹#›</a:t>
            </a:fld>
            <a:endParaRPr lang="en-IN"/>
          </a:p>
        </p:txBody>
      </p:sp>
    </p:spTree>
    <p:extLst>
      <p:ext uri="{BB962C8B-B14F-4D97-AF65-F5344CB8AC3E}">
        <p14:creationId xmlns:p14="http://schemas.microsoft.com/office/powerpoint/2010/main" val="153617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mini diagram at the top previews the full clock tree. Proceed to walk through each stage.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628641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clock tree is configured in the Reset and Clock Control (RCC) peripheral. All register access is in the RCC block.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659129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02437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062658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413582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84702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786896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401572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23443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90311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802299"/>
            <a:ext cx="6477805" cy="2541431"/>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3531205"/>
            <a:ext cx="6477804" cy="977621"/>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defTabSz="342900"/>
            <a:r>
              <a:rPr lang="en-US">
                <a:solidFill>
                  <a:prstClr val="black">
                    <a:tint val="75000"/>
                  </a:prstClr>
                </a:solidFill>
              </a:rPr>
              <a:t>&lt;COURSE TITLE&gt;, &lt;TOPIC NAME&gt;</a:t>
            </a:r>
            <a:endParaRPr lang="en-IN" dirty="0">
              <a:solidFill>
                <a:prstClr val="black">
                  <a:tint val="75000"/>
                </a:prstClr>
              </a:solidFill>
            </a:endParaRPr>
          </a:p>
        </p:txBody>
      </p:sp>
      <p:sp>
        <p:nvSpPr>
          <p:cNvPr id="6" name="Slide Number Placeholder 5"/>
          <p:cNvSpPr>
            <a:spLocks noGrp="1"/>
          </p:cNvSpPr>
          <p:nvPr>
            <p:ph type="sldNum" sz="quarter" idx="12"/>
          </p:nvPr>
        </p:nvSpPr>
        <p:spPr>
          <a:xfrm>
            <a:off x="1078249" y="798973"/>
            <a:ext cx="608264" cy="503578"/>
          </a:xfrm>
        </p:spPr>
        <p:txBody>
          <a:bodyPr/>
          <a:lstStyle/>
          <a:p>
            <a:pPr defTabSz="342900"/>
            <a:fld id="{CBABCCC1-BF11-4F37-963E-1BCD5B23FD72}" type="slidenum">
              <a:rPr lang="en-IN" smtClean="0">
                <a:solidFill>
                  <a:srgbClr val="B71E42"/>
                </a:solidFill>
              </a:rPr>
              <a:pPr defTabSz="342900"/>
              <a:t>‹#›</a:t>
            </a:fld>
            <a:endParaRPr lang="en-IN">
              <a:solidFill>
                <a:srgbClr val="B71E42"/>
              </a:solidFill>
            </a:endParaRPr>
          </a:p>
        </p:txBody>
      </p:sp>
      <p:cxnSp>
        <p:nvCxnSpPr>
          <p:cNvPr id="15" name="Straight Connector 14"/>
          <p:cNvCxnSpPr/>
          <p:nvPr/>
        </p:nvCxnSpPr>
        <p:spPr>
          <a:xfrm>
            <a:off x="1813335" y="3528542"/>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23411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7193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802299"/>
            <a:ext cx="6477805" cy="2541431"/>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3531205"/>
            <a:ext cx="6477804" cy="977621"/>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defTabSz="342900"/>
            <a:r>
              <a:rPr lang="en-US">
                <a:solidFill>
                  <a:prstClr val="black">
                    <a:tint val="75000"/>
                  </a:prstClr>
                </a:solidFill>
              </a:rPr>
              <a:t>&lt;COURSE TITLE&gt;, &lt;TOPIC NAME&gt;</a:t>
            </a:r>
            <a:endParaRPr lang="en-IN" dirty="0">
              <a:solidFill>
                <a:prstClr val="black">
                  <a:tint val="75000"/>
                </a:prstClr>
              </a:solidFill>
            </a:endParaRPr>
          </a:p>
        </p:txBody>
      </p:sp>
      <p:sp>
        <p:nvSpPr>
          <p:cNvPr id="6" name="Slide Number Placeholder 5"/>
          <p:cNvSpPr>
            <a:spLocks noGrp="1"/>
          </p:cNvSpPr>
          <p:nvPr>
            <p:ph type="sldNum" sz="quarter" idx="12"/>
          </p:nvPr>
        </p:nvSpPr>
        <p:spPr>
          <a:xfrm>
            <a:off x="1078249" y="798973"/>
            <a:ext cx="608264" cy="503578"/>
          </a:xfrm>
        </p:spPr>
        <p:txBody>
          <a:bodyPr/>
          <a:lstStyle/>
          <a:p>
            <a:pPr defTabSz="342900"/>
            <a:fld id="{CBABCCC1-BF11-4F37-963E-1BCD5B23FD72}" type="slidenum">
              <a:rPr lang="en-IN" smtClean="0">
                <a:solidFill>
                  <a:srgbClr val="B71E42"/>
                </a:solidFill>
              </a:rPr>
              <a:pPr defTabSz="342900"/>
              <a:t>‹#›</a:t>
            </a:fld>
            <a:endParaRPr lang="en-IN">
              <a:solidFill>
                <a:srgbClr val="B71E42"/>
              </a:solidFill>
            </a:endParaRPr>
          </a:p>
        </p:txBody>
      </p:sp>
      <p:cxnSp>
        <p:nvCxnSpPr>
          <p:cNvPr id="15" name="Straight Connector 14"/>
          <p:cNvCxnSpPr/>
          <p:nvPr/>
        </p:nvCxnSpPr>
        <p:spPr>
          <a:xfrm>
            <a:off x="1813335" y="3528542"/>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62616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1688068"/>
            <a:ext cx="9144000" cy="4285743"/>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endParaRPr kumimoji="0" lang="en-IN" sz="135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Placeholder 1"/>
          <p:cNvSpPr>
            <a:spLocks noGrp="1"/>
          </p:cNvSpPr>
          <p:nvPr>
            <p:ph type="title"/>
          </p:nvPr>
        </p:nvSpPr>
        <p:spPr>
          <a:xfrm>
            <a:off x="1088685" y="804520"/>
            <a:ext cx="7202456"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2015733"/>
            <a:ext cx="7202456"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5" y="379084"/>
            <a:ext cx="2625536" cy="309201"/>
          </a:xfrm>
          <a:prstGeom prst="rect">
            <a:avLst/>
          </a:prstGeom>
        </p:spPr>
        <p:txBody>
          <a:bodyPr vert="horz" lIns="91440" tIns="45720" rIns="91440" bIns="45720" rtlCol="0" anchor="ctr"/>
          <a:lstStyle>
            <a:lvl1pPr algn="r">
              <a:defRPr sz="750">
                <a:solidFill>
                  <a:schemeClr val="tx1">
                    <a:tint val="75000"/>
                  </a:schemeClr>
                </a:solidFill>
              </a:defRPr>
            </a:lvl1pPr>
          </a:lstStyle>
          <a:p>
            <a:pPr defTabSz="342900"/>
            <a:r>
              <a:rPr lang="en-US">
                <a:solidFill>
                  <a:prstClr val="black">
                    <a:tint val="75000"/>
                  </a:prstClr>
                </a:solidFill>
              </a:rPr>
              <a:t>&lt;COURSE TITLE&gt;, &lt;TOPIC NAME&gt;</a:t>
            </a:r>
            <a:endParaRPr lang="en-IN" dirty="0">
              <a:solidFill>
                <a:prstClr val="black">
                  <a:tint val="75000"/>
                </a:prstClr>
              </a:solidFill>
            </a:endParaRPr>
          </a:p>
        </p:txBody>
      </p:sp>
      <p:sp>
        <p:nvSpPr>
          <p:cNvPr id="6" name="Slide Number Placeholder 5"/>
          <p:cNvSpPr>
            <a:spLocks noGrp="1"/>
          </p:cNvSpPr>
          <p:nvPr>
            <p:ph type="sldNum" sz="quarter" idx="4"/>
          </p:nvPr>
        </p:nvSpPr>
        <p:spPr>
          <a:xfrm>
            <a:off x="4267868" y="6291139"/>
            <a:ext cx="608264" cy="503578"/>
          </a:xfrm>
          <a:prstGeom prst="rect">
            <a:avLst/>
          </a:prstGeom>
        </p:spPr>
        <p:txBody>
          <a:bodyPr vert="horz" lIns="91440" tIns="45720" rIns="91440" bIns="45720" rtlCol="0" anchor="t"/>
          <a:lstStyle>
            <a:lvl1pPr algn="ctr">
              <a:defRPr sz="1650">
                <a:solidFill>
                  <a:schemeClr val="accent1"/>
                </a:solidFill>
              </a:defRPr>
            </a:lvl1pPr>
          </a:lstStyle>
          <a:p>
            <a:pPr defTabSz="342900"/>
            <a:fld id="{CBABCCC1-BF11-4F37-963E-1BCD5B23FD72}" type="slidenum">
              <a:rPr lang="en-IN" smtClean="0">
                <a:solidFill>
                  <a:srgbClr val="B71E42"/>
                </a:solidFill>
              </a:rPr>
              <a:pPr defTabSz="342900"/>
              <a:t>‹#›</a:t>
            </a:fld>
            <a:endParaRPr lang="en-IN" dirty="0">
              <a:solidFill>
                <a:srgbClr val="B71E42"/>
              </a:solidFill>
            </a:endParaRPr>
          </a:p>
        </p:txBody>
      </p:sp>
      <p:cxnSp>
        <p:nvCxnSpPr>
          <p:cNvPr id="10" name="Straight Connector 9"/>
          <p:cNvCxnSpPr/>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8084" y="32700"/>
            <a:ext cx="914201"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4360" t="18054" b="50110"/>
          <a:stretch/>
        </p:blipFill>
        <p:spPr>
          <a:xfrm>
            <a:off x="1088684" y="6373098"/>
            <a:ext cx="2184149"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t="53957" r="20929" b="13232"/>
          <a:stretch/>
        </p:blipFill>
        <p:spPr>
          <a:xfrm>
            <a:off x="6619128" y="6373098"/>
            <a:ext cx="1672013" cy="335027"/>
          </a:xfrm>
          <a:prstGeom prst="rect">
            <a:avLst/>
          </a:prstGeom>
        </p:spPr>
      </p:pic>
      <p:sp>
        <p:nvSpPr>
          <p:cNvPr id="5" name="Footer Placeholder 4">
            <a:extLst>
              <a:ext uri="{FF2B5EF4-FFF2-40B4-BE49-F238E27FC236}">
                <a16:creationId xmlns:a16="http://schemas.microsoft.com/office/drawing/2014/main" id="{001CE5EA-DD3D-FAC2-A187-8E8580C6213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Tree>
    <p:extLst>
      <p:ext uri="{BB962C8B-B14F-4D97-AF65-F5344CB8AC3E}">
        <p14:creationId xmlns:p14="http://schemas.microsoft.com/office/powerpoint/2010/main" val="3928659102"/>
      </p:ext>
    </p:extLst>
  </p:cSld>
  <p:clrMap bg1="lt1" tx1="dk1" bg2="lt2" tx2="dk2" accent1="accent1" accent2="accent2" accent3="accent3" accent4="accent4" accent5="accent5" accent6="accent6" hlink="hlink" folHlink="folHlink"/>
  <p:sldLayoutIdLst>
    <p:sldLayoutId id="2147483663" r:id="rId1"/>
    <p:sldLayoutId id="2147483664" r:id="rId2"/>
  </p:sldLayoutIdLst>
  <p:hf hdr="0" ftr="0" dt="0"/>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7"/>
            <a:ext cx="9144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endParaRPr kumimoji="0" lang="en-IN" sz="135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Placeholder 1"/>
          <p:cNvSpPr>
            <a:spLocks noGrp="1"/>
          </p:cNvSpPr>
          <p:nvPr>
            <p:ph type="title"/>
          </p:nvPr>
        </p:nvSpPr>
        <p:spPr>
          <a:xfrm>
            <a:off x="1088685" y="804520"/>
            <a:ext cx="7202456"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2015733"/>
            <a:ext cx="7202456"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5" y="379084"/>
            <a:ext cx="2625536" cy="309201"/>
          </a:xfrm>
          <a:prstGeom prst="rect">
            <a:avLst/>
          </a:prstGeom>
        </p:spPr>
        <p:txBody>
          <a:bodyPr vert="horz" lIns="91440" tIns="45720" rIns="91440" bIns="45720" rtlCol="0" anchor="ctr"/>
          <a:lstStyle>
            <a:lvl1pPr algn="r">
              <a:defRPr sz="750">
                <a:solidFill>
                  <a:schemeClr val="tx1">
                    <a:tint val="75000"/>
                  </a:schemeClr>
                </a:solidFill>
              </a:defRPr>
            </a:lvl1pPr>
          </a:lstStyle>
          <a:p>
            <a:pPr defTabSz="342900"/>
            <a:r>
              <a:rPr lang="en-US">
                <a:solidFill>
                  <a:prstClr val="black">
                    <a:tint val="75000"/>
                  </a:prstClr>
                </a:solidFill>
              </a:rPr>
              <a:t>&lt;COURSE TITLE&gt;, &lt;TOPIC NAME&gt;</a:t>
            </a:r>
            <a:endParaRPr lang="en-IN" dirty="0">
              <a:solidFill>
                <a:prstClr val="black">
                  <a:tint val="75000"/>
                </a:prstClr>
              </a:solidFill>
            </a:endParaRPr>
          </a:p>
        </p:txBody>
      </p:sp>
      <p:sp>
        <p:nvSpPr>
          <p:cNvPr id="6" name="Slide Number Placeholder 5"/>
          <p:cNvSpPr>
            <a:spLocks noGrp="1"/>
          </p:cNvSpPr>
          <p:nvPr>
            <p:ph type="sldNum" sz="quarter" idx="4"/>
          </p:nvPr>
        </p:nvSpPr>
        <p:spPr>
          <a:xfrm>
            <a:off x="4267868" y="6291139"/>
            <a:ext cx="608264" cy="503578"/>
          </a:xfrm>
          <a:prstGeom prst="rect">
            <a:avLst/>
          </a:prstGeom>
        </p:spPr>
        <p:txBody>
          <a:bodyPr vert="horz" lIns="91440" tIns="45720" rIns="91440" bIns="45720" rtlCol="0" anchor="t"/>
          <a:lstStyle>
            <a:lvl1pPr algn="ctr">
              <a:defRPr sz="1650">
                <a:solidFill>
                  <a:schemeClr val="accent1"/>
                </a:solidFill>
              </a:defRPr>
            </a:lvl1pPr>
          </a:lstStyle>
          <a:p>
            <a:pPr defTabSz="342900"/>
            <a:fld id="{CBABCCC1-BF11-4F37-963E-1BCD5B23FD72}" type="slidenum">
              <a:rPr lang="en-IN" smtClean="0">
                <a:solidFill>
                  <a:srgbClr val="B71E42"/>
                </a:solidFill>
              </a:rPr>
              <a:pPr defTabSz="342900"/>
              <a:t>‹#›</a:t>
            </a:fld>
            <a:endParaRPr lang="en-IN" dirty="0">
              <a:solidFill>
                <a:srgbClr val="B71E42"/>
              </a:solidFill>
            </a:endParaRPr>
          </a:p>
        </p:txBody>
      </p:sp>
      <p:cxnSp>
        <p:nvCxnSpPr>
          <p:cNvPr id="10" name="Straight Connector 9"/>
          <p:cNvCxnSpPr/>
          <p:nvPr/>
        </p:nvCxnSpPr>
        <p:spPr>
          <a:xfrm>
            <a:off x="0" y="6128413"/>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8084" y="32700"/>
            <a:ext cx="914201"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4360" t="18054" b="50110"/>
          <a:stretch/>
        </p:blipFill>
        <p:spPr>
          <a:xfrm>
            <a:off x="1088684" y="6373098"/>
            <a:ext cx="2184149"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t="53957" r="20929" b="13232"/>
          <a:stretch/>
        </p:blipFill>
        <p:spPr>
          <a:xfrm>
            <a:off x="6619128" y="6373098"/>
            <a:ext cx="1672013" cy="335027"/>
          </a:xfrm>
          <a:prstGeom prst="rect">
            <a:avLst/>
          </a:prstGeom>
        </p:spPr>
      </p:pic>
    </p:spTree>
    <p:extLst>
      <p:ext uri="{BB962C8B-B14F-4D97-AF65-F5344CB8AC3E}">
        <p14:creationId xmlns:p14="http://schemas.microsoft.com/office/powerpoint/2010/main" val="1818952494"/>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914400"/>
          </a:xfrm>
          <a:prstGeom prst="rect">
            <a:avLst/>
          </a:prstGeom>
          <a:solidFill>
            <a:srgbClr val="1A3A5C"/>
          </a:solidFill>
          <a:ln w="12700">
            <a:solidFill>
              <a:srgbClr val="1A3A5C"/>
            </a:solidFill>
            <a:prstDash val="solid"/>
          </a:ln>
        </p:spPr>
      </p:sp>
      <p:sp>
        <p:nvSpPr>
          <p:cNvPr id="3" name="Shape 1"/>
          <p:cNvSpPr/>
          <p:nvPr/>
        </p:nvSpPr>
        <p:spPr>
          <a:xfrm>
            <a:off x="0" y="1771650"/>
            <a:ext cx="9144000" cy="54864"/>
          </a:xfrm>
          <a:prstGeom prst="rect">
            <a:avLst/>
          </a:prstGeom>
          <a:solidFill>
            <a:srgbClr val="0080C8"/>
          </a:solidFill>
          <a:ln w="12700">
            <a:solidFill>
              <a:srgbClr val="0080C8"/>
            </a:solidFill>
            <a:prstDash val="solid"/>
          </a:ln>
        </p:spPr>
      </p:sp>
      <p:sp>
        <p:nvSpPr>
          <p:cNvPr id="4" name="Text 2"/>
          <p:cNvSpPr/>
          <p:nvPr/>
        </p:nvSpPr>
        <p:spPr>
          <a:xfrm>
            <a:off x="365760" y="966978"/>
            <a:ext cx="8412480" cy="685800"/>
          </a:xfrm>
          <a:prstGeom prst="rect">
            <a:avLst/>
          </a:prstGeom>
          <a:noFill/>
          <a:ln/>
        </p:spPr>
        <p:txBody>
          <a:bodyPr wrap="square" lIns="0" tIns="0" rIns="0" bIns="0" rtlCol="0" anchor="ctr"/>
          <a:lstStyle/>
          <a:p>
            <a:r>
              <a:rPr lang="en-US" sz="1600" dirty="0">
                <a:solidFill>
                  <a:srgbClr val="AACCE8"/>
                </a:solidFill>
                <a:latin typeface="Calibri" pitchFamily="34" charset="0"/>
                <a:ea typeface="Calibri" pitchFamily="34" charset="-122"/>
                <a:cs typeface="Calibri" pitchFamily="34" charset="-120"/>
              </a:rPr>
              <a:t>ARM Cortex-M7 / STM32H7 Series</a:t>
            </a:r>
            <a:endParaRPr lang="en-US" sz="1600" dirty="0"/>
          </a:p>
        </p:txBody>
      </p:sp>
      <p:sp>
        <p:nvSpPr>
          <p:cNvPr id="5" name="Shape 3"/>
          <p:cNvSpPr/>
          <p:nvPr/>
        </p:nvSpPr>
        <p:spPr>
          <a:xfrm>
            <a:off x="457200" y="2228850"/>
            <a:ext cx="1280160" cy="594360"/>
          </a:xfrm>
          <a:prstGeom prst="roundRect">
            <a:avLst>
              <a:gd name="adj" fmla="val 12308"/>
            </a:avLst>
          </a:prstGeom>
          <a:solidFill>
            <a:srgbClr val="0D7A5C"/>
          </a:solidFill>
          <a:ln w="12700">
            <a:solidFill>
              <a:srgbClr val="1A3A5C"/>
            </a:solidFill>
            <a:prstDash val="solid"/>
          </a:ln>
          <a:effectLst>
            <a:outerShdw blurRad="101600" dist="25400" dir="2700000" algn="bl" rotWithShape="0">
              <a:srgbClr val="000000">
                <a:alpha val="10000"/>
              </a:srgbClr>
            </a:outerShdw>
          </a:effectLst>
        </p:spPr>
      </p:sp>
      <p:sp>
        <p:nvSpPr>
          <p:cNvPr id="6" name="Text 4"/>
          <p:cNvSpPr/>
          <p:nvPr/>
        </p:nvSpPr>
        <p:spPr>
          <a:xfrm>
            <a:off x="457200" y="2228850"/>
            <a:ext cx="128016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HSE</a:t>
            </a:r>
            <a:endParaRPr lang="en-US" sz="1000" dirty="0"/>
          </a:p>
          <a:p>
            <a:pPr algn="ctr"/>
            <a:r>
              <a:rPr lang="en-US" sz="1000" b="1" dirty="0">
                <a:solidFill>
                  <a:srgbClr val="FFFFFF"/>
                </a:solidFill>
                <a:latin typeface="Calibri" pitchFamily="34" charset="0"/>
                <a:ea typeface="Calibri" pitchFamily="34" charset="-122"/>
                <a:cs typeface="Calibri" pitchFamily="34" charset="-120"/>
              </a:rPr>
              <a:t>4–48 MHz</a:t>
            </a:r>
            <a:endParaRPr lang="en-US" sz="1000" dirty="0"/>
          </a:p>
        </p:txBody>
      </p:sp>
      <p:sp>
        <p:nvSpPr>
          <p:cNvPr id="7" name="Shape 5"/>
          <p:cNvSpPr/>
          <p:nvPr/>
        </p:nvSpPr>
        <p:spPr>
          <a:xfrm>
            <a:off x="1920240" y="2228850"/>
            <a:ext cx="1280160" cy="594360"/>
          </a:xfrm>
          <a:prstGeom prst="roundRect">
            <a:avLst>
              <a:gd name="adj" fmla="val 12308"/>
            </a:avLst>
          </a:prstGeom>
          <a:solidFill>
            <a:srgbClr val="0D7A5C"/>
          </a:solidFill>
          <a:ln w="12700">
            <a:solidFill>
              <a:srgbClr val="1A3A5C"/>
            </a:solidFill>
            <a:prstDash val="solid"/>
          </a:ln>
          <a:effectLst>
            <a:outerShdw blurRad="101600" dist="25400" dir="2700000" algn="bl" rotWithShape="0">
              <a:srgbClr val="000000">
                <a:alpha val="10000"/>
              </a:srgbClr>
            </a:outerShdw>
          </a:effectLst>
        </p:spPr>
      </p:sp>
      <p:sp>
        <p:nvSpPr>
          <p:cNvPr id="8" name="Text 6"/>
          <p:cNvSpPr/>
          <p:nvPr/>
        </p:nvSpPr>
        <p:spPr>
          <a:xfrm>
            <a:off x="1920240" y="2228850"/>
            <a:ext cx="128016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HSI</a:t>
            </a:r>
            <a:endParaRPr lang="en-US" sz="1000" dirty="0"/>
          </a:p>
          <a:p>
            <a:pPr algn="ctr"/>
            <a:r>
              <a:rPr lang="en-US" sz="1000" b="1" dirty="0">
                <a:solidFill>
                  <a:srgbClr val="FFFFFF"/>
                </a:solidFill>
                <a:latin typeface="Calibri" pitchFamily="34" charset="0"/>
                <a:ea typeface="Calibri" pitchFamily="34" charset="-122"/>
                <a:cs typeface="Calibri" pitchFamily="34" charset="-120"/>
              </a:rPr>
              <a:t>64 MHz</a:t>
            </a:r>
            <a:endParaRPr lang="en-US" sz="1000" dirty="0"/>
          </a:p>
        </p:txBody>
      </p:sp>
      <p:sp>
        <p:nvSpPr>
          <p:cNvPr id="9" name="Shape 7"/>
          <p:cNvSpPr/>
          <p:nvPr/>
        </p:nvSpPr>
        <p:spPr>
          <a:xfrm>
            <a:off x="3383280" y="2228850"/>
            <a:ext cx="1280160" cy="594360"/>
          </a:xfrm>
          <a:prstGeom prst="roundRect">
            <a:avLst>
              <a:gd name="adj" fmla="val 12308"/>
            </a:avLst>
          </a:prstGeom>
          <a:solidFill>
            <a:srgbClr val="0080C8"/>
          </a:solidFill>
          <a:ln w="12700">
            <a:solidFill>
              <a:srgbClr val="1A3A5C"/>
            </a:solidFill>
            <a:prstDash val="solid"/>
          </a:ln>
          <a:effectLst>
            <a:outerShdw blurRad="101600" dist="25400" dir="2700000" algn="bl" rotWithShape="0">
              <a:srgbClr val="000000">
                <a:alpha val="10000"/>
              </a:srgbClr>
            </a:outerShdw>
          </a:effectLst>
        </p:spPr>
      </p:sp>
      <p:sp>
        <p:nvSpPr>
          <p:cNvPr id="10" name="Text 8"/>
          <p:cNvSpPr/>
          <p:nvPr/>
        </p:nvSpPr>
        <p:spPr>
          <a:xfrm>
            <a:off x="3383280" y="2228850"/>
            <a:ext cx="128016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LSE</a:t>
            </a:r>
            <a:endParaRPr lang="en-US" sz="1000" dirty="0"/>
          </a:p>
          <a:p>
            <a:pPr algn="ctr"/>
            <a:r>
              <a:rPr lang="en-US" sz="1000" b="1" dirty="0">
                <a:solidFill>
                  <a:srgbClr val="FFFFFF"/>
                </a:solidFill>
                <a:latin typeface="Calibri" pitchFamily="34" charset="0"/>
                <a:ea typeface="Calibri" pitchFamily="34" charset="-122"/>
                <a:cs typeface="Calibri" pitchFamily="34" charset="-120"/>
              </a:rPr>
              <a:t>32.768 kHz</a:t>
            </a:r>
            <a:endParaRPr lang="en-US" sz="1000" dirty="0"/>
          </a:p>
        </p:txBody>
      </p:sp>
      <p:sp>
        <p:nvSpPr>
          <p:cNvPr id="11" name="Shape 9"/>
          <p:cNvSpPr/>
          <p:nvPr/>
        </p:nvSpPr>
        <p:spPr>
          <a:xfrm>
            <a:off x="4846320" y="2228850"/>
            <a:ext cx="1280160" cy="594360"/>
          </a:xfrm>
          <a:prstGeom prst="roundRect">
            <a:avLst>
              <a:gd name="adj" fmla="val 12308"/>
            </a:avLst>
          </a:prstGeom>
          <a:solidFill>
            <a:srgbClr val="0080C8"/>
          </a:solidFill>
          <a:ln w="12700">
            <a:solidFill>
              <a:srgbClr val="1A3A5C"/>
            </a:solidFill>
            <a:prstDash val="solid"/>
          </a:ln>
          <a:effectLst>
            <a:outerShdw blurRad="101600" dist="25400" dir="2700000" algn="bl" rotWithShape="0">
              <a:srgbClr val="000000">
                <a:alpha val="10000"/>
              </a:srgbClr>
            </a:outerShdw>
          </a:effectLst>
        </p:spPr>
      </p:sp>
      <p:sp>
        <p:nvSpPr>
          <p:cNvPr id="12" name="Text 10"/>
          <p:cNvSpPr/>
          <p:nvPr/>
        </p:nvSpPr>
        <p:spPr>
          <a:xfrm>
            <a:off x="4846320" y="2228850"/>
            <a:ext cx="128016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LSI</a:t>
            </a:r>
            <a:endParaRPr lang="en-US" sz="1000" dirty="0"/>
          </a:p>
          <a:p>
            <a:pPr algn="ctr"/>
            <a:r>
              <a:rPr lang="en-US" sz="1000" b="1" dirty="0">
                <a:solidFill>
                  <a:srgbClr val="FFFFFF"/>
                </a:solidFill>
                <a:latin typeface="Calibri" pitchFamily="34" charset="0"/>
                <a:ea typeface="Calibri" pitchFamily="34" charset="-122"/>
                <a:cs typeface="Calibri" pitchFamily="34" charset="-120"/>
              </a:rPr>
              <a:t>32 kHz</a:t>
            </a:r>
            <a:endParaRPr lang="en-US" sz="1000" dirty="0"/>
          </a:p>
        </p:txBody>
      </p:sp>
      <p:sp>
        <p:nvSpPr>
          <p:cNvPr id="13" name="Shape 11"/>
          <p:cNvSpPr/>
          <p:nvPr/>
        </p:nvSpPr>
        <p:spPr>
          <a:xfrm>
            <a:off x="6309360" y="2228850"/>
            <a:ext cx="1280160" cy="594360"/>
          </a:xfrm>
          <a:prstGeom prst="roundRect">
            <a:avLst>
              <a:gd name="adj" fmla="val 12308"/>
            </a:avLst>
          </a:prstGeom>
          <a:solidFill>
            <a:srgbClr val="4A5568"/>
          </a:solidFill>
          <a:ln w="12700">
            <a:solidFill>
              <a:srgbClr val="1A3A5C"/>
            </a:solidFill>
            <a:prstDash val="solid"/>
          </a:ln>
          <a:effectLst>
            <a:outerShdw blurRad="101600" dist="25400" dir="2700000" algn="bl" rotWithShape="0">
              <a:srgbClr val="000000">
                <a:alpha val="10000"/>
              </a:srgbClr>
            </a:outerShdw>
          </a:effectLst>
        </p:spPr>
      </p:sp>
      <p:sp>
        <p:nvSpPr>
          <p:cNvPr id="14" name="Text 12"/>
          <p:cNvSpPr/>
          <p:nvPr/>
        </p:nvSpPr>
        <p:spPr>
          <a:xfrm>
            <a:off x="6309360" y="2228850"/>
            <a:ext cx="128016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CSI</a:t>
            </a:r>
            <a:endParaRPr lang="en-US" sz="1000" dirty="0"/>
          </a:p>
          <a:p>
            <a:pPr algn="ctr"/>
            <a:r>
              <a:rPr lang="en-US" sz="1000" b="1" dirty="0">
                <a:solidFill>
                  <a:srgbClr val="FFFFFF"/>
                </a:solidFill>
                <a:latin typeface="Calibri" pitchFamily="34" charset="0"/>
                <a:ea typeface="Calibri" pitchFamily="34" charset="-122"/>
                <a:cs typeface="Calibri" pitchFamily="34" charset="-120"/>
              </a:rPr>
              <a:t>4 MHz</a:t>
            </a:r>
            <a:endParaRPr lang="en-US" sz="1000" dirty="0"/>
          </a:p>
        </p:txBody>
      </p:sp>
      <p:sp>
        <p:nvSpPr>
          <p:cNvPr id="15" name="Shape 13"/>
          <p:cNvSpPr/>
          <p:nvPr/>
        </p:nvSpPr>
        <p:spPr>
          <a:xfrm>
            <a:off x="822960" y="2823210"/>
            <a:ext cx="0" cy="365760"/>
          </a:xfrm>
          <a:prstGeom prst="line">
            <a:avLst/>
          </a:prstGeom>
          <a:noFill/>
          <a:ln w="25400">
            <a:solidFill>
              <a:srgbClr val="0080C8"/>
            </a:solidFill>
            <a:prstDash val="solid"/>
          </a:ln>
        </p:spPr>
      </p:sp>
      <p:sp>
        <p:nvSpPr>
          <p:cNvPr id="16" name="Shape 14"/>
          <p:cNvSpPr/>
          <p:nvPr/>
        </p:nvSpPr>
        <p:spPr>
          <a:xfrm>
            <a:off x="2286000" y="2823210"/>
            <a:ext cx="0" cy="365760"/>
          </a:xfrm>
          <a:prstGeom prst="line">
            <a:avLst/>
          </a:prstGeom>
          <a:noFill/>
          <a:ln w="25400">
            <a:solidFill>
              <a:srgbClr val="0080C8"/>
            </a:solidFill>
            <a:prstDash val="solid"/>
          </a:ln>
        </p:spPr>
      </p:sp>
      <p:sp>
        <p:nvSpPr>
          <p:cNvPr id="17" name="Shape 15"/>
          <p:cNvSpPr/>
          <p:nvPr/>
        </p:nvSpPr>
        <p:spPr>
          <a:xfrm>
            <a:off x="822960" y="3188970"/>
            <a:ext cx="1463040" cy="0"/>
          </a:xfrm>
          <a:prstGeom prst="line">
            <a:avLst/>
          </a:prstGeom>
          <a:noFill/>
          <a:ln w="25400">
            <a:solidFill>
              <a:srgbClr val="0080C8"/>
            </a:solidFill>
            <a:prstDash val="solid"/>
          </a:ln>
        </p:spPr>
      </p:sp>
      <p:sp>
        <p:nvSpPr>
          <p:cNvPr id="18" name="Shape 16"/>
          <p:cNvSpPr/>
          <p:nvPr/>
        </p:nvSpPr>
        <p:spPr>
          <a:xfrm>
            <a:off x="365760" y="3188970"/>
            <a:ext cx="2377440" cy="594360"/>
          </a:xfrm>
          <a:prstGeom prst="roundRect">
            <a:avLst>
              <a:gd name="adj" fmla="val 12308"/>
            </a:avLst>
          </a:prstGeom>
          <a:solidFill>
            <a:srgbClr val="D4660A"/>
          </a:solidFill>
          <a:ln w="12700">
            <a:solidFill>
              <a:srgbClr val="1A3A5C"/>
            </a:solidFill>
            <a:prstDash val="solid"/>
          </a:ln>
          <a:effectLst>
            <a:outerShdw blurRad="101600" dist="25400" dir="2700000" algn="bl" rotWithShape="0">
              <a:srgbClr val="000000">
                <a:alpha val="10000"/>
              </a:srgbClr>
            </a:outerShdw>
          </a:effectLst>
        </p:spPr>
      </p:sp>
      <p:sp>
        <p:nvSpPr>
          <p:cNvPr id="19" name="Text 17"/>
          <p:cNvSpPr/>
          <p:nvPr/>
        </p:nvSpPr>
        <p:spPr>
          <a:xfrm>
            <a:off x="365760" y="3188970"/>
            <a:ext cx="2377440" cy="59436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PLL1 / PLL2 / PLL3</a:t>
            </a:r>
            <a:endParaRPr lang="en-US" sz="900" dirty="0"/>
          </a:p>
          <a:p>
            <a:pPr algn="ctr"/>
            <a:r>
              <a:rPr lang="en-US" sz="900" b="1" dirty="0">
                <a:solidFill>
                  <a:srgbClr val="FFFFFF"/>
                </a:solidFill>
                <a:latin typeface="Calibri" pitchFamily="34" charset="0"/>
                <a:ea typeface="Calibri" pitchFamily="34" charset="-122"/>
                <a:cs typeface="Calibri" pitchFamily="34" charset="-120"/>
              </a:rPr>
              <a:t>(×N ÷M ÷P/Q/R)</a:t>
            </a:r>
            <a:endParaRPr lang="en-US" sz="900" dirty="0"/>
          </a:p>
        </p:txBody>
      </p:sp>
      <p:sp>
        <p:nvSpPr>
          <p:cNvPr id="20" name="Shape 18"/>
          <p:cNvSpPr/>
          <p:nvPr/>
        </p:nvSpPr>
        <p:spPr>
          <a:xfrm>
            <a:off x="1554480" y="3783330"/>
            <a:ext cx="0" cy="320040"/>
          </a:xfrm>
          <a:prstGeom prst="line">
            <a:avLst/>
          </a:prstGeom>
          <a:noFill/>
          <a:ln w="25400">
            <a:solidFill>
              <a:srgbClr val="D4660A"/>
            </a:solidFill>
            <a:prstDash val="solid"/>
          </a:ln>
        </p:spPr>
      </p:sp>
      <p:sp>
        <p:nvSpPr>
          <p:cNvPr id="21" name="Shape 19"/>
          <p:cNvSpPr/>
          <p:nvPr/>
        </p:nvSpPr>
        <p:spPr>
          <a:xfrm>
            <a:off x="822960" y="4103370"/>
            <a:ext cx="3200400" cy="594360"/>
          </a:xfrm>
          <a:prstGeom prst="roundRect">
            <a:avLst>
              <a:gd name="adj" fmla="val 12308"/>
            </a:avLst>
          </a:prstGeom>
          <a:solidFill>
            <a:srgbClr val="1A3A5C"/>
          </a:solidFill>
          <a:ln w="12700">
            <a:solidFill>
              <a:srgbClr val="0080C8"/>
            </a:solidFill>
            <a:prstDash val="solid"/>
          </a:ln>
          <a:effectLst>
            <a:outerShdw blurRad="101600" dist="25400" dir="2700000" algn="bl" rotWithShape="0">
              <a:srgbClr val="000000">
                <a:alpha val="10000"/>
              </a:srgbClr>
            </a:outerShdw>
          </a:effectLst>
        </p:spPr>
      </p:sp>
      <p:sp>
        <p:nvSpPr>
          <p:cNvPr id="22" name="Text 20"/>
          <p:cNvSpPr/>
          <p:nvPr/>
        </p:nvSpPr>
        <p:spPr>
          <a:xfrm>
            <a:off x="822960" y="4103370"/>
            <a:ext cx="3200400" cy="59436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SYSCLK Mux  ➜  SYSCLK (up to 480 MHz)</a:t>
            </a:r>
            <a:endParaRPr lang="en-US" sz="900" dirty="0"/>
          </a:p>
        </p:txBody>
      </p:sp>
      <p:sp>
        <p:nvSpPr>
          <p:cNvPr id="23" name="Shape 21"/>
          <p:cNvSpPr/>
          <p:nvPr/>
        </p:nvSpPr>
        <p:spPr>
          <a:xfrm>
            <a:off x="4023360" y="4395978"/>
            <a:ext cx="457200" cy="0"/>
          </a:xfrm>
          <a:prstGeom prst="line">
            <a:avLst/>
          </a:prstGeom>
          <a:noFill/>
          <a:ln w="25400">
            <a:solidFill>
              <a:srgbClr val="1A3A5C"/>
            </a:solidFill>
            <a:prstDash val="solid"/>
          </a:ln>
        </p:spPr>
      </p:sp>
      <p:sp>
        <p:nvSpPr>
          <p:cNvPr id="24" name="Shape 22"/>
          <p:cNvSpPr/>
          <p:nvPr/>
        </p:nvSpPr>
        <p:spPr>
          <a:xfrm>
            <a:off x="4480560" y="4103370"/>
            <a:ext cx="4206240" cy="594360"/>
          </a:xfrm>
          <a:prstGeom prst="roundRect">
            <a:avLst>
              <a:gd name="adj" fmla="val 12308"/>
            </a:avLst>
          </a:prstGeom>
          <a:solidFill>
            <a:srgbClr val="E8F4FB"/>
          </a:solidFill>
          <a:ln w="12700">
            <a:solidFill>
              <a:srgbClr val="0080C8"/>
            </a:solidFill>
            <a:prstDash val="solid"/>
          </a:ln>
          <a:effectLst>
            <a:outerShdw blurRad="101600" dist="25400" dir="2700000" algn="bl" rotWithShape="0">
              <a:srgbClr val="000000">
                <a:alpha val="10000"/>
              </a:srgbClr>
            </a:outerShdw>
          </a:effectLst>
        </p:spPr>
      </p:sp>
      <p:sp>
        <p:nvSpPr>
          <p:cNvPr id="25" name="Text 23"/>
          <p:cNvSpPr/>
          <p:nvPr/>
        </p:nvSpPr>
        <p:spPr>
          <a:xfrm>
            <a:off x="4480560" y="4103370"/>
            <a:ext cx="4206240" cy="594360"/>
          </a:xfrm>
          <a:prstGeom prst="rect">
            <a:avLst/>
          </a:prstGeom>
          <a:noFill/>
          <a:ln/>
        </p:spPr>
        <p:txBody>
          <a:bodyPr wrap="square" rtlCol="0" anchor="ctr"/>
          <a:lstStyle/>
          <a:p>
            <a:pPr algn="ctr"/>
            <a:r>
              <a:rPr lang="en-US" sz="900" b="1" dirty="0">
                <a:solidFill>
                  <a:srgbClr val="1A3A5C"/>
                </a:solidFill>
                <a:latin typeface="Calibri" pitchFamily="34" charset="0"/>
                <a:ea typeface="Calibri" pitchFamily="34" charset="-122"/>
                <a:cs typeface="Calibri" pitchFamily="34" charset="-120"/>
              </a:rPr>
              <a:t>AHB (÷1–512)  →  APB1 (÷1–16)  →  APB2 (÷1–16)  →  APB3/4</a:t>
            </a:r>
            <a:endParaRPr lang="en-US" sz="900" dirty="0"/>
          </a:p>
        </p:txBody>
      </p:sp>
      <p:sp>
        <p:nvSpPr>
          <p:cNvPr id="26" name="Text 24"/>
          <p:cNvSpPr/>
          <p:nvPr/>
        </p:nvSpPr>
        <p:spPr>
          <a:xfrm>
            <a:off x="365760" y="4834890"/>
            <a:ext cx="8412480" cy="731520"/>
          </a:xfrm>
          <a:prstGeom prst="rect">
            <a:avLst/>
          </a:prstGeom>
          <a:noFill/>
          <a:ln/>
        </p:spPr>
        <p:txBody>
          <a:bodyPr wrap="square" lIns="0" tIns="0" rIns="0" bIns="0" rtlCol="0" anchor="ctr"/>
          <a:lstStyle/>
          <a:p>
            <a:r>
              <a:rPr lang="en-US" sz="3400" b="1" dirty="0">
                <a:solidFill>
                  <a:srgbClr val="1A3A5C"/>
                </a:solidFill>
                <a:latin typeface="Cambria" pitchFamily="34" charset="0"/>
                <a:ea typeface="Cambria" pitchFamily="34" charset="-122"/>
                <a:cs typeface="Cambria" pitchFamily="34" charset="-120"/>
              </a:rPr>
              <a:t>STM32H7 Clock Tree</a:t>
            </a:r>
            <a:endParaRPr lang="en-US" sz="3400" dirty="0"/>
          </a:p>
        </p:txBody>
      </p:sp>
      <p:sp>
        <p:nvSpPr>
          <p:cNvPr id="27" name="Text 25"/>
          <p:cNvSpPr/>
          <p:nvPr/>
        </p:nvSpPr>
        <p:spPr>
          <a:xfrm>
            <a:off x="365760" y="5474970"/>
            <a:ext cx="8412480" cy="365760"/>
          </a:xfrm>
          <a:prstGeom prst="rect">
            <a:avLst/>
          </a:prstGeom>
          <a:noFill/>
          <a:ln/>
        </p:spPr>
        <p:txBody>
          <a:bodyPr wrap="square" lIns="0" tIns="0" rIns="0" bIns="0" rtlCol="0" anchor="ctr"/>
          <a:lstStyle/>
          <a:p>
            <a:r>
              <a:rPr lang="en-US" sz="1300" dirty="0">
                <a:solidFill>
                  <a:srgbClr val="4A5568"/>
                </a:solidFill>
                <a:latin typeface="Calibri" pitchFamily="34" charset="0"/>
                <a:ea typeface="Calibri" pitchFamily="34" charset="-122"/>
                <a:cs typeface="Calibri" pitchFamily="34" charset="-120"/>
              </a:rPr>
              <a:t>User-Level Understanding: HSE · HSI · PLL · SYSCLK · Peripheral Prescalers</a:t>
            </a:r>
            <a:endParaRPr lang="en-US" sz="1300" dirty="0"/>
          </a:p>
        </p:txBody>
      </p:sp>
    </p:spTree>
    <p:extLst>
      <p:ext uri="{BB962C8B-B14F-4D97-AF65-F5344CB8AC3E}">
        <p14:creationId xmlns:p14="http://schemas.microsoft.com/office/powerpoint/2010/main" val="1820394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94360"/>
          </a:xfrm>
          <a:prstGeom prst="rect">
            <a:avLst/>
          </a:prstGeom>
          <a:solidFill>
            <a:srgbClr val="1A3A5C"/>
          </a:solidFill>
          <a:ln w="12700">
            <a:solidFill>
              <a:srgbClr val="1A3A5C"/>
            </a:solidFill>
            <a:prstDash val="solid"/>
          </a:ln>
        </p:spPr>
      </p:sp>
      <p:sp>
        <p:nvSpPr>
          <p:cNvPr id="3" name="Text 1"/>
          <p:cNvSpPr/>
          <p:nvPr/>
        </p:nvSpPr>
        <p:spPr>
          <a:xfrm>
            <a:off x="365760" y="857250"/>
            <a:ext cx="8412480" cy="594360"/>
          </a:xfrm>
          <a:prstGeom prst="rect">
            <a:avLst/>
          </a:prstGeom>
          <a:noFill/>
          <a:ln/>
        </p:spPr>
        <p:txBody>
          <a:bodyPr wrap="square" lIns="0" tIns="0" rIns="0" bIns="0" rtlCol="0" anchor="ctr"/>
          <a:lstStyle/>
          <a:p>
            <a:r>
              <a:rPr lang="en-US" sz="2000" b="1" dirty="0">
                <a:solidFill>
                  <a:srgbClr val="FFFFFF"/>
                </a:solidFill>
                <a:latin typeface="Cambria" pitchFamily="34" charset="0"/>
                <a:ea typeface="Cambria" pitchFamily="34" charset="-122"/>
                <a:cs typeface="Cambria" pitchFamily="34" charset="-120"/>
              </a:rPr>
              <a:t>STM32H7 Clock Tree — Overview</a:t>
            </a:r>
            <a:endParaRPr lang="en-US" sz="2000" dirty="0"/>
          </a:p>
        </p:txBody>
      </p:sp>
      <p:sp>
        <p:nvSpPr>
          <p:cNvPr id="4" name="Text 2"/>
          <p:cNvSpPr/>
          <p:nvPr/>
        </p:nvSpPr>
        <p:spPr>
          <a:xfrm>
            <a:off x="365760" y="1588770"/>
            <a:ext cx="4754880" cy="365760"/>
          </a:xfrm>
          <a:prstGeom prst="rect">
            <a:avLst/>
          </a:prstGeom>
          <a:noFill/>
          <a:ln/>
        </p:spPr>
        <p:txBody>
          <a:bodyPr wrap="square" lIns="0" tIns="0" rIns="0" bIns="0" rtlCol="0" anchor="ctr"/>
          <a:lstStyle/>
          <a:p>
            <a:r>
              <a:rPr lang="en-US" sz="1600" b="1" dirty="0">
                <a:solidFill>
                  <a:srgbClr val="1A3A5C"/>
                </a:solidFill>
                <a:latin typeface="Cambria" pitchFamily="34" charset="0"/>
                <a:ea typeface="Cambria" pitchFamily="34" charset="-122"/>
                <a:cs typeface="Cambria" pitchFamily="34" charset="-120"/>
              </a:rPr>
              <a:t>What Is a Clock Tree?</a:t>
            </a:r>
            <a:endParaRPr lang="en-US" sz="1600" dirty="0"/>
          </a:p>
        </p:txBody>
      </p:sp>
      <p:sp>
        <p:nvSpPr>
          <p:cNvPr id="5" name="Text 3"/>
          <p:cNvSpPr/>
          <p:nvPr/>
        </p:nvSpPr>
        <p:spPr>
          <a:xfrm>
            <a:off x="365760" y="2000250"/>
            <a:ext cx="4572000" cy="3200400"/>
          </a:xfrm>
          <a:prstGeom prst="rect">
            <a:avLst/>
          </a:prstGeom>
          <a:noFill/>
          <a:ln/>
        </p:spPr>
        <p:txBody>
          <a:bodyPr wrap="square" rtlCol="0" anchor="t"/>
          <a:lstStyle/>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Every digital circuit needs a clock — a periodic signal that synchronizes all operations.</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The STM32H7 does not run all circuits at the same frequency. Instead it uses a tree of dividers and multiplexers to derive many different clocks from one or more sources.</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The user configures this tree in firmware (via RCC registers or CubeMX) to balance performance, power consumption, and peripheral compatibility.</a:t>
            </a:r>
            <a:endParaRPr lang="en-US" sz="1200" dirty="0"/>
          </a:p>
          <a:p>
            <a:pPr marL="342900" indent="-342900">
              <a:spcAft>
                <a:spcPts val="600"/>
              </a:spcAft>
              <a:buSzPct val="100000"/>
              <a:buChar char="•"/>
            </a:pPr>
            <a:r>
              <a:rPr lang="en-US" sz="1200" dirty="0">
                <a:solidFill>
                  <a:srgbClr val="1A1A2E"/>
                </a:solidFill>
                <a:latin typeface="Calibri" pitchFamily="34" charset="0"/>
                <a:ea typeface="Calibri" pitchFamily="34" charset="-122"/>
                <a:cs typeface="Calibri" pitchFamily="34" charset="-120"/>
              </a:rPr>
              <a:t>Mis-configuring the clock tree is one of the most common sources of bugs in embedded systems — peripherals behave unexpectedly or the MCU hangs at startup.</a:t>
            </a:r>
            <a:endParaRPr lang="en-US" sz="1200" dirty="0"/>
          </a:p>
        </p:txBody>
      </p:sp>
      <p:sp>
        <p:nvSpPr>
          <p:cNvPr id="6" name="Shape 4"/>
          <p:cNvSpPr/>
          <p:nvPr/>
        </p:nvSpPr>
        <p:spPr>
          <a:xfrm>
            <a:off x="5212080" y="1634490"/>
            <a:ext cx="3657600" cy="594360"/>
          </a:xfrm>
          <a:prstGeom prst="roundRect">
            <a:avLst>
              <a:gd name="adj" fmla="val 10769"/>
            </a:avLst>
          </a:prstGeom>
          <a:solidFill>
            <a:srgbClr val="0D7A5C"/>
          </a:solidFill>
          <a:ln w="12700">
            <a:solidFill>
              <a:srgbClr val="0D7A5C"/>
            </a:solidFill>
            <a:prstDash val="solid"/>
          </a:ln>
          <a:effectLst>
            <a:outerShdw blurRad="101600" dist="25400" dir="2700000" algn="bl" rotWithShape="0">
              <a:srgbClr val="000000">
                <a:alpha val="10000"/>
              </a:srgbClr>
            </a:outerShdw>
          </a:effectLst>
        </p:spPr>
      </p:sp>
      <p:sp>
        <p:nvSpPr>
          <p:cNvPr id="7" name="Text 5"/>
          <p:cNvSpPr/>
          <p:nvPr/>
        </p:nvSpPr>
        <p:spPr>
          <a:xfrm>
            <a:off x="5212080" y="1634490"/>
            <a:ext cx="365760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Clock Sources
</a:t>
            </a:r>
            <a:r>
              <a:rPr lang="en-US" sz="1000" dirty="0">
                <a:solidFill>
                  <a:srgbClr val="FFFFFF"/>
                </a:solidFill>
                <a:latin typeface="Calibri" pitchFamily="34" charset="0"/>
                <a:ea typeface="Calibri" pitchFamily="34" charset="-122"/>
                <a:cs typeface="Calibri" pitchFamily="34" charset="-120"/>
              </a:rPr>
              <a:t>HSE, HSI, CSI, LSE, LSI</a:t>
            </a:r>
            <a:endParaRPr lang="en-US" sz="1000" dirty="0"/>
          </a:p>
        </p:txBody>
      </p:sp>
      <p:sp>
        <p:nvSpPr>
          <p:cNvPr id="8" name="Shape 6"/>
          <p:cNvSpPr/>
          <p:nvPr/>
        </p:nvSpPr>
        <p:spPr>
          <a:xfrm>
            <a:off x="7040880" y="2228850"/>
            <a:ext cx="0" cy="274320"/>
          </a:xfrm>
          <a:prstGeom prst="line">
            <a:avLst/>
          </a:prstGeom>
          <a:noFill/>
          <a:ln w="25400">
            <a:solidFill>
              <a:srgbClr val="94A3B8"/>
            </a:solidFill>
            <a:prstDash val="solid"/>
          </a:ln>
        </p:spPr>
      </p:sp>
      <p:sp>
        <p:nvSpPr>
          <p:cNvPr id="9" name="Shape 7"/>
          <p:cNvSpPr/>
          <p:nvPr/>
        </p:nvSpPr>
        <p:spPr>
          <a:xfrm>
            <a:off x="6949440" y="2430018"/>
            <a:ext cx="91440" cy="73152"/>
          </a:xfrm>
          <a:prstGeom prst="line">
            <a:avLst/>
          </a:prstGeom>
          <a:noFill/>
          <a:ln w="19050">
            <a:solidFill>
              <a:srgbClr val="94A3B8"/>
            </a:solidFill>
            <a:prstDash val="solid"/>
          </a:ln>
        </p:spPr>
      </p:sp>
      <p:sp>
        <p:nvSpPr>
          <p:cNvPr id="10" name="Shape 8"/>
          <p:cNvSpPr/>
          <p:nvPr/>
        </p:nvSpPr>
        <p:spPr>
          <a:xfrm>
            <a:off x="7040880" y="2430018"/>
            <a:ext cx="91440" cy="0"/>
          </a:xfrm>
          <a:prstGeom prst="line">
            <a:avLst/>
          </a:prstGeom>
          <a:noFill/>
          <a:ln w="19050">
            <a:solidFill>
              <a:srgbClr val="94A3B8"/>
            </a:solidFill>
            <a:prstDash val="solid"/>
          </a:ln>
        </p:spPr>
      </p:sp>
      <p:sp>
        <p:nvSpPr>
          <p:cNvPr id="11" name="Shape 9"/>
          <p:cNvSpPr/>
          <p:nvPr/>
        </p:nvSpPr>
        <p:spPr>
          <a:xfrm>
            <a:off x="5212080" y="2320290"/>
            <a:ext cx="3657600" cy="594360"/>
          </a:xfrm>
          <a:prstGeom prst="roundRect">
            <a:avLst>
              <a:gd name="adj" fmla="val 10769"/>
            </a:avLst>
          </a:prstGeom>
          <a:solidFill>
            <a:srgbClr val="D4660A"/>
          </a:solidFill>
          <a:ln w="12700">
            <a:solidFill>
              <a:srgbClr val="D4660A"/>
            </a:solidFill>
            <a:prstDash val="solid"/>
          </a:ln>
          <a:effectLst>
            <a:outerShdw blurRad="101600" dist="25400" dir="2700000" algn="bl" rotWithShape="0">
              <a:srgbClr val="000000">
                <a:alpha val="10000"/>
              </a:srgbClr>
            </a:outerShdw>
          </a:effectLst>
        </p:spPr>
      </p:sp>
      <p:sp>
        <p:nvSpPr>
          <p:cNvPr id="12" name="Text 10"/>
          <p:cNvSpPr/>
          <p:nvPr/>
        </p:nvSpPr>
        <p:spPr>
          <a:xfrm>
            <a:off x="5212080" y="2320290"/>
            <a:ext cx="365760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PLL Multipliers
</a:t>
            </a:r>
            <a:r>
              <a:rPr lang="en-US" sz="1000" dirty="0">
                <a:solidFill>
                  <a:srgbClr val="FFFFFF"/>
                </a:solidFill>
                <a:latin typeface="Calibri" pitchFamily="34" charset="0"/>
                <a:ea typeface="Calibri" pitchFamily="34" charset="-122"/>
                <a:cs typeface="Calibri" pitchFamily="34" charset="-120"/>
              </a:rPr>
              <a:t>PLL1, PLL2, PLL3 — boost frequency</a:t>
            </a:r>
            <a:endParaRPr lang="en-US" sz="1000" dirty="0"/>
          </a:p>
        </p:txBody>
      </p:sp>
      <p:sp>
        <p:nvSpPr>
          <p:cNvPr id="13" name="Shape 11"/>
          <p:cNvSpPr/>
          <p:nvPr/>
        </p:nvSpPr>
        <p:spPr>
          <a:xfrm>
            <a:off x="7040880" y="2914650"/>
            <a:ext cx="0" cy="274320"/>
          </a:xfrm>
          <a:prstGeom prst="line">
            <a:avLst/>
          </a:prstGeom>
          <a:noFill/>
          <a:ln w="25400">
            <a:solidFill>
              <a:srgbClr val="94A3B8"/>
            </a:solidFill>
            <a:prstDash val="solid"/>
          </a:ln>
        </p:spPr>
      </p:sp>
      <p:sp>
        <p:nvSpPr>
          <p:cNvPr id="14" name="Shape 12"/>
          <p:cNvSpPr/>
          <p:nvPr/>
        </p:nvSpPr>
        <p:spPr>
          <a:xfrm>
            <a:off x="6949440" y="3115818"/>
            <a:ext cx="91440" cy="73152"/>
          </a:xfrm>
          <a:prstGeom prst="line">
            <a:avLst/>
          </a:prstGeom>
          <a:noFill/>
          <a:ln w="19050">
            <a:solidFill>
              <a:srgbClr val="94A3B8"/>
            </a:solidFill>
            <a:prstDash val="solid"/>
          </a:ln>
        </p:spPr>
      </p:sp>
      <p:sp>
        <p:nvSpPr>
          <p:cNvPr id="15" name="Shape 13"/>
          <p:cNvSpPr/>
          <p:nvPr/>
        </p:nvSpPr>
        <p:spPr>
          <a:xfrm>
            <a:off x="7040880" y="3115818"/>
            <a:ext cx="91440" cy="0"/>
          </a:xfrm>
          <a:prstGeom prst="line">
            <a:avLst/>
          </a:prstGeom>
          <a:noFill/>
          <a:ln w="19050">
            <a:solidFill>
              <a:srgbClr val="94A3B8"/>
            </a:solidFill>
            <a:prstDash val="solid"/>
          </a:ln>
        </p:spPr>
      </p:sp>
      <p:sp>
        <p:nvSpPr>
          <p:cNvPr id="16" name="Shape 14"/>
          <p:cNvSpPr/>
          <p:nvPr/>
        </p:nvSpPr>
        <p:spPr>
          <a:xfrm>
            <a:off x="5212080" y="3006090"/>
            <a:ext cx="3657600" cy="594360"/>
          </a:xfrm>
          <a:prstGeom prst="roundRect">
            <a:avLst>
              <a:gd name="adj" fmla="val 10769"/>
            </a:avLst>
          </a:prstGeom>
          <a:solidFill>
            <a:srgbClr val="1A3A5C"/>
          </a:solidFill>
          <a:ln w="12700">
            <a:solidFill>
              <a:srgbClr val="1A3A5C"/>
            </a:solidFill>
            <a:prstDash val="solid"/>
          </a:ln>
          <a:effectLst>
            <a:outerShdw blurRad="101600" dist="25400" dir="2700000" algn="bl" rotWithShape="0">
              <a:srgbClr val="000000">
                <a:alpha val="10000"/>
              </a:srgbClr>
            </a:outerShdw>
          </a:effectLst>
        </p:spPr>
      </p:sp>
      <p:sp>
        <p:nvSpPr>
          <p:cNvPr id="17" name="Text 15"/>
          <p:cNvSpPr/>
          <p:nvPr/>
        </p:nvSpPr>
        <p:spPr>
          <a:xfrm>
            <a:off x="5212080" y="3006090"/>
            <a:ext cx="365760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System Clock (SYSCLK)
</a:t>
            </a:r>
            <a:r>
              <a:rPr lang="en-US" sz="1000" dirty="0">
                <a:solidFill>
                  <a:srgbClr val="FFFFFF"/>
                </a:solidFill>
                <a:latin typeface="Calibri" pitchFamily="34" charset="0"/>
                <a:ea typeface="Calibri" pitchFamily="34" charset="-122"/>
                <a:cs typeface="Calibri" pitchFamily="34" charset="-120"/>
              </a:rPr>
              <a:t>Selected by SW bits in RCC_CFGR</a:t>
            </a:r>
            <a:endParaRPr lang="en-US" sz="1000" dirty="0"/>
          </a:p>
        </p:txBody>
      </p:sp>
      <p:sp>
        <p:nvSpPr>
          <p:cNvPr id="18" name="Shape 16"/>
          <p:cNvSpPr/>
          <p:nvPr/>
        </p:nvSpPr>
        <p:spPr>
          <a:xfrm>
            <a:off x="7040880" y="3600450"/>
            <a:ext cx="0" cy="274320"/>
          </a:xfrm>
          <a:prstGeom prst="line">
            <a:avLst/>
          </a:prstGeom>
          <a:noFill/>
          <a:ln w="25400">
            <a:solidFill>
              <a:srgbClr val="94A3B8"/>
            </a:solidFill>
            <a:prstDash val="solid"/>
          </a:ln>
        </p:spPr>
      </p:sp>
      <p:sp>
        <p:nvSpPr>
          <p:cNvPr id="19" name="Shape 17"/>
          <p:cNvSpPr/>
          <p:nvPr/>
        </p:nvSpPr>
        <p:spPr>
          <a:xfrm>
            <a:off x="6949440" y="3801618"/>
            <a:ext cx="91440" cy="73152"/>
          </a:xfrm>
          <a:prstGeom prst="line">
            <a:avLst/>
          </a:prstGeom>
          <a:noFill/>
          <a:ln w="19050">
            <a:solidFill>
              <a:srgbClr val="94A3B8"/>
            </a:solidFill>
            <a:prstDash val="solid"/>
          </a:ln>
        </p:spPr>
      </p:sp>
      <p:sp>
        <p:nvSpPr>
          <p:cNvPr id="20" name="Shape 18"/>
          <p:cNvSpPr/>
          <p:nvPr/>
        </p:nvSpPr>
        <p:spPr>
          <a:xfrm>
            <a:off x="7040880" y="3801618"/>
            <a:ext cx="91440" cy="0"/>
          </a:xfrm>
          <a:prstGeom prst="line">
            <a:avLst/>
          </a:prstGeom>
          <a:noFill/>
          <a:ln w="19050">
            <a:solidFill>
              <a:srgbClr val="94A3B8"/>
            </a:solidFill>
            <a:prstDash val="solid"/>
          </a:ln>
        </p:spPr>
      </p:sp>
      <p:sp>
        <p:nvSpPr>
          <p:cNvPr id="21" name="Shape 19"/>
          <p:cNvSpPr/>
          <p:nvPr/>
        </p:nvSpPr>
        <p:spPr>
          <a:xfrm>
            <a:off x="5212080" y="3691890"/>
            <a:ext cx="3657600" cy="594360"/>
          </a:xfrm>
          <a:prstGeom prst="roundRect">
            <a:avLst>
              <a:gd name="adj" fmla="val 10769"/>
            </a:avLst>
          </a:prstGeom>
          <a:solidFill>
            <a:srgbClr val="0080C8"/>
          </a:solidFill>
          <a:ln w="12700">
            <a:solidFill>
              <a:srgbClr val="0080C8"/>
            </a:solidFill>
            <a:prstDash val="solid"/>
          </a:ln>
          <a:effectLst>
            <a:outerShdw blurRad="101600" dist="25400" dir="2700000" algn="bl" rotWithShape="0">
              <a:srgbClr val="000000">
                <a:alpha val="10000"/>
              </a:srgbClr>
            </a:outerShdw>
          </a:effectLst>
        </p:spPr>
      </p:sp>
      <p:sp>
        <p:nvSpPr>
          <p:cNvPr id="22" name="Text 20"/>
          <p:cNvSpPr/>
          <p:nvPr/>
        </p:nvSpPr>
        <p:spPr>
          <a:xfrm>
            <a:off x="5212080" y="3691890"/>
            <a:ext cx="365760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Bus Prescalers
</a:t>
            </a:r>
            <a:r>
              <a:rPr lang="en-US" sz="1000" dirty="0">
                <a:solidFill>
                  <a:srgbClr val="FFFFFF"/>
                </a:solidFill>
                <a:latin typeface="Calibri" pitchFamily="34" charset="0"/>
                <a:ea typeface="Calibri" pitchFamily="34" charset="-122"/>
                <a:cs typeface="Calibri" pitchFamily="34" charset="-120"/>
              </a:rPr>
              <a:t>AHB, APB1, APB2, APB3, APB4</a:t>
            </a:r>
            <a:endParaRPr lang="en-US" sz="1000" dirty="0"/>
          </a:p>
        </p:txBody>
      </p:sp>
      <p:sp>
        <p:nvSpPr>
          <p:cNvPr id="23" name="Shape 21"/>
          <p:cNvSpPr/>
          <p:nvPr/>
        </p:nvSpPr>
        <p:spPr>
          <a:xfrm>
            <a:off x="7040880" y="4286250"/>
            <a:ext cx="0" cy="274320"/>
          </a:xfrm>
          <a:prstGeom prst="line">
            <a:avLst/>
          </a:prstGeom>
          <a:noFill/>
          <a:ln w="25400">
            <a:solidFill>
              <a:srgbClr val="94A3B8"/>
            </a:solidFill>
            <a:prstDash val="solid"/>
          </a:ln>
        </p:spPr>
      </p:sp>
      <p:sp>
        <p:nvSpPr>
          <p:cNvPr id="24" name="Shape 22"/>
          <p:cNvSpPr/>
          <p:nvPr/>
        </p:nvSpPr>
        <p:spPr>
          <a:xfrm>
            <a:off x="6949440" y="4487418"/>
            <a:ext cx="91440" cy="73152"/>
          </a:xfrm>
          <a:prstGeom prst="line">
            <a:avLst/>
          </a:prstGeom>
          <a:noFill/>
          <a:ln w="19050">
            <a:solidFill>
              <a:srgbClr val="94A3B8"/>
            </a:solidFill>
            <a:prstDash val="solid"/>
          </a:ln>
        </p:spPr>
      </p:sp>
      <p:sp>
        <p:nvSpPr>
          <p:cNvPr id="25" name="Shape 23"/>
          <p:cNvSpPr/>
          <p:nvPr/>
        </p:nvSpPr>
        <p:spPr>
          <a:xfrm>
            <a:off x="7040880" y="4487418"/>
            <a:ext cx="91440" cy="0"/>
          </a:xfrm>
          <a:prstGeom prst="line">
            <a:avLst/>
          </a:prstGeom>
          <a:noFill/>
          <a:ln w="19050">
            <a:solidFill>
              <a:srgbClr val="94A3B8"/>
            </a:solidFill>
            <a:prstDash val="solid"/>
          </a:ln>
        </p:spPr>
      </p:sp>
      <p:sp>
        <p:nvSpPr>
          <p:cNvPr id="26" name="Shape 24"/>
          <p:cNvSpPr/>
          <p:nvPr/>
        </p:nvSpPr>
        <p:spPr>
          <a:xfrm>
            <a:off x="5212080" y="4377690"/>
            <a:ext cx="3657600" cy="594360"/>
          </a:xfrm>
          <a:prstGeom prst="roundRect">
            <a:avLst>
              <a:gd name="adj" fmla="val 10769"/>
            </a:avLst>
          </a:prstGeom>
          <a:solidFill>
            <a:srgbClr val="4A5568"/>
          </a:solidFill>
          <a:ln w="12700">
            <a:solidFill>
              <a:srgbClr val="4A5568"/>
            </a:solidFill>
            <a:prstDash val="solid"/>
          </a:ln>
          <a:effectLst>
            <a:outerShdw blurRad="101600" dist="25400" dir="2700000" algn="bl" rotWithShape="0">
              <a:srgbClr val="000000">
                <a:alpha val="10000"/>
              </a:srgbClr>
            </a:outerShdw>
          </a:effectLst>
        </p:spPr>
      </p:sp>
      <p:sp>
        <p:nvSpPr>
          <p:cNvPr id="27" name="Text 25"/>
          <p:cNvSpPr/>
          <p:nvPr/>
        </p:nvSpPr>
        <p:spPr>
          <a:xfrm>
            <a:off x="5212080" y="4377690"/>
            <a:ext cx="365760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Peripheral Clocks
</a:t>
            </a:r>
            <a:r>
              <a:rPr lang="en-US" sz="1000" dirty="0">
                <a:solidFill>
                  <a:srgbClr val="FFFFFF"/>
                </a:solidFill>
                <a:latin typeface="Calibri" pitchFamily="34" charset="0"/>
                <a:ea typeface="Calibri" pitchFamily="34" charset="-122"/>
                <a:cs typeface="Calibri" pitchFamily="34" charset="-120"/>
              </a:rPr>
              <a:t>Timers, SPI, UART, ADC, USB…</a:t>
            </a:r>
            <a:endParaRPr lang="en-US" sz="1000" dirty="0"/>
          </a:p>
        </p:txBody>
      </p:sp>
      <p:sp>
        <p:nvSpPr>
          <p:cNvPr id="28" name="Shape 26"/>
          <p:cNvSpPr/>
          <p:nvPr/>
        </p:nvSpPr>
        <p:spPr>
          <a:xfrm>
            <a:off x="365760" y="5200650"/>
            <a:ext cx="8412480" cy="548640"/>
          </a:xfrm>
          <a:prstGeom prst="roundRect">
            <a:avLst>
              <a:gd name="adj" fmla="val 11667"/>
            </a:avLst>
          </a:prstGeom>
          <a:solidFill>
            <a:srgbClr val="E8F4FB"/>
          </a:solidFill>
          <a:ln w="12700">
            <a:solidFill>
              <a:srgbClr val="0080C8"/>
            </a:solidFill>
            <a:prstDash val="solid"/>
          </a:ln>
        </p:spPr>
      </p:sp>
      <p:sp>
        <p:nvSpPr>
          <p:cNvPr id="29" name="Text 27"/>
          <p:cNvSpPr/>
          <p:nvPr/>
        </p:nvSpPr>
        <p:spPr>
          <a:xfrm>
            <a:off x="457200" y="5246370"/>
            <a:ext cx="8229600" cy="457200"/>
          </a:xfrm>
          <a:prstGeom prst="rect">
            <a:avLst/>
          </a:prstGeom>
          <a:noFill/>
          <a:ln/>
        </p:spPr>
        <p:txBody>
          <a:bodyPr wrap="square" lIns="0" tIns="0" rIns="0" bIns="0" rtlCol="0" anchor="ctr"/>
          <a:lstStyle/>
          <a:p>
            <a:r>
              <a:rPr lang="en-US" sz="1100" dirty="0">
                <a:solidFill>
                  <a:srgbClr val="1A3A5C"/>
                </a:solidFill>
                <a:latin typeface="Calibri" pitchFamily="34" charset="0"/>
                <a:ea typeface="Calibri" pitchFamily="34" charset="-122"/>
                <a:cs typeface="Calibri" pitchFamily="34" charset="-120"/>
              </a:rPr>
              <a:t>💡  Key Principle: The STM32H7 can run its CPU (Cortex-M7) at up to 480 MHz while simultaneously running USB at 48 MHz and low-speed peripherals at much lower speeds — all from the same crystal.</a:t>
            </a:r>
            <a:endParaRPr lang="en-US" sz="1100" dirty="0"/>
          </a:p>
        </p:txBody>
      </p:sp>
    </p:spTree>
    <p:extLst>
      <p:ext uri="{BB962C8B-B14F-4D97-AF65-F5344CB8AC3E}">
        <p14:creationId xmlns:p14="http://schemas.microsoft.com/office/powerpoint/2010/main" val="711351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94360"/>
          </a:xfrm>
          <a:prstGeom prst="rect">
            <a:avLst/>
          </a:prstGeom>
          <a:solidFill>
            <a:srgbClr val="0D7A5C"/>
          </a:solidFill>
          <a:ln w="12700">
            <a:solidFill>
              <a:srgbClr val="0D7A5C"/>
            </a:solidFill>
            <a:prstDash val="solid"/>
          </a:ln>
        </p:spPr>
      </p:sp>
      <p:sp>
        <p:nvSpPr>
          <p:cNvPr id="3" name="Text 1"/>
          <p:cNvSpPr/>
          <p:nvPr/>
        </p:nvSpPr>
        <p:spPr>
          <a:xfrm>
            <a:off x="365760" y="857250"/>
            <a:ext cx="8412480" cy="594360"/>
          </a:xfrm>
          <a:prstGeom prst="rect">
            <a:avLst/>
          </a:prstGeom>
          <a:noFill/>
          <a:ln/>
        </p:spPr>
        <p:txBody>
          <a:bodyPr wrap="square" lIns="0" tIns="0" rIns="0" bIns="0" rtlCol="0" anchor="ctr"/>
          <a:lstStyle/>
          <a:p>
            <a:r>
              <a:rPr lang="en-US" sz="2000" b="1" dirty="0">
                <a:solidFill>
                  <a:srgbClr val="FFFFFF"/>
                </a:solidFill>
                <a:latin typeface="Cambria" pitchFamily="34" charset="0"/>
                <a:ea typeface="Cambria" pitchFamily="34" charset="-122"/>
                <a:cs typeface="Cambria" pitchFamily="34" charset="-120"/>
              </a:rPr>
              <a:t>HSE — High Speed External Clock</a:t>
            </a:r>
            <a:endParaRPr lang="en-US" sz="2000" dirty="0"/>
          </a:p>
        </p:txBody>
      </p:sp>
      <p:sp>
        <p:nvSpPr>
          <p:cNvPr id="4" name="Text 2"/>
          <p:cNvSpPr/>
          <p:nvPr/>
        </p:nvSpPr>
        <p:spPr>
          <a:xfrm>
            <a:off x="365760" y="1588770"/>
            <a:ext cx="4206240" cy="320040"/>
          </a:xfrm>
          <a:prstGeom prst="rect">
            <a:avLst/>
          </a:prstGeom>
          <a:noFill/>
          <a:ln/>
        </p:spPr>
        <p:txBody>
          <a:bodyPr wrap="square" lIns="0" tIns="0" rIns="0" bIns="0" rtlCol="0" anchor="ctr"/>
          <a:lstStyle/>
          <a:p>
            <a:r>
              <a:rPr lang="en-US" sz="1400" b="1" dirty="0">
                <a:solidFill>
                  <a:srgbClr val="1A3A5C"/>
                </a:solidFill>
                <a:latin typeface="Cambria" pitchFamily="34" charset="0"/>
                <a:ea typeface="Cambria" pitchFamily="34" charset="-122"/>
                <a:cs typeface="Cambria" pitchFamily="34" charset="-120"/>
              </a:rPr>
              <a:t>What Is HSE?</a:t>
            </a:r>
            <a:endParaRPr lang="en-US" sz="1400" dirty="0"/>
          </a:p>
        </p:txBody>
      </p:sp>
      <p:sp>
        <p:nvSpPr>
          <p:cNvPr id="5" name="Text 3"/>
          <p:cNvSpPr/>
          <p:nvPr/>
        </p:nvSpPr>
        <p:spPr>
          <a:xfrm>
            <a:off x="365760" y="1954530"/>
            <a:ext cx="4206240" cy="2560320"/>
          </a:xfrm>
          <a:prstGeom prst="rect">
            <a:avLst/>
          </a:prstGeom>
          <a:noFill/>
          <a:ln/>
        </p:spPr>
        <p:txBody>
          <a:bodyPr wrap="square" rtlCol="0" anchor="t"/>
          <a:lstStyle/>
          <a:p>
            <a:pPr>
              <a:spcAft>
                <a:spcPts val="600"/>
              </a:spcAft>
            </a:pPr>
            <a:r>
              <a:rPr lang="en-US" sz="1200" dirty="0">
                <a:solidFill>
                  <a:srgbClr val="1A1A2E"/>
                </a:solidFill>
                <a:latin typeface="Calibri" pitchFamily="34" charset="0"/>
                <a:ea typeface="Calibri" pitchFamily="34" charset="-122"/>
                <a:cs typeface="Calibri" pitchFamily="34" charset="-120"/>
              </a:rPr>
              <a:t>HSE stands for High Speed External. It uses an external crystal, ceramic resonator, or oscillator connected to the OSC_IN / OSC_OUT pins of the MCU.</a:t>
            </a:r>
            <a:endParaRPr lang="en-US" sz="1200" dirty="0"/>
          </a:p>
          <a:p>
            <a:pPr>
              <a:spcAft>
                <a:spcPts val="600"/>
              </a:spcAft>
            </a:pPr>
            <a:r>
              <a:rPr lang="en-US" sz="1200" dirty="0">
                <a:solidFill>
                  <a:srgbClr val="1A1A2E"/>
                </a:solidFill>
                <a:latin typeface="Calibri" pitchFamily="34" charset="0"/>
                <a:ea typeface="Calibri" pitchFamily="34" charset="-122"/>
                <a:cs typeface="Calibri" pitchFamily="34" charset="-120"/>
              </a:rPr>
              <a:t>Frequency range: 4 MHz to 48 MHz (crystal or resonator). Can also accept an external square-wave clock directly on OSC_IN.</a:t>
            </a:r>
            <a:endParaRPr lang="en-US" sz="1200" dirty="0"/>
          </a:p>
          <a:p>
            <a:pPr>
              <a:spcAft>
                <a:spcPts val="600"/>
              </a:spcAft>
            </a:pPr>
            <a:r>
              <a:rPr lang="en-US" sz="1200" dirty="0">
                <a:solidFill>
                  <a:srgbClr val="1A1A2E"/>
                </a:solidFill>
                <a:latin typeface="Calibri" pitchFamily="34" charset="0"/>
                <a:ea typeface="Calibri" pitchFamily="34" charset="-122"/>
                <a:cs typeface="Calibri" pitchFamily="34" charset="-120"/>
              </a:rPr>
              <a:t>HSE is the preferred clock source for high-accuracy applications because a good crystal provides ±10–30 ppm stability — far better than the internal RC oscillator.</a:t>
            </a:r>
            <a:endParaRPr lang="en-US" sz="1200" dirty="0"/>
          </a:p>
          <a:p>
            <a:pPr>
              <a:spcAft>
                <a:spcPts val="600"/>
              </a:spcAft>
            </a:pPr>
            <a:r>
              <a:rPr lang="en-US" sz="1200" dirty="0">
                <a:solidFill>
                  <a:srgbClr val="1A1A2E"/>
                </a:solidFill>
                <a:latin typeface="Calibri" pitchFamily="34" charset="0"/>
                <a:ea typeface="Calibri" pitchFamily="34" charset="-122"/>
                <a:cs typeface="Calibri" pitchFamily="34" charset="-120"/>
              </a:rPr>
              <a:t>HSE is almost always used as the PLL input in systems that need USB, Ethernet, or precise baud rates (UART, SPI).</a:t>
            </a:r>
            <a:endParaRPr lang="en-US" sz="1200" dirty="0"/>
          </a:p>
        </p:txBody>
      </p:sp>
      <p:sp>
        <p:nvSpPr>
          <p:cNvPr id="6" name="Text 4"/>
          <p:cNvSpPr/>
          <p:nvPr/>
        </p:nvSpPr>
        <p:spPr>
          <a:xfrm>
            <a:off x="365760" y="4514850"/>
            <a:ext cx="4206240" cy="320040"/>
          </a:xfrm>
          <a:prstGeom prst="rect">
            <a:avLst/>
          </a:prstGeom>
          <a:noFill/>
          <a:ln/>
        </p:spPr>
        <p:txBody>
          <a:bodyPr wrap="square" lIns="0" tIns="0" rIns="0" bIns="0" rtlCol="0" anchor="ctr"/>
          <a:lstStyle/>
          <a:p>
            <a:r>
              <a:rPr lang="en-US" sz="1300" b="1" dirty="0">
                <a:solidFill>
                  <a:srgbClr val="1A3A5C"/>
                </a:solidFill>
                <a:latin typeface="Cambria" pitchFamily="34" charset="0"/>
                <a:ea typeface="Cambria" pitchFamily="34" charset="-122"/>
                <a:cs typeface="Cambria" pitchFamily="34" charset="-120"/>
              </a:rPr>
              <a:t>Key RCC Registers</a:t>
            </a:r>
            <a:endParaRPr lang="en-US" sz="1300" dirty="0"/>
          </a:p>
        </p:txBody>
      </p:sp>
      <p:sp>
        <p:nvSpPr>
          <p:cNvPr id="7" name="Shape 5"/>
          <p:cNvSpPr/>
          <p:nvPr/>
        </p:nvSpPr>
        <p:spPr>
          <a:xfrm>
            <a:off x="365760" y="4880610"/>
            <a:ext cx="1280160" cy="274320"/>
          </a:xfrm>
          <a:prstGeom prst="rect">
            <a:avLst/>
          </a:prstGeom>
          <a:solidFill>
            <a:srgbClr val="0D7A5C"/>
          </a:solidFill>
          <a:ln w="12700">
            <a:solidFill>
              <a:srgbClr val="0D7A5C"/>
            </a:solidFill>
            <a:prstDash val="solid"/>
          </a:ln>
        </p:spPr>
      </p:sp>
      <p:sp>
        <p:nvSpPr>
          <p:cNvPr id="8" name="Text 6"/>
          <p:cNvSpPr/>
          <p:nvPr/>
        </p:nvSpPr>
        <p:spPr>
          <a:xfrm>
            <a:off x="365760" y="4880610"/>
            <a:ext cx="1280160" cy="274320"/>
          </a:xfrm>
          <a:prstGeom prst="rect">
            <a:avLst/>
          </a:prstGeom>
          <a:noFill/>
          <a:ln/>
        </p:spPr>
        <p:txBody>
          <a:bodyPr wrap="square" lIns="0" tIns="0" rIns="0" bIns="0" rtlCol="0" anchor="ctr"/>
          <a:lstStyle/>
          <a:p>
            <a:pPr algn="ctr"/>
            <a:r>
              <a:rPr lang="en-US" sz="900" b="1" dirty="0">
                <a:solidFill>
                  <a:srgbClr val="FFFFFF"/>
                </a:solidFill>
                <a:latin typeface="Courier New" pitchFamily="34" charset="0"/>
                <a:ea typeface="Courier New" pitchFamily="34" charset="-122"/>
                <a:cs typeface="Courier New" pitchFamily="34" charset="-120"/>
              </a:rPr>
              <a:t>RCC_CR</a:t>
            </a:r>
            <a:endParaRPr lang="en-US" sz="900" dirty="0"/>
          </a:p>
        </p:txBody>
      </p:sp>
      <p:sp>
        <p:nvSpPr>
          <p:cNvPr id="9" name="Shape 7"/>
          <p:cNvSpPr/>
          <p:nvPr/>
        </p:nvSpPr>
        <p:spPr>
          <a:xfrm>
            <a:off x="1691640" y="4880610"/>
            <a:ext cx="1371600" cy="274320"/>
          </a:xfrm>
          <a:prstGeom prst="rect">
            <a:avLst/>
          </a:prstGeom>
          <a:solidFill>
            <a:srgbClr val="E8EEF4"/>
          </a:solidFill>
          <a:ln w="12700">
            <a:solidFill>
              <a:srgbClr val="94A3B8"/>
            </a:solidFill>
            <a:prstDash val="solid"/>
          </a:ln>
        </p:spPr>
      </p:sp>
      <p:sp>
        <p:nvSpPr>
          <p:cNvPr id="10" name="Text 8"/>
          <p:cNvSpPr/>
          <p:nvPr/>
        </p:nvSpPr>
        <p:spPr>
          <a:xfrm>
            <a:off x="1691640" y="4880610"/>
            <a:ext cx="1371600" cy="274320"/>
          </a:xfrm>
          <a:prstGeom prst="rect">
            <a:avLst/>
          </a:prstGeom>
          <a:noFill/>
          <a:ln/>
        </p:spPr>
        <p:txBody>
          <a:bodyPr wrap="square" lIns="0" tIns="0" rIns="0" bIns="0" rtlCol="0" anchor="ctr"/>
          <a:lstStyle/>
          <a:p>
            <a:pPr algn="ctr"/>
            <a:r>
              <a:rPr lang="en-US" sz="900" dirty="0">
                <a:solidFill>
                  <a:srgbClr val="1A3A5C"/>
                </a:solidFill>
                <a:latin typeface="Courier New" pitchFamily="34" charset="0"/>
                <a:ea typeface="Courier New" pitchFamily="34" charset="-122"/>
                <a:cs typeface="Courier New" pitchFamily="34" charset="-120"/>
              </a:rPr>
              <a:t>HSEON bit (16)</a:t>
            </a:r>
            <a:endParaRPr lang="en-US" sz="900" dirty="0"/>
          </a:p>
        </p:txBody>
      </p:sp>
      <p:sp>
        <p:nvSpPr>
          <p:cNvPr id="11" name="Text 9"/>
          <p:cNvSpPr/>
          <p:nvPr/>
        </p:nvSpPr>
        <p:spPr>
          <a:xfrm>
            <a:off x="3108960" y="4880610"/>
            <a:ext cx="1645920" cy="274320"/>
          </a:xfrm>
          <a:prstGeom prst="rect">
            <a:avLst/>
          </a:prstGeom>
          <a:noFill/>
          <a:ln/>
        </p:spPr>
        <p:txBody>
          <a:bodyPr wrap="square" lIns="0" tIns="0" rIns="0" bIns="0" rtlCol="0" anchor="ctr"/>
          <a:lstStyle/>
          <a:p>
            <a:r>
              <a:rPr lang="en-US" sz="900" dirty="0">
                <a:solidFill>
                  <a:srgbClr val="4A5568"/>
                </a:solidFill>
                <a:latin typeface="Calibri" pitchFamily="34" charset="0"/>
                <a:ea typeface="Calibri" pitchFamily="34" charset="-122"/>
                <a:cs typeface="Calibri" pitchFamily="34" charset="-120"/>
              </a:rPr>
              <a:t>Enable HSE oscillator</a:t>
            </a:r>
            <a:endParaRPr lang="en-US" sz="900" dirty="0"/>
          </a:p>
        </p:txBody>
      </p:sp>
      <p:sp>
        <p:nvSpPr>
          <p:cNvPr id="12" name="Shape 10"/>
          <p:cNvSpPr/>
          <p:nvPr/>
        </p:nvSpPr>
        <p:spPr>
          <a:xfrm>
            <a:off x="365760" y="5200650"/>
            <a:ext cx="1280160" cy="274320"/>
          </a:xfrm>
          <a:prstGeom prst="rect">
            <a:avLst/>
          </a:prstGeom>
          <a:solidFill>
            <a:srgbClr val="0D7A5C"/>
          </a:solidFill>
          <a:ln w="12700">
            <a:solidFill>
              <a:srgbClr val="0D7A5C"/>
            </a:solidFill>
            <a:prstDash val="solid"/>
          </a:ln>
        </p:spPr>
      </p:sp>
      <p:sp>
        <p:nvSpPr>
          <p:cNvPr id="13" name="Text 11"/>
          <p:cNvSpPr/>
          <p:nvPr/>
        </p:nvSpPr>
        <p:spPr>
          <a:xfrm>
            <a:off x="365760" y="5200650"/>
            <a:ext cx="1280160" cy="274320"/>
          </a:xfrm>
          <a:prstGeom prst="rect">
            <a:avLst/>
          </a:prstGeom>
          <a:noFill/>
          <a:ln/>
        </p:spPr>
        <p:txBody>
          <a:bodyPr wrap="square" lIns="0" tIns="0" rIns="0" bIns="0" rtlCol="0" anchor="ctr"/>
          <a:lstStyle/>
          <a:p>
            <a:pPr algn="ctr"/>
            <a:r>
              <a:rPr lang="en-US" sz="900" b="1" dirty="0">
                <a:solidFill>
                  <a:srgbClr val="FFFFFF"/>
                </a:solidFill>
                <a:latin typeface="Courier New" pitchFamily="34" charset="0"/>
                <a:ea typeface="Courier New" pitchFamily="34" charset="-122"/>
                <a:cs typeface="Courier New" pitchFamily="34" charset="-120"/>
              </a:rPr>
              <a:t>RCC_CR</a:t>
            </a:r>
            <a:endParaRPr lang="en-US" sz="900" dirty="0"/>
          </a:p>
        </p:txBody>
      </p:sp>
      <p:sp>
        <p:nvSpPr>
          <p:cNvPr id="14" name="Shape 12"/>
          <p:cNvSpPr/>
          <p:nvPr/>
        </p:nvSpPr>
        <p:spPr>
          <a:xfrm>
            <a:off x="1691640" y="5200650"/>
            <a:ext cx="1371600" cy="274320"/>
          </a:xfrm>
          <a:prstGeom prst="rect">
            <a:avLst/>
          </a:prstGeom>
          <a:solidFill>
            <a:srgbClr val="E8EEF4"/>
          </a:solidFill>
          <a:ln w="12700">
            <a:solidFill>
              <a:srgbClr val="94A3B8"/>
            </a:solidFill>
            <a:prstDash val="solid"/>
          </a:ln>
        </p:spPr>
      </p:sp>
      <p:sp>
        <p:nvSpPr>
          <p:cNvPr id="15" name="Text 13"/>
          <p:cNvSpPr/>
          <p:nvPr/>
        </p:nvSpPr>
        <p:spPr>
          <a:xfrm>
            <a:off x="1691640" y="5200650"/>
            <a:ext cx="1371600" cy="274320"/>
          </a:xfrm>
          <a:prstGeom prst="rect">
            <a:avLst/>
          </a:prstGeom>
          <a:noFill/>
          <a:ln/>
        </p:spPr>
        <p:txBody>
          <a:bodyPr wrap="square" lIns="0" tIns="0" rIns="0" bIns="0" rtlCol="0" anchor="ctr"/>
          <a:lstStyle/>
          <a:p>
            <a:pPr algn="ctr"/>
            <a:r>
              <a:rPr lang="en-US" sz="900" dirty="0">
                <a:solidFill>
                  <a:srgbClr val="1A3A5C"/>
                </a:solidFill>
                <a:latin typeface="Courier New" pitchFamily="34" charset="0"/>
                <a:ea typeface="Courier New" pitchFamily="34" charset="-122"/>
                <a:cs typeface="Courier New" pitchFamily="34" charset="-120"/>
              </a:rPr>
              <a:t>HSERDY bit (17)</a:t>
            </a:r>
            <a:endParaRPr lang="en-US" sz="900" dirty="0"/>
          </a:p>
        </p:txBody>
      </p:sp>
      <p:sp>
        <p:nvSpPr>
          <p:cNvPr id="16" name="Text 14"/>
          <p:cNvSpPr/>
          <p:nvPr/>
        </p:nvSpPr>
        <p:spPr>
          <a:xfrm>
            <a:off x="3108960" y="5200650"/>
            <a:ext cx="1645920" cy="274320"/>
          </a:xfrm>
          <a:prstGeom prst="rect">
            <a:avLst/>
          </a:prstGeom>
          <a:noFill/>
          <a:ln/>
        </p:spPr>
        <p:txBody>
          <a:bodyPr wrap="square" lIns="0" tIns="0" rIns="0" bIns="0" rtlCol="0" anchor="ctr"/>
          <a:lstStyle/>
          <a:p>
            <a:r>
              <a:rPr lang="en-US" sz="900" dirty="0">
                <a:solidFill>
                  <a:srgbClr val="4A5568"/>
                </a:solidFill>
                <a:latin typeface="Calibri" pitchFamily="34" charset="0"/>
                <a:ea typeface="Calibri" pitchFamily="34" charset="-122"/>
                <a:cs typeface="Calibri" pitchFamily="34" charset="-120"/>
              </a:rPr>
              <a:t>1 = HSE clock is stable &amp; ready</a:t>
            </a:r>
            <a:endParaRPr lang="en-US" sz="900" dirty="0"/>
          </a:p>
        </p:txBody>
      </p:sp>
      <p:sp>
        <p:nvSpPr>
          <p:cNvPr id="17" name="Shape 15"/>
          <p:cNvSpPr/>
          <p:nvPr/>
        </p:nvSpPr>
        <p:spPr>
          <a:xfrm>
            <a:off x="365760" y="5520690"/>
            <a:ext cx="1280160" cy="274320"/>
          </a:xfrm>
          <a:prstGeom prst="rect">
            <a:avLst/>
          </a:prstGeom>
          <a:solidFill>
            <a:srgbClr val="0D7A5C"/>
          </a:solidFill>
          <a:ln w="12700">
            <a:solidFill>
              <a:srgbClr val="0D7A5C"/>
            </a:solidFill>
            <a:prstDash val="solid"/>
          </a:ln>
        </p:spPr>
      </p:sp>
      <p:sp>
        <p:nvSpPr>
          <p:cNvPr id="18" name="Text 16"/>
          <p:cNvSpPr/>
          <p:nvPr/>
        </p:nvSpPr>
        <p:spPr>
          <a:xfrm>
            <a:off x="365760" y="5520690"/>
            <a:ext cx="1280160" cy="274320"/>
          </a:xfrm>
          <a:prstGeom prst="rect">
            <a:avLst/>
          </a:prstGeom>
          <a:noFill/>
          <a:ln/>
        </p:spPr>
        <p:txBody>
          <a:bodyPr wrap="square" lIns="0" tIns="0" rIns="0" bIns="0" rtlCol="0" anchor="ctr"/>
          <a:lstStyle/>
          <a:p>
            <a:pPr algn="ctr"/>
            <a:r>
              <a:rPr lang="en-US" sz="900" b="1" dirty="0">
                <a:solidFill>
                  <a:srgbClr val="FFFFFF"/>
                </a:solidFill>
                <a:latin typeface="Courier New" pitchFamily="34" charset="0"/>
                <a:ea typeface="Courier New" pitchFamily="34" charset="-122"/>
                <a:cs typeface="Courier New" pitchFamily="34" charset="-120"/>
              </a:rPr>
              <a:t>RCC_CFGR</a:t>
            </a:r>
            <a:endParaRPr lang="en-US" sz="900" dirty="0"/>
          </a:p>
        </p:txBody>
      </p:sp>
      <p:sp>
        <p:nvSpPr>
          <p:cNvPr id="19" name="Shape 17"/>
          <p:cNvSpPr/>
          <p:nvPr/>
        </p:nvSpPr>
        <p:spPr>
          <a:xfrm>
            <a:off x="1691640" y="5520690"/>
            <a:ext cx="1371600" cy="274320"/>
          </a:xfrm>
          <a:prstGeom prst="rect">
            <a:avLst/>
          </a:prstGeom>
          <a:solidFill>
            <a:srgbClr val="E8EEF4"/>
          </a:solidFill>
          <a:ln w="12700">
            <a:solidFill>
              <a:srgbClr val="94A3B8"/>
            </a:solidFill>
            <a:prstDash val="solid"/>
          </a:ln>
        </p:spPr>
      </p:sp>
      <p:sp>
        <p:nvSpPr>
          <p:cNvPr id="20" name="Text 18"/>
          <p:cNvSpPr/>
          <p:nvPr/>
        </p:nvSpPr>
        <p:spPr>
          <a:xfrm>
            <a:off x="1691640" y="5520690"/>
            <a:ext cx="1371600" cy="274320"/>
          </a:xfrm>
          <a:prstGeom prst="rect">
            <a:avLst/>
          </a:prstGeom>
          <a:noFill/>
          <a:ln/>
        </p:spPr>
        <p:txBody>
          <a:bodyPr wrap="square" lIns="0" tIns="0" rIns="0" bIns="0" rtlCol="0" anchor="ctr"/>
          <a:lstStyle/>
          <a:p>
            <a:pPr algn="ctr"/>
            <a:r>
              <a:rPr lang="en-US" sz="900" dirty="0">
                <a:solidFill>
                  <a:srgbClr val="1A3A5C"/>
                </a:solidFill>
                <a:latin typeface="Courier New" pitchFamily="34" charset="0"/>
                <a:ea typeface="Courier New" pitchFamily="34" charset="-122"/>
                <a:cs typeface="Courier New" pitchFamily="34" charset="-120"/>
              </a:rPr>
              <a:t>SW[1:0]</a:t>
            </a:r>
            <a:endParaRPr lang="en-US" sz="900" dirty="0"/>
          </a:p>
        </p:txBody>
      </p:sp>
      <p:sp>
        <p:nvSpPr>
          <p:cNvPr id="21" name="Text 19"/>
          <p:cNvSpPr/>
          <p:nvPr/>
        </p:nvSpPr>
        <p:spPr>
          <a:xfrm>
            <a:off x="3108960" y="5520690"/>
            <a:ext cx="1645920" cy="274320"/>
          </a:xfrm>
          <a:prstGeom prst="rect">
            <a:avLst/>
          </a:prstGeom>
          <a:noFill/>
          <a:ln/>
        </p:spPr>
        <p:txBody>
          <a:bodyPr wrap="square" lIns="0" tIns="0" rIns="0" bIns="0" rtlCol="0" anchor="ctr"/>
          <a:lstStyle/>
          <a:p>
            <a:r>
              <a:rPr lang="en-US" sz="900" dirty="0">
                <a:solidFill>
                  <a:srgbClr val="4A5568"/>
                </a:solidFill>
                <a:latin typeface="Calibri" pitchFamily="34" charset="0"/>
                <a:ea typeface="Calibri" pitchFamily="34" charset="-122"/>
                <a:cs typeface="Calibri" pitchFamily="34" charset="-120"/>
              </a:rPr>
              <a:t>Select HSE as SYSCLK source (SW=10)</a:t>
            </a:r>
            <a:endParaRPr lang="en-US" sz="900" dirty="0"/>
          </a:p>
        </p:txBody>
      </p:sp>
      <p:sp>
        <p:nvSpPr>
          <p:cNvPr id="22" name="Shape 20"/>
          <p:cNvSpPr/>
          <p:nvPr/>
        </p:nvSpPr>
        <p:spPr>
          <a:xfrm>
            <a:off x="5943600" y="2228850"/>
            <a:ext cx="457200" cy="914400"/>
          </a:xfrm>
          <a:prstGeom prst="rect">
            <a:avLst/>
          </a:prstGeom>
          <a:solidFill>
            <a:srgbClr val="E8F4FB"/>
          </a:solidFill>
          <a:ln w="25400">
            <a:solidFill>
              <a:srgbClr val="0080C8"/>
            </a:solidFill>
            <a:prstDash val="solid"/>
          </a:ln>
        </p:spPr>
      </p:sp>
      <p:sp>
        <p:nvSpPr>
          <p:cNvPr id="23" name="Text 21"/>
          <p:cNvSpPr/>
          <p:nvPr/>
        </p:nvSpPr>
        <p:spPr>
          <a:xfrm>
            <a:off x="5806440" y="2686050"/>
            <a:ext cx="731520" cy="274320"/>
          </a:xfrm>
          <a:prstGeom prst="rect">
            <a:avLst/>
          </a:prstGeom>
          <a:noFill/>
          <a:ln/>
        </p:spPr>
        <p:txBody>
          <a:bodyPr wrap="square" lIns="0" tIns="0" rIns="0" bIns="0" rtlCol="0" anchor="ctr"/>
          <a:lstStyle/>
          <a:p>
            <a:pPr algn="ctr"/>
            <a:r>
              <a:rPr lang="en-US" sz="900" b="1" dirty="0">
                <a:solidFill>
                  <a:srgbClr val="0080C8"/>
                </a:solidFill>
                <a:latin typeface="Calibri" pitchFamily="34" charset="0"/>
                <a:ea typeface="Calibri" pitchFamily="34" charset="-122"/>
                <a:cs typeface="Calibri" pitchFamily="34" charset="-120"/>
              </a:rPr>
              <a:t>XTAL</a:t>
            </a:r>
            <a:endParaRPr lang="en-US" sz="900" dirty="0"/>
          </a:p>
        </p:txBody>
      </p:sp>
      <p:sp>
        <p:nvSpPr>
          <p:cNvPr id="24" name="Shape 22"/>
          <p:cNvSpPr/>
          <p:nvPr/>
        </p:nvSpPr>
        <p:spPr>
          <a:xfrm>
            <a:off x="5029200" y="2503170"/>
            <a:ext cx="914400" cy="0"/>
          </a:xfrm>
          <a:prstGeom prst="line">
            <a:avLst/>
          </a:prstGeom>
          <a:noFill/>
          <a:ln w="25400">
            <a:solidFill>
              <a:srgbClr val="1A3A5C"/>
            </a:solidFill>
            <a:prstDash val="solid"/>
          </a:ln>
        </p:spPr>
      </p:sp>
      <p:sp>
        <p:nvSpPr>
          <p:cNvPr id="25" name="Shape 23"/>
          <p:cNvSpPr/>
          <p:nvPr/>
        </p:nvSpPr>
        <p:spPr>
          <a:xfrm>
            <a:off x="5029200" y="2868930"/>
            <a:ext cx="914400" cy="0"/>
          </a:xfrm>
          <a:prstGeom prst="line">
            <a:avLst/>
          </a:prstGeom>
          <a:noFill/>
          <a:ln w="25400">
            <a:solidFill>
              <a:srgbClr val="1A3A5C"/>
            </a:solidFill>
            <a:prstDash val="solid"/>
          </a:ln>
        </p:spPr>
      </p:sp>
      <p:sp>
        <p:nvSpPr>
          <p:cNvPr id="26" name="Shape 24"/>
          <p:cNvSpPr/>
          <p:nvPr/>
        </p:nvSpPr>
        <p:spPr>
          <a:xfrm>
            <a:off x="5029200" y="2228850"/>
            <a:ext cx="0" cy="548640"/>
          </a:xfrm>
          <a:prstGeom prst="line">
            <a:avLst/>
          </a:prstGeom>
          <a:noFill/>
          <a:ln w="12700">
            <a:solidFill>
              <a:srgbClr val="1A3A5C"/>
            </a:solidFill>
            <a:prstDash val="solid"/>
          </a:ln>
        </p:spPr>
      </p:sp>
      <p:sp>
        <p:nvSpPr>
          <p:cNvPr id="27" name="Shape 25"/>
          <p:cNvSpPr/>
          <p:nvPr/>
        </p:nvSpPr>
        <p:spPr>
          <a:xfrm>
            <a:off x="4846320" y="2457450"/>
            <a:ext cx="365760" cy="0"/>
          </a:xfrm>
          <a:prstGeom prst="line">
            <a:avLst/>
          </a:prstGeom>
          <a:noFill/>
          <a:ln w="25400">
            <a:solidFill>
              <a:srgbClr val="1A3A5C"/>
            </a:solidFill>
            <a:prstDash val="solid"/>
          </a:ln>
        </p:spPr>
      </p:sp>
      <p:sp>
        <p:nvSpPr>
          <p:cNvPr id="28" name="Shape 26"/>
          <p:cNvSpPr/>
          <p:nvPr/>
        </p:nvSpPr>
        <p:spPr>
          <a:xfrm>
            <a:off x="4846320" y="2548890"/>
            <a:ext cx="365760" cy="0"/>
          </a:xfrm>
          <a:prstGeom prst="line">
            <a:avLst/>
          </a:prstGeom>
          <a:noFill/>
          <a:ln w="25400">
            <a:solidFill>
              <a:srgbClr val="1A3A5C"/>
            </a:solidFill>
            <a:prstDash val="solid"/>
          </a:ln>
        </p:spPr>
      </p:sp>
      <p:sp>
        <p:nvSpPr>
          <p:cNvPr id="29" name="Text 27"/>
          <p:cNvSpPr/>
          <p:nvPr/>
        </p:nvSpPr>
        <p:spPr>
          <a:xfrm>
            <a:off x="4480560" y="2411730"/>
            <a:ext cx="365760" cy="182880"/>
          </a:xfrm>
          <a:prstGeom prst="rect">
            <a:avLst/>
          </a:prstGeom>
          <a:noFill/>
          <a:ln/>
        </p:spPr>
        <p:txBody>
          <a:bodyPr wrap="square" lIns="0" tIns="0" rIns="0" bIns="0" rtlCol="0" anchor="ctr"/>
          <a:lstStyle/>
          <a:p>
            <a:r>
              <a:rPr lang="en-US" sz="800" dirty="0">
                <a:solidFill>
                  <a:srgbClr val="4A5568"/>
                </a:solidFill>
                <a:latin typeface="Calibri" pitchFamily="34" charset="0"/>
                <a:ea typeface="Calibri" pitchFamily="34" charset="-122"/>
                <a:cs typeface="Calibri" pitchFamily="34" charset="-120"/>
              </a:rPr>
              <a:t>CL1</a:t>
            </a:r>
            <a:endParaRPr lang="en-US" sz="800" dirty="0"/>
          </a:p>
        </p:txBody>
      </p:sp>
      <p:sp>
        <p:nvSpPr>
          <p:cNvPr id="30" name="Shape 28"/>
          <p:cNvSpPr/>
          <p:nvPr/>
        </p:nvSpPr>
        <p:spPr>
          <a:xfrm>
            <a:off x="5029200" y="2686050"/>
            <a:ext cx="0" cy="548640"/>
          </a:xfrm>
          <a:prstGeom prst="line">
            <a:avLst/>
          </a:prstGeom>
          <a:noFill/>
          <a:ln w="12700">
            <a:solidFill>
              <a:srgbClr val="1A3A5C"/>
            </a:solidFill>
            <a:prstDash val="solid"/>
          </a:ln>
        </p:spPr>
      </p:sp>
      <p:sp>
        <p:nvSpPr>
          <p:cNvPr id="31" name="Shape 29"/>
          <p:cNvSpPr/>
          <p:nvPr/>
        </p:nvSpPr>
        <p:spPr>
          <a:xfrm>
            <a:off x="4846320" y="2868930"/>
            <a:ext cx="365760" cy="0"/>
          </a:xfrm>
          <a:prstGeom prst="line">
            <a:avLst/>
          </a:prstGeom>
          <a:noFill/>
          <a:ln w="25400">
            <a:solidFill>
              <a:srgbClr val="1A3A5C"/>
            </a:solidFill>
            <a:prstDash val="solid"/>
          </a:ln>
        </p:spPr>
      </p:sp>
      <p:sp>
        <p:nvSpPr>
          <p:cNvPr id="32" name="Shape 30"/>
          <p:cNvSpPr/>
          <p:nvPr/>
        </p:nvSpPr>
        <p:spPr>
          <a:xfrm>
            <a:off x="4846320" y="2960370"/>
            <a:ext cx="365760" cy="0"/>
          </a:xfrm>
          <a:prstGeom prst="line">
            <a:avLst/>
          </a:prstGeom>
          <a:noFill/>
          <a:ln w="25400">
            <a:solidFill>
              <a:srgbClr val="1A3A5C"/>
            </a:solidFill>
            <a:prstDash val="solid"/>
          </a:ln>
        </p:spPr>
      </p:sp>
      <p:sp>
        <p:nvSpPr>
          <p:cNvPr id="33" name="Text 31"/>
          <p:cNvSpPr/>
          <p:nvPr/>
        </p:nvSpPr>
        <p:spPr>
          <a:xfrm>
            <a:off x="4480560" y="2887218"/>
            <a:ext cx="365760" cy="182880"/>
          </a:xfrm>
          <a:prstGeom prst="rect">
            <a:avLst/>
          </a:prstGeom>
          <a:noFill/>
          <a:ln/>
        </p:spPr>
        <p:txBody>
          <a:bodyPr wrap="square" lIns="0" tIns="0" rIns="0" bIns="0" rtlCol="0" anchor="ctr"/>
          <a:lstStyle/>
          <a:p>
            <a:r>
              <a:rPr lang="en-US" sz="800" dirty="0">
                <a:solidFill>
                  <a:srgbClr val="4A5568"/>
                </a:solidFill>
                <a:latin typeface="Calibri" pitchFamily="34" charset="0"/>
                <a:ea typeface="Calibri" pitchFamily="34" charset="-122"/>
                <a:cs typeface="Calibri" pitchFamily="34" charset="-120"/>
              </a:rPr>
              <a:t>CL2</a:t>
            </a:r>
            <a:endParaRPr lang="en-US" sz="800" dirty="0"/>
          </a:p>
        </p:txBody>
      </p:sp>
      <p:sp>
        <p:nvSpPr>
          <p:cNvPr id="34" name="Shape 32"/>
          <p:cNvSpPr/>
          <p:nvPr/>
        </p:nvSpPr>
        <p:spPr>
          <a:xfrm>
            <a:off x="6583680" y="1771650"/>
            <a:ext cx="2011680" cy="1828800"/>
          </a:xfrm>
          <a:prstGeom prst="roundRect">
            <a:avLst>
              <a:gd name="adj" fmla="val 5000"/>
            </a:avLst>
          </a:prstGeom>
          <a:solidFill>
            <a:srgbClr val="1A3A5C"/>
          </a:solidFill>
          <a:ln w="25400">
            <a:solidFill>
              <a:srgbClr val="0080C8"/>
            </a:solidFill>
            <a:prstDash val="solid"/>
          </a:ln>
          <a:effectLst>
            <a:outerShdw blurRad="101600" dist="25400" dir="2700000" algn="bl" rotWithShape="0">
              <a:srgbClr val="000000">
                <a:alpha val="10000"/>
              </a:srgbClr>
            </a:outerShdw>
          </a:effectLst>
        </p:spPr>
      </p:sp>
      <p:sp>
        <p:nvSpPr>
          <p:cNvPr id="35" name="Text 33"/>
          <p:cNvSpPr/>
          <p:nvPr/>
        </p:nvSpPr>
        <p:spPr>
          <a:xfrm>
            <a:off x="6583680" y="1771650"/>
            <a:ext cx="2011680" cy="45720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STM32H7</a:t>
            </a:r>
            <a:endParaRPr lang="en-US" sz="1000" dirty="0"/>
          </a:p>
          <a:p>
            <a:pPr algn="ctr"/>
            <a:r>
              <a:rPr lang="en-US" sz="1000" b="1" dirty="0">
                <a:solidFill>
                  <a:srgbClr val="FFFFFF"/>
                </a:solidFill>
                <a:latin typeface="Calibri" pitchFamily="34" charset="0"/>
                <a:ea typeface="Calibri" pitchFamily="34" charset="-122"/>
                <a:cs typeface="Calibri" pitchFamily="34" charset="-120"/>
              </a:rPr>
              <a:t>MCU</a:t>
            </a:r>
            <a:endParaRPr lang="en-US" sz="1000" dirty="0"/>
          </a:p>
        </p:txBody>
      </p:sp>
      <p:sp>
        <p:nvSpPr>
          <p:cNvPr id="36" name="Text 34"/>
          <p:cNvSpPr/>
          <p:nvPr/>
        </p:nvSpPr>
        <p:spPr>
          <a:xfrm>
            <a:off x="6583680" y="2320290"/>
            <a:ext cx="2011680" cy="548640"/>
          </a:xfrm>
          <a:prstGeom prst="rect">
            <a:avLst/>
          </a:prstGeom>
          <a:noFill/>
          <a:ln/>
        </p:spPr>
        <p:txBody>
          <a:bodyPr wrap="square" rtlCol="0" anchor="ctr"/>
          <a:lstStyle/>
          <a:p>
            <a:pPr algn="ctr"/>
            <a:r>
              <a:rPr lang="en-US" sz="900" dirty="0">
                <a:solidFill>
                  <a:srgbClr val="AACCE8"/>
                </a:solidFill>
                <a:latin typeface="Calibri" pitchFamily="34" charset="0"/>
                <a:ea typeface="Calibri" pitchFamily="34" charset="-122"/>
                <a:cs typeface="Calibri" pitchFamily="34" charset="-120"/>
              </a:rPr>
              <a:t>OSC_IN</a:t>
            </a:r>
            <a:endParaRPr lang="en-US" sz="900" dirty="0"/>
          </a:p>
          <a:p>
            <a:pPr algn="ctr"/>
            <a:r>
              <a:rPr lang="en-US" sz="900" dirty="0">
                <a:solidFill>
                  <a:srgbClr val="AACCE8"/>
                </a:solidFill>
                <a:latin typeface="Calibri" pitchFamily="34" charset="0"/>
                <a:ea typeface="Calibri" pitchFamily="34" charset="-122"/>
                <a:cs typeface="Calibri" pitchFamily="34" charset="-120"/>
              </a:rPr>
              <a:t>OSC_OUT</a:t>
            </a:r>
            <a:endParaRPr lang="en-US" sz="900" dirty="0"/>
          </a:p>
        </p:txBody>
      </p:sp>
      <p:sp>
        <p:nvSpPr>
          <p:cNvPr id="37" name="Shape 35"/>
          <p:cNvSpPr/>
          <p:nvPr/>
        </p:nvSpPr>
        <p:spPr>
          <a:xfrm>
            <a:off x="6400800" y="2503170"/>
            <a:ext cx="182880" cy="0"/>
          </a:xfrm>
          <a:prstGeom prst="line">
            <a:avLst/>
          </a:prstGeom>
          <a:noFill/>
          <a:ln w="19050">
            <a:solidFill>
              <a:srgbClr val="FFFFFF"/>
            </a:solidFill>
            <a:prstDash val="solid"/>
          </a:ln>
        </p:spPr>
      </p:sp>
      <p:sp>
        <p:nvSpPr>
          <p:cNvPr id="38" name="Shape 36"/>
          <p:cNvSpPr/>
          <p:nvPr/>
        </p:nvSpPr>
        <p:spPr>
          <a:xfrm>
            <a:off x="6400800" y="2868930"/>
            <a:ext cx="182880" cy="0"/>
          </a:xfrm>
          <a:prstGeom prst="line">
            <a:avLst/>
          </a:prstGeom>
          <a:noFill/>
          <a:ln w="19050">
            <a:solidFill>
              <a:srgbClr val="FFFFFF"/>
            </a:solidFill>
            <a:prstDash val="solid"/>
          </a:ln>
        </p:spPr>
      </p:sp>
      <p:sp>
        <p:nvSpPr>
          <p:cNvPr id="39" name="Text 37"/>
          <p:cNvSpPr/>
          <p:nvPr/>
        </p:nvSpPr>
        <p:spPr>
          <a:xfrm>
            <a:off x="6675120" y="3234690"/>
            <a:ext cx="1828800" cy="274320"/>
          </a:xfrm>
          <a:prstGeom prst="rect">
            <a:avLst/>
          </a:prstGeom>
          <a:noFill/>
          <a:ln/>
        </p:spPr>
        <p:txBody>
          <a:bodyPr wrap="square" lIns="0" tIns="0" rIns="0" bIns="0" rtlCol="0" anchor="ctr"/>
          <a:lstStyle/>
          <a:p>
            <a:pPr algn="ctr"/>
            <a:r>
              <a:rPr lang="en-US" sz="900" dirty="0">
                <a:solidFill>
                  <a:srgbClr val="AACCE8"/>
                </a:solidFill>
                <a:latin typeface="Calibri" pitchFamily="34" charset="0"/>
                <a:ea typeface="Calibri" pitchFamily="34" charset="-122"/>
                <a:cs typeface="Calibri" pitchFamily="34" charset="-120"/>
              </a:rPr>
              <a:t>f HSE</a:t>
            </a:r>
            <a:endParaRPr lang="en-US" sz="900" dirty="0"/>
          </a:p>
        </p:txBody>
      </p:sp>
      <p:sp>
        <p:nvSpPr>
          <p:cNvPr id="40" name="Shape 38"/>
          <p:cNvSpPr/>
          <p:nvPr/>
        </p:nvSpPr>
        <p:spPr>
          <a:xfrm>
            <a:off x="7589520" y="3463290"/>
            <a:ext cx="0" cy="274320"/>
          </a:xfrm>
          <a:prstGeom prst="line">
            <a:avLst/>
          </a:prstGeom>
          <a:noFill/>
          <a:ln w="25400">
            <a:solidFill>
              <a:srgbClr val="00A3E0"/>
            </a:solidFill>
            <a:prstDash val="solid"/>
          </a:ln>
        </p:spPr>
      </p:sp>
      <p:sp>
        <p:nvSpPr>
          <p:cNvPr id="41" name="Shape 39"/>
          <p:cNvSpPr/>
          <p:nvPr/>
        </p:nvSpPr>
        <p:spPr>
          <a:xfrm>
            <a:off x="6858000" y="3783330"/>
            <a:ext cx="1463040" cy="365760"/>
          </a:xfrm>
          <a:prstGeom prst="roundRect">
            <a:avLst>
              <a:gd name="adj" fmla="val 12500"/>
            </a:avLst>
          </a:prstGeom>
          <a:solidFill>
            <a:srgbClr val="0080C8"/>
          </a:solidFill>
          <a:ln w="12700">
            <a:solidFill>
              <a:srgbClr val="0080C8"/>
            </a:solidFill>
            <a:prstDash val="solid"/>
          </a:ln>
        </p:spPr>
      </p:sp>
      <p:sp>
        <p:nvSpPr>
          <p:cNvPr id="42" name="Text 40"/>
          <p:cNvSpPr/>
          <p:nvPr/>
        </p:nvSpPr>
        <p:spPr>
          <a:xfrm>
            <a:off x="6858000" y="3783330"/>
            <a:ext cx="1463040" cy="365760"/>
          </a:xfrm>
          <a:prstGeom prst="rect">
            <a:avLst/>
          </a:prstGeom>
          <a:noFill/>
          <a:ln/>
        </p:spPr>
        <p:txBody>
          <a:bodyPr wrap="square" lIns="0" tIns="0" rIns="0" bIns="0" rtlCol="0" anchor="ctr"/>
          <a:lstStyle/>
          <a:p>
            <a:pPr algn="ctr"/>
            <a:r>
              <a:rPr lang="en-US" sz="900" dirty="0">
                <a:solidFill>
                  <a:srgbClr val="FFFFFF"/>
                </a:solidFill>
                <a:latin typeface="Calibri" pitchFamily="34" charset="0"/>
                <a:ea typeface="Calibri" pitchFamily="34" charset="-122"/>
                <a:cs typeface="Calibri" pitchFamily="34" charset="-120"/>
              </a:rPr>
              <a:t>→ PLL / SYSCLK</a:t>
            </a:r>
            <a:endParaRPr lang="en-US" sz="900" dirty="0"/>
          </a:p>
        </p:txBody>
      </p:sp>
      <p:sp>
        <p:nvSpPr>
          <p:cNvPr id="43" name="Text 41"/>
          <p:cNvSpPr/>
          <p:nvPr/>
        </p:nvSpPr>
        <p:spPr>
          <a:xfrm>
            <a:off x="4754880" y="4331970"/>
            <a:ext cx="4114800" cy="274320"/>
          </a:xfrm>
          <a:prstGeom prst="rect">
            <a:avLst/>
          </a:prstGeom>
          <a:noFill/>
          <a:ln/>
        </p:spPr>
        <p:txBody>
          <a:bodyPr wrap="square" lIns="0" tIns="0" rIns="0" bIns="0" rtlCol="0" anchor="ctr"/>
          <a:lstStyle/>
          <a:p>
            <a:pPr algn="ctr"/>
            <a:r>
              <a:rPr lang="en-US" sz="1000" i="1" dirty="0">
                <a:solidFill>
                  <a:srgbClr val="4A5568"/>
                </a:solidFill>
                <a:latin typeface="Calibri" pitchFamily="34" charset="0"/>
                <a:ea typeface="Calibri" pitchFamily="34" charset="-122"/>
                <a:cs typeface="Calibri" pitchFamily="34" charset="-120"/>
              </a:rPr>
              <a:t>Typical HSE: 8 MHz or 25 MHz crystal</a:t>
            </a:r>
            <a:endParaRPr lang="en-US" sz="1000" dirty="0"/>
          </a:p>
        </p:txBody>
      </p:sp>
      <p:sp>
        <p:nvSpPr>
          <p:cNvPr id="44" name="Shape 42"/>
          <p:cNvSpPr/>
          <p:nvPr/>
        </p:nvSpPr>
        <p:spPr>
          <a:xfrm>
            <a:off x="4754880" y="4697730"/>
            <a:ext cx="4114800" cy="1005840"/>
          </a:xfrm>
          <a:prstGeom prst="roundRect">
            <a:avLst>
              <a:gd name="adj" fmla="val 6364"/>
            </a:avLst>
          </a:prstGeom>
          <a:solidFill>
            <a:srgbClr val="F0FBF4"/>
          </a:solidFill>
          <a:ln w="12700">
            <a:solidFill>
              <a:srgbClr val="0D7A5C"/>
            </a:solidFill>
            <a:prstDash val="solid"/>
          </a:ln>
        </p:spPr>
      </p:sp>
      <p:sp>
        <p:nvSpPr>
          <p:cNvPr id="45" name="Text 43"/>
          <p:cNvSpPr/>
          <p:nvPr/>
        </p:nvSpPr>
        <p:spPr>
          <a:xfrm>
            <a:off x="4892040" y="4789170"/>
            <a:ext cx="3840480" cy="822960"/>
          </a:xfrm>
          <a:prstGeom prst="rect">
            <a:avLst/>
          </a:prstGeom>
          <a:noFill/>
          <a:ln/>
        </p:spPr>
        <p:txBody>
          <a:bodyPr wrap="square" rtlCol="0" anchor="t"/>
          <a:lstStyle/>
          <a:p>
            <a:r>
              <a:rPr lang="en-US" sz="1100" b="1" dirty="0">
                <a:solidFill>
                  <a:srgbClr val="0D7A5C"/>
                </a:solidFill>
                <a:latin typeface="Calibri" pitchFamily="34" charset="0"/>
                <a:ea typeface="Calibri" pitchFamily="34" charset="-122"/>
                <a:cs typeface="Calibri" pitchFamily="34" charset="-120"/>
              </a:rPr>
              <a:t>⚡ Startup Tip: </a:t>
            </a:r>
            <a:r>
              <a:rPr lang="en-US" sz="1100" dirty="0">
                <a:solidFill>
                  <a:srgbClr val="1A1A2E"/>
                </a:solidFill>
                <a:latin typeface="Calibri" pitchFamily="34" charset="0"/>
                <a:ea typeface="Calibri" pitchFamily="34" charset="-122"/>
                <a:cs typeface="Calibri" pitchFamily="34" charset="-120"/>
              </a:rPr>
              <a:t>Always poll HSERDY before selecting HSE as the clock source. HSE takes 1–10 ms to stabilize depending on crystal quality. If you switch to HSE before it is ready, the MCU will run from an unstable clock and may crash or enter a HardFault.</a:t>
            </a:r>
            <a:endParaRPr lang="en-US" sz="1100" dirty="0"/>
          </a:p>
        </p:txBody>
      </p:sp>
    </p:spTree>
    <p:extLst>
      <p:ext uri="{BB962C8B-B14F-4D97-AF65-F5344CB8AC3E}">
        <p14:creationId xmlns:p14="http://schemas.microsoft.com/office/powerpoint/2010/main" val="676570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94360"/>
          </a:xfrm>
          <a:prstGeom prst="rect">
            <a:avLst/>
          </a:prstGeom>
          <a:solidFill>
            <a:srgbClr val="0080C8"/>
          </a:solidFill>
          <a:ln w="12700">
            <a:solidFill>
              <a:srgbClr val="0080C8"/>
            </a:solidFill>
            <a:prstDash val="solid"/>
          </a:ln>
        </p:spPr>
      </p:sp>
      <p:sp>
        <p:nvSpPr>
          <p:cNvPr id="3" name="Text 1"/>
          <p:cNvSpPr/>
          <p:nvPr/>
        </p:nvSpPr>
        <p:spPr>
          <a:xfrm>
            <a:off x="365760" y="857250"/>
            <a:ext cx="8412480" cy="594360"/>
          </a:xfrm>
          <a:prstGeom prst="rect">
            <a:avLst/>
          </a:prstGeom>
          <a:noFill/>
          <a:ln/>
        </p:spPr>
        <p:txBody>
          <a:bodyPr wrap="square" lIns="0" tIns="0" rIns="0" bIns="0" rtlCol="0" anchor="ctr"/>
          <a:lstStyle/>
          <a:p>
            <a:r>
              <a:rPr lang="en-US" sz="2000" b="1" dirty="0">
                <a:solidFill>
                  <a:srgbClr val="FFFFFF"/>
                </a:solidFill>
                <a:latin typeface="Cambria" pitchFamily="34" charset="0"/>
                <a:ea typeface="Cambria" pitchFamily="34" charset="-122"/>
                <a:cs typeface="Cambria" pitchFamily="34" charset="-120"/>
              </a:rPr>
              <a:t>HSI — High Speed Internal Clock</a:t>
            </a:r>
            <a:endParaRPr lang="en-US" sz="2000" dirty="0"/>
          </a:p>
        </p:txBody>
      </p:sp>
      <p:sp>
        <p:nvSpPr>
          <p:cNvPr id="4" name="Text 2"/>
          <p:cNvSpPr/>
          <p:nvPr/>
        </p:nvSpPr>
        <p:spPr>
          <a:xfrm>
            <a:off x="365760" y="1588770"/>
            <a:ext cx="4206240" cy="320040"/>
          </a:xfrm>
          <a:prstGeom prst="rect">
            <a:avLst/>
          </a:prstGeom>
          <a:noFill/>
          <a:ln/>
        </p:spPr>
        <p:txBody>
          <a:bodyPr wrap="square" lIns="0" tIns="0" rIns="0" bIns="0" rtlCol="0" anchor="ctr"/>
          <a:lstStyle/>
          <a:p>
            <a:r>
              <a:rPr lang="en-US" sz="1400" b="1" dirty="0">
                <a:solidFill>
                  <a:srgbClr val="1A3A5C"/>
                </a:solidFill>
                <a:latin typeface="Cambria" pitchFamily="34" charset="0"/>
                <a:ea typeface="Cambria" pitchFamily="34" charset="-122"/>
                <a:cs typeface="Cambria" pitchFamily="34" charset="-120"/>
              </a:rPr>
              <a:t>What Is HSI?</a:t>
            </a:r>
            <a:endParaRPr lang="en-US" sz="1400" dirty="0"/>
          </a:p>
        </p:txBody>
      </p:sp>
      <p:sp>
        <p:nvSpPr>
          <p:cNvPr id="5" name="Text 3"/>
          <p:cNvSpPr/>
          <p:nvPr/>
        </p:nvSpPr>
        <p:spPr>
          <a:xfrm>
            <a:off x="365760" y="1954530"/>
            <a:ext cx="4206240" cy="2743200"/>
          </a:xfrm>
          <a:prstGeom prst="rect">
            <a:avLst/>
          </a:prstGeom>
          <a:noFill/>
          <a:ln/>
        </p:spPr>
        <p:txBody>
          <a:bodyPr wrap="square" rtlCol="0" anchor="t"/>
          <a:lstStyle/>
          <a:p>
            <a:pPr>
              <a:spcAft>
                <a:spcPts val="600"/>
              </a:spcAft>
            </a:pPr>
            <a:r>
              <a:rPr lang="en-US" sz="1200" dirty="0">
                <a:solidFill>
                  <a:srgbClr val="1A1A2E"/>
                </a:solidFill>
                <a:latin typeface="Calibri" pitchFamily="34" charset="0"/>
                <a:ea typeface="Calibri" pitchFamily="34" charset="-122"/>
                <a:cs typeface="Calibri" pitchFamily="34" charset="-120"/>
              </a:rPr>
              <a:t>HSI is a built-in RC (resistor-capacitor) oscillator running at a fixed 64 MHz on the STM32H7. No external components are required.</a:t>
            </a:r>
            <a:endParaRPr lang="en-US" sz="1200" dirty="0"/>
          </a:p>
          <a:p>
            <a:pPr>
              <a:spcAft>
                <a:spcPts val="600"/>
              </a:spcAft>
            </a:pPr>
            <a:r>
              <a:rPr lang="en-US" sz="1200" dirty="0">
                <a:solidFill>
                  <a:srgbClr val="1A1A2E"/>
                </a:solidFill>
                <a:latin typeface="Calibri" pitchFamily="34" charset="0"/>
                <a:ea typeface="Calibri" pitchFamily="34" charset="-122"/>
                <a:cs typeface="Calibri" pitchFamily="34" charset="-120"/>
              </a:rPr>
              <a:t>It is the default clock source after reset — the MCU always starts on HSI, even before any firmware code runs.</a:t>
            </a:r>
            <a:endParaRPr lang="en-US" sz="1200" dirty="0"/>
          </a:p>
          <a:p>
            <a:pPr>
              <a:spcAft>
                <a:spcPts val="600"/>
              </a:spcAft>
            </a:pPr>
            <a:r>
              <a:rPr lang="en-US" sz="1200" dirty="0">
                <a:solidFill>
                  <a:srgbClr val="1A1A2E"/>
                </a:solidFill>
                <a:latin typeface="Calibri" pitchFamily="34" charset="0"/>
                <a:ea typeface="Calibri" pitchFamily="34" charset="-122"/>
                <a:cs typeface="Calibri" pitchFamily="34" charset="-120"/>
              </a:rPr>
              <a:t>Accuracy: ±1% at room temperature after factory calibration. Trimming is available through the HSITRIM field in RCC_ICSCR1 for improved accuracy.</a:t>
            </a:r>
            <a:endParaRPr lang="en-US" sz="1200" dirty="0"/>
          </a:p>
          <a:p>
            <a:pPr>
              <a:spcAft>
                <a:spcPts val="600"/>
              </a:spcAft>
            </a:pPr>
            <a:r>
              <a:rPr lang="en-US" sz="1200" dirty="0">
                <a:solidFill>
                  <a:srgbClr val="1A1A2E"/>
                </a:solidFill>
                <a:latin typeface="Calibri" pitchFamily="34" charset="0"/>
                <a:ea typeface="Calibri" pitchFamily="34" charset="-122"/>
                <a:cs typeface="Calibri" pitchFamily="34" charset="-120"/>
              </a:rPr>
              <a:t>Drawback: RC oscillators drift with temperature and supply voltage. HSI is not suitable for USB or Ethernet without an external reference.</a:t>
            </a:r>
            <a:endParaRPr lang="en-US" sz="1200" dirty="0"/>
          </a:p>
          <a:p>
            <a:pPr>
              <a:spcAft>
                <a:spcPts val="600"/>
              </a:spcAft>
            </a:pPr>
            <a:r>
              <a:rPr lang="en-US" sz="1200" dirty="0">
                <a:solidFill>
                  <a:srgbClr val="1A1A2E"/>
                </a:solidFill>
                <a:latin typeface="Calibri" pitchFamily="34" charset="0"/>
                <a:ea typeface="Calibri" pitchFamily="34" charset="-122"/>
                <a:cs typeface="Calibri" pitchFamily="34" charset="-120"/>
              </a:rPr>
              <a:t>Use case: Bootloaders, early initialization, low-cost designs without a crystal, or as a fallback if HSE fails.</a:t>
            </a:r>
            <a:endParaRPr lang="en-US" sz="1200" dirty="0"/>
          </a:p>
        </p:txBody>
      </p:sp>
      <p:sp>
        <p:nvSpPr>
          <p:cNvPr id="6" name="Text 4"/>
          <p:cNvSpPr/>
          <p:nvPr/>
        </p:nvSpPr>
        <p:spPr>
          <a:xfrm>
            <a:off x="365760" y="4743450"/>
            <a:ext cx="4206240" cy="274320"/>
          </a:xfrm>
          <a:prstGeom prst="rect">
            <a:avLst/>
          </a:prstGeom>
          <a:noFill/>
          <a:ln/>
        </p:spPr>
        <p:txBody>
          <a:bodyPr wrap="square" lIns="0" tIns="0" rIns="0" bIns="0" rtlCol="0" anchor="ctr"/>
          <a:lstStyle/>
          <a:p>
            <a:r>
              <a:rPr lang="en-US" sz="1200" b="1" dirty="0">
                <a:solidFill>
                  <a:srgbClr val="1A3A5C"/>
                </a:solidFill>
                <a:latin typeface="Cambria" pitchFamily="34" charset="0"/>
                <a:ea typeface="Cambria" pitchFamily="34" charset="-122"/>
                <a:cs typeface="Cambria" pitchFamily="34" charset="-120"/>
              </a:rPr>
              <a:t>HSE vs HSI at a Glance</a:t>
            </a:r>
            <a:endParaRPr lang="en-US" sz="1200" dirty="0"/>
          </a:p>
        </p:txBody>
      </p:sp>
      <p:graphicFrame>
        <p:nvGraphicFramePr>
          <p:cNvPr id="7" name="Table 0"/>
          <p:cNvGraphicFramePr>
            <a:graphicFrameLocks noGrp="1"/>
          </p:cNvGraphicFramePr>
          <p:nvPr>
            <p:extLst/>
          </p:nvPr>
        </p:nvGraphicFramePr>
        <p:xfrm>
          <a:off x="365760" y="5063490"/>
          <a:ext cx="4206240" cy="868680"/>
        </p:xfrm>
        <a:graphic>
          <a:graphicData uri="http://schemas.openxmlformats.org/drawingml/2006/table">
            <a:tbl>
              <a:tblPr/>
              <a:tblGrid>
                <a:gridCol w="11887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173736">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Property</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HSE</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3A5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HSI</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173736">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Frequency</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4–48 MHz</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64 MHz</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1"/>
                  </a:ext>
                </a:extLst>
              </a:tr>
              <a:tr h="173736">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Accuracy</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±10–30 ppm</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±1% (±10,000 ppm)</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2"/>
                  </a:ext>
                </a:extLst>
              </a:tr>
              <a:tr h="173736">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Components</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Crystal+caps</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3"/>
                  </a:ext>
                </a:extLst>
              </a:tr>
              <a:tr h="173736">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USB capable</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 (via PLL)</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 (drift too high)</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5"/>
          <p:cNvSpPr/>
          <p:nvPr/>
        </p:nvSpPr>
        <p:spPr>
          <a:xfrm>
            <a:off x="4846320" y="1634490"/>
            <a:ext cx="3931920" cy="4069080"/>
          </a:xfrm>
          <a:prstGeom prst="roundRect">
            <a:avLst>
              <a:gd name="adj" fmla="val 2791"/>
            </a:avLst>
          </a:prstGeom>
          <a:solidFill>
            <a:srgbClr val="E8F4FB"/>
          </a:solidFill>
          <a:ln w="12700">
            <a:solidFill>
              <a:srgbClr val="0080C8"/>
            </a:solidFill>
            <a:prstDash val="solid"/>
          </a:ln>
          <a:effectLst>
            <a:outerShdw blurRad="101600" dist="25400" dir="2700000" algn="bl" rotWithShape="0">
              <a:srgbClr val="000000">
                <a:alpha val="10000"/>
              </a:srgbClr>
            </a:outerShdw>
          </a:effectLst>
        </p:spPr>
      </p:sp>
      <p:sp>
        <p:nvSpPr>
          <p:cNvPr id="9" name="Text 6"/>
          <p:cNvSpPr/>
          <p:nvPr/>
        </p:nvSpPr>
        <p:spPr>
          <a:xfrm>
            <a:off x="5029200" y="1680210"/>
            <a:ext cx="3566160" cy="320040"/>
          </a:xfrm>
          <a:prstGeom prst="rect">
            <a:avLst/>
          </a:prstGeom>
          <a:noFill/>
          <a:ln/>
        </p:spPr>
        <p:txBody>
          <a:bodyPr wrap="square" lIns="0" tIns="0" rIns="0" bIns="0" rtlCol="0" anchor="ctr"/>
          <a:lstStyle/>
          <a:p>
            <a:pPr algn="ctr"/>
            <a:r>
              <a:rPr lang="en-US" sz="1000" b="1" dirty="0">
                <a:solidFill>
                  <a:srgbClr val="1A3A5C"/>
                </a:solidFill>
                <a:latin typeface="Calibri" pitchFamily="34" charset="0"/>
                <a:ea typeface="Calibri" pitchFamily="34" charset="-122"/>
                <a:cs typeface="Calibri" pitchFamily="34" charset="-120"/>
              </a:rPr>
              <a:t>STM32H7 MCU (Internal View)</a:t>
            </a:r>
            <a:endParaRPr lang="en-US" sz="1000" dirty="0"/>
          </a:p>
        </p:txBody>
      </p:sp>
      <p:sp>
        <p:nvSpPr>
          <p:cNvPr id="10" name="Shape 7"/>
          <p:cNvSpPr/>
          <p:nvPr/>
        </p:nvSpPr>
        <p:spPr>
          <a:xfrm>
            <a:off x="5212080" y="2091690"/>
            <a:ext cx="1645920" cy="594360"/>
          </a:xfrm>
          <a:prstGeom prst="roundRect">
            <a:avLst>
              <a:gd name="adj" fmla="val 10769"/>
            </a:avLst>
          </a:prstGeom>
          <a:solidFill>
            <a:srgbClr val="0080C8"/>
          </a:solidFill>
          <a:ln w="12700">
            <a:solidFill>
              <a:srgbClr val="0080C8"/>
            </a:solidFill>
            <a:prstDash val="solid"/>
          </a:ln>
        </p:spPr>
      </p:sp>
      <p:sp>
        <p:nvSpPr>
          <p:cNvPr id="11" name="Text 8"/>
          <p:cNvSpPr/>
          <p:nvPr/>
        </p:nvSpPr>
        <p:spPr>
          <a:xfrm>
            <a:off x="5212080" y="2091690"/>
            <a:ext cx="164592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HSI</a:t>
            </a:r>
            <a:endParaRPr lang="en-US" sz="1000" dirty="0"/>
          </a:p>
          <a:p>
            <a:pPr algn="ctr"/>
            <a:r>
              <a:rPr lang="en-US" sz="1000" b="1" dirty="0">
                <a:solidFill>
                  <a:srgbClr val="FFFFFF"/>
                </a:solidFill>
                <a:latin typeface="Calibri" pitchFamily="34" charset="0"/>
                <a:ea typeface="Calibri" pitchFamily="34" charset="-122"/>
                <a:cs typeface="Calibri" pitchFamily="34" charset="-120"/>
              </a:rPr>
              <a:t>64 MHz RC</a:t>
            </a:r>
            <a:endParaRPr lang="en-US" sz="1000" dirty="0"/>
          </a:p>
        </p:txBody>
      </p:sp>
      <p:sp>
        <p:nvSpPr>
          <p:cNvPr id="12" name="Shape 9"/>
          <p:cNvSpPr/>
          <p:nvPr/>
        </p:nvSpPr>
        <p:spPr>
          <a:xfrm>
            <a:off x="7040880" y="2091690"/>
            <a:ext cx="1463040" cy="594360"/>
          </a:xfrm>
          <a:prstGeom prst="roundRect">
            <a:avLst>
              <a:gd name="adj" fmla="val 10769"/>
            </a:avLst>
          </a:prstGeom>
          <a:solidFill>
            <a:srgbClr val="4A5568"/>
          </a:solidFill>
          <a:ln w="12700">
            <a:solidFill>
              <a:srgbClr val="4A5568"/>
            </a:solidFill>
            <a:prstDash val="solid"/>
          </a:ln>
        </p:spPr>
      </p:sp>
      <p:sp>
        <p:nvSpPr>
          <p:cNvPr id="13" name="Text 10"/>
          <p:cNvSpPr/>
          <p:nvPr/>
        </p:nvSpPr>
        <p:spPr>
          <a:xfrm>
            <a:off x="7040880" y="2091690"/>
            <a:ext cx="146304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CSI</a:t>
            </a:r>
            <a:endParaRPr lang="en-US" sz="1000" dirty="0"/>
          </a:p>
          <a:p>
            <a:pPr algn="ctr"/>
            <a:r>
              <a:rPr lang="en-US" sz="1000" b="1" dirty="0">
                <a:solidFill>
                  <a:srgbClr val="FFFFFF"/>
                </a:solidFill>
                <a:latin typeface="Calibri" pitchFamily="34" charset="0"/>
                <a:ea typeface="Calibri" pitchFamily="34" charset="-122"/>
                <a:cs typeface="Calibri" pitchFamily="34" charset="-120"/>
              </a:rPr>
              <a:t>4 MHz RC</a:t>
            </a:r>
            <a:endParaRPr lang="en-US" sz="1000" dirty="0"/>
          </a:p>
        </p:txBody>
      </p:sp>
      <p:sp>
        <p:nvSpPr>
          <p:cNvPr id="14" name="Shape 11"/>
          <p:cNvSpPr/>
          <p:nvPr/>
        </p:nvSpPr>
        <p:spPr>
          <a:xfrm>
            <a:off x="6035040" y="2686050"/>
            <a:ext cx="0" cy="411480"/>
          </a:xfrm>
          <a:prstGeom prst="line">
            <a:avLst/>
          </a:prstGeom>
          <a:noFill/>
          <a:ln w="25400">
            <a:solidFill>
              <a:srgbClr val="0080C8"/>
            </a:solidFill>
            <a:prstDash val="solid"/>
          </a:ln>
        </p:spPr>
      </p:sp>
      <p:sp>
        <p:nvSpPr>
          <p:cNvPr id="15" name="Shape 12"/>
          <p:cNvSpPr/>
          <p:nvPr/>
        </p:nvSpPr>
        <p:spPr>
          <a:xfrm>
            <a:off x="7772400" y="2686050"/>
            <a:ext cx="0" cy="411480"/>
          </a:xfrm>
          <a:prstGeom prst="line">
            <a:avLst/>
          </a:prstGeom>
          <a:noFill/>
          <a:ln w="25400">
            <a:solidFill>
              <a:srgbClr val="4A5568"/>
            </a:solidFill>
            <a:prstDash val="solid"/>
          </a:ln>
        </p:spPr>
      </p:sp>
      <p:sp>
        <p:nvSpPr>
          <p:cNvPr id="16" name="Shape 13"/>
          <p:cNvSpPr/>
          <p:nvPr/>
        </p:nvSpPr>
        <p:spPr>
          <a:xfrm>
            <a:off x="5303520" y="3097530"/>
            <a:ext cx="3474720" cy="502920"/>
          </a:xfrm>
          <a:prstGeom prst="roundRect">
            <a:avLst>
              <a:gd name="adj" fmla="val 12727"/>
            </a:avLst>
          </a:prstGeom>
          <a:solidFill>
            <a:srgbClr val="1A3A5C"/>
          </a:solidFill>
          <a:ln w="12700">
            <a:solidFill>
              <a:srgbClr val="1A3A5C"/>
            </a:solidFill>
            <a:prstDash val="solid"/>
          </a:ln>
        </p:spPr>
      </p:sp>
      <p:sp>
        <p:nvSpPr>
          <p:cNvPr id="17" name="Text 14"/>
          <p:cNvSpPr/>
          <p:nvPr/>
        </p:nvSpPr>
        <p:spPr>
          <a:xfrm>
            <a:off x="5303520" y="3097530"/>
            <a:ext cx="3474720" cy="50292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SYSCLK Mux (SW bits)</a:t>
            </a:r>
            <a:endParaRPr lang="en-US" sz="1000" dirty="0"/>
          </a:p>
        </p:txBody>
      </p:sp>
      <p:sp>
        <p:nvSpPr>
          <p:cNvPr id="18" name="Shape 15"/>
          <p:cNvSpPr/>
          <p:nvPr/>
        </p:nvSpPr>
        <p:spPr>
          <a:xfrm>
            <a:off x="7040880" y="3600450"/>
            <a:ext cx="0" cy="365760"/>
          </a:xfrm>
          <a:prstGeom prst="line">
            <a:avLst/>
          </a:prstGeom>
          <a:noFill/>
          <a:ln w="25400">
            <a:solidFill>
              <a:srgbClr val="1A3A5C"/>
            </a:solidFill>
            <a:prstDash val="solid"/>
          </a:ln>
        </p:spPr>
      </p:sp>
      <p:sp>
        <p:nvSpPr>
          <p:cNvPr id="19" name="Shape 16"/>
          <p:cNvSpPr/>
          <p:nvPr/>
        </p:nvSpPr>
        <p:spPr>
          <a:xfrm>
            <a:off x="5303520" y="3966210"/>
            <a:ext cx="3474720" cy="502920"/>
          </a:xfrm>
          <a:prstGeom prst="roundRect">
            <a:avLst>
              <a:gd name="adj" fmla="val 12727"/>
            </a:avLst>
          </a:prstGeom>
          <a:solidFill>
            <a:srgbClr val="0D7A5C"/>
          </a:solidFill>
          <a:ln w="12700">
            <a:solidFill>
              <a:srgbClr val="0D7A5C"/>
            </a:solidFill>
            <a:prstDash val="solid"/>
          </a:ln>
        </p:spPr>
      </p:sp>
      <p:sp>
        <p:nvSpPr>
          <p:cNvPr id="20" name="Text 17"/>
          <p:cNvSpPr/>
          <p:nvPr/>
        </p:nvSpPr>
        <p:spPr>
          <a:xfrm>
            <a:off x="5303520" y="3966210"/>
            <a:ext cx="3474720" cy="50292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SYSCLK → CPU Core</a:t>
            </a:r>
            <a:endParaRPr lang="en-US" sz="1000" dirty="0"/>
          </a:p>
        </p:txBody>
      </p:sp>
      <p:sp>
        <p:nvSpPr>
          <p:cNvPr id="21" name="Text 18"/>
          <p:cNvSpPr/>
          <p:nvPr/>
        </p:nvSpPr>
        <p:spPr>
          <a:xfrm>
            <a:off x="5303520" y="2777490"/>
            <a:ext cx="1371600" cy="228600"/>
          </a:xfrm>
          <a:prstGeom prst="rect">
            <a:avLst/>
          </a:prstGeom>
          <a:noFill/>
          <a:ln/>
        </p:spPr>
        <p:txBody>
          <a:bodyPr wrap="square" lIns="0" tIns="0" rIns="0" bIns="0" rtlCol="0" anchor="ctr"/>
          <a:lstStyle/>
          <a:p>
            <a:r>
              <a:rPr lang="en-US" sz="800" i="1" dirty="0">
                <a:solidFill>
                  <a:srgbClr val="0080C8"/>
                </a:solidFill>
                <a:latin typeface="Calibri" pitchFamily="34" charset="0"/>
                <a:ea typeface="Calibri" pitchFamily="34" charset="-122"/>
                <a:cs typeface="Calibri" pitchFamily="34" charset="-120"/>
              </a:rPr>
              <a:t>Reset default path</a:t>
            </a:r>
            <a:endParaRPr lang="en-US" sz="800" dirty="0"/>
          </a:p>
        </p:txBody>
      </p:sp>
      <p:sp>
        <p:nvSpPr>
          <p:cNvPr id="22" name="Shape 19"/>
          <p:cNvSpPr/>
          <p:nvPr/>
        </p:nvSpPr>
        <p:spPr>
          <a:xfrm>
            <a:off x="5029200" y="4560570"/>
            <a:ext cx="3566160" cy="1005840"/>
          </a:xfrm>
          <a:prstGeom prst="roundRect">
            <a:avLst>
              <a:gd name="adj" fmla="val 6364"/>
            </a:avLst>
          </a:prstGeom>
          <a:solidFill>
            <a:srgbClr val="FFFBF0"/>
          </a:solidFill>
          <a:ln w="12700">
            <a:solidFill>
              <a:srgbClr val="D4660A"/>
            </a:solidFill>
            <a:prstDash val="solid"/>
          </a:ln>
        </p:spPr>
      </p:sp>
      <p:sp>
        <p:nvSpPr>
          <p:cNvPr id="23" name="Text 20"/>
          <p:cNvSpPr/>
          <p:nvPr/>
        </p:nvSpPr>
        <p:spPr>
          <a:xfrm>
            <a:off x="5166360" y="4652010"/>
            <a:ext cx="3337560" cy="822960"/>
          </a:xfrm>
          <a:prstGeom prst="rect">
            <a:avLst/>
          </a:prstGeom>
          <a:noFill/>
          <a:ln/>
        </p:spPr>
        <p:txBody>
          <a:bodyPr wrap="square" rtlCol="0" anchor="t"/>
          <a:lstStyle/>
          <a:p>
            <a:r>
              <a:rPr lang="en-US" sz="1050" b="1" dirty="0">
                <a:solidFill>
                  <a:srgbClr val="D4660A"/>
                </a:solidFill>
                <a:latin typeface="Calibri" pitchFamily="34" charset="0"/>
                <a:ea typeface="Calibri" pitchFamily="34" charset="-122"/>
                <a:cs typeface="Calibri" pitchFamily="34" charset="-120"/>
              </a:rPr>
              <a:t>⚠ Calibration Note: </a:t>
            </a:r>
            <a:r>
              <a:rPr lang="en-US" sz="1050" dirty="0">
                <a:solidFill>
                  <a:srgbClr val="1A1A2E"/>
                </a:solidFill>
                <a:latin typeface="Calibri" pitchFamily="34" charset="0"/>
                <a:ea typeface="Calibri" pitchFamily="34" charset="-122"/>
                <a:cs typeface="Calibri" pitchFamily="34" charset="-120"/>
              </a:rPr>
              <a:t>The HSI factory-calibrated value is stored in the HSICAL field. Adjust HSITRIM (5-bit field) to shift the frequency ±64 steps of ~40 kHz each, giving fine-tuning capability of about ±2.56 MHz around 64 MHz.</a:t>
            </a:r>
            <a:endParaRPr lang="en-US" sz="1050" dirty="0"/>
          </a:p>
        </p:txBody>
      </p:sp>
    </p:spTree>
    <p:extLst>
      <p:ext uri="{BB962C8B-B14F-4D97-AF65-F5344CB8AC3E}">
        <p14:creationId xmlns:p14="http://schemas.microsoft.com/office/powerpoint/2010/main" val="4191736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94360"/>
          </a:xfrm>
          <a:prstGeom prst="rect">
            <a:avLst/>
          </a:prstGeom>
          <a:solidFill>
            <a:srgbClr val="D4660A"/>
          </a:solidFill>
          <a:ln w="12700">
            <a:solidFill>
              <a:srgbClr val="D4660A"/>
            </a:solidFill>
            <a:prstDash val="solid"/>
          </a:ln>
        </p:spPr>
      </p:sp>
      <p:sp>
        <p:nvSpPr>
          <p:cNvPr id="3" name="Text 1"/>
          <p:cNvSpPr/>
          <p:nvPr/>
        </p:nvSpPr>
        <p:spPr>
          <a:xfrm>
            <a:off x="365760" y="857250"/>
            <a:ext cx="8412480" cy="594360"/>
          </a:xfrm>
          <a:prstGeom prst="rect">
            <a:avLst/>
          </a:prstGeom>
          <a:noFill/>
          <a:ln/>
        </p:spPr>
        <p:txBody>
          <a:bodyPr wrap="square" lIns="0" tIns="0" rIns="0" bIns="0" rtlCol="0" anchor="ctr"/>
          <a:lstStyle/>
          <a:p>
            <a:r>
              <a:rPr lang="en-US" sz="2000" b="1" dirty="0">
                <a:solidFill>
                  <a:srgbClr val="FFFFFF"/>
                </a:solidFill>
                <a:latin typeface="Cambria" pitchFamily="34" charset="0"/>
                <a:ea typeface="Cambria" pitchFamily="34" charset="-122"/>
                <a:cs typeface="Cambria" pitchFamily="34" charset="-120"/>
              </a:rPr>
              <a:t>PLL — Phase Locked Loop (Frequency Multiplier)</a:t>
            </a:r>
            <a:endParaRPr lang="en-US" sz="2000" dirty="0"/>
          </a:p>
        </p:txBody>
      </p:sp>
      <p:sp>
        <p:nvSpPr>
          <p:cNvPr id="4" name="Text 2"/>
          <p:cNvSpPr/>
          <p:nvPr/>
        </p:nvSpPr>
        <p:spPr>
          <a:xfrm>
            <a:off x="365760" y="1588770"/>
            <a:ext cx="4114800" cy="320040"/>
          </a:xfrm>
          <a:prstGeom prst="rect">
            <a:avLst/>
          </a:prstGeom>
          <a:noFill/>
          <a:ln/>
        </p:spPr>
        <p:txBody>
          <a:bodyPr wrap="square" lIns="0" tIns="0" rIns="0" bIns="0" rtlCol="0" anchor="ctr"/>
          <a:lstStyle/>
          <a:p>
            <a:r>
              <a:rPr lang="en-US" sz="1400" b="1" dirty="0">
                <a:solidFill>
                  <a:srgbClr val="1A3A5C"/>
                </a:solidFill>
                <a:latin typeface="Cambria" pitchFamily="34" charset="0"/>
                <a:ea typeface="Cambria" pitchFamily="34" charset="-122"/>
                <a:cs typeface="Cambria" pitchFamily="34" charset="-120"/>
              </a:rPr>
              <a:t>How the PLL Works</a:t>
            </a:r>
            <a:endParaRPr lang="en-US" sz="1400" dirty="0"/>
          </a:p>
        </p:txBody>
      </p:sp>
      <p:sp>
        <p:nvSpPr>
          <p:cNvPr id="5" name="Text 3"/>
          <p:cNvSpPr/>
          <p:nvPr/>
        </p:nvSpPr>
        <p:spPr>
          <a:xfrm>
            <a:off x="365760" y="1954530"/>
            <a:ext cx="4114800" cy="3200400"/>
          </a:xfrm>
          <a:prstGeom prst="rect">
            <a:avLst/>
          </a:prstGeom>
          <a:noFill/>
          <a:ln/>
        </p:spPr>
        <p:txBody>
          <a:bodyPr wrap="square" rtlCol="0" anchor="t"/>
          <a:lstStyle/>
          <a:p>
            <a:pPr>
              <a:spcAft>
                <a:spcPts val="500"/>
              </a:spcAft>
            </a:pPr>
            <a:r>
              <a:rPr lang="en-US" sz="1150" dirty="0">
                <a:solidFill>
                  <a:srgbClr val="1A1A2E"/>
                </a:solidFill>
                <a:latin typeface="Calibri" pitchFamily="34" charset="0"/>
                <a:ea typeface="Calibri" pitchFamily="34" charset="-122"/>
                <a:cs typeface="Calibri" pitchFamily="34" charset="-120"/>
              </a:rPr>
              <a:t>A PLL takes a reference clock (HSE or HSI) and multiplies it to a much higher frequency. The STM32H7 has three independent PLLs: PLL1, PLL2, PLL3.</a:t>
            </a:r>
            <a:endParaRPr lang="en-US" sz="1150" dirty="0"/>
          </a:p>
          <a:p>
            <a:pPr>
              <a:spcAft>
                <a:spcPts val="200"/>
              </a:spcAft>
            </a:pPr>
            <a:r>
              <a:rPr lang="en-US" sz="1150" b="1" dirty="0">
                <a:solidFill>
                  <a:srgbClr val="1A1A2E"/>
                </a:solidFill>
                <a:latin typeface="Calibri" pitchFamily="34" charset="0"/>
                <a:ea typeface="Calibri" pitchFamily="34" charset="-122"/>
                <a:cs typeface="Calibri" pitchFamily="34" charset="-120"/>
              </a:rPr>
              <a:t>Each PLL has three stages:</a:t>
            </a:r>
            <a:endParaRPr lang="en-US" sz="1150" dirty="0"/>
          </a:p>
          <a:p>
            <a:pPr marL="0" lvl="1">
              <a:spcAft>
                <a:spcPts val="300"/>
              </a:spcAft>
            </a:pPr>
            <a:r>
              <a:rPr lang="en-US" sz="1150" dirty="0">
                <a:solidFill>
                  <a:srgbClr val="1A1A2E"/>
                </a:solidFill>
                <a:latin typeface="Calibri" pitchFamily="34" charset="0"/>
                <a:ea typeface="Calibri" pitchFamily="34" charset="-122"/>
                <a:cs typeface="Calibri" pitchFamily="34" charset="-120"/>
              </a:rPr>
              <a:t>①  Pre-divider M: divides the input to the PLL VCO input frequency (1–63 MHz range).</a:t>
            </a:r>
            <a:endParaRPr lang="en-US" sz="1150" dirty="0"/>
          </a:p>
          <a:p>
            <a:pPr marL="0" lvl="1">
              <a:spcAft>
                <a:spcPts val="300"/>
              </a:spcAft>
            </a:pPr>
            <a:r>
              <a:rPr lang="en-US" sz="1150" dirty="0">
                <a:solidFill>
                  <a:srgbClr val="1A1A2E"/>
                </a:solidFill>
                <a:latin typeface="Calibri" pitchFamily="34" charset="0"/>
                <a:ea typeface="Calibri" pitchFamily="34" charset="-122"/>
                <a:cs typeface="Calibri" pitchFamily="34" charset="-120"/>
              </a:rPr>
              <a:t>②  Multiplier N: multiplies the VCO input up to 750–1500 MHz (the VCO frequency).</a:t>
            </a:r>
            <a:endParaRPr lang="en-US" sz="1150" dirty="0"/>
          </a:p>
          <a:p>
            <a:pPr marL="0" lvl="1">
              <a:spcAft>
                <a:spcPts val="500"/>
              </a:spcAft>
            </a:pPr>
            <a:r>
              <a:rPr lang="en-US" sz="1150" dirty="0">
                <a:solidFill>
                  <a:srgbClr val="1A1A2E"/>
                </a:solidFill>
                <a:latin typeface="Calibri" pitchFamily="34" charset="0"/>
                <a:ea typeface="Calibri" pitchFamily="34" charset="-122"/>
                <a:cs typeface="Calibri" pitchFamily="34" charset="-120"/>
              </a:rPr>
              <a:t>③  Post-dividers P, Q, R: each divides the VCO output independently to create up to 3 output clocks per PLL.</a:t>
            </a:r>
            <a:endParaRPr lang="en-US" sz="1150" dirty="0"/>
          </a:p>
          <a:p>
            <a:pPr>
              <a:spcAft>
                <a:spcPts val="500"/>
              </a:spcAft>
            </a:pPr>
            <a:r>
              <a:rPr lang="en-US" sz="1150" b="1" dirty="0">
                <a:solidFill>
                  <a:srgbClr val="1A1A2E"/>
                </a:solidFill>
                <a:latin typeface="Calibri" pitchFamily="34" charset="0"/>
                <a:ea typeface="Calibri" pitchFamily="34" charset="-122"/>
                <a:cs typeface="Calibri" pitchFamily="34" charset="-120"/>
              </a:rPr>
              <a:t>Formula:  f_out = f_in / M × N / P (or Q, R)</a:t>
            </a:r>
            <a:endParaRPr lang="en-US" sz="1150" dirty="0"/>
          </a:p>
          <a:p>
            <a:pPr>
              <a:spcAft>
                <a:spcPts val="300"/>
              </a:spcAft>
            </a:pPr>
            <a:r>
              <a:rPr lang="en-US" sz="1150" dirty="0">
                <a:solidFill>
                  <a:srgbClr val="1A1A2E"/>
                </a:solidFill>
                <a:latin typeface="Calibri" pitchFamily="34" charset="0"/>
                <a:ea typeface="Calibri" pitchFamily="34" charset="-122"/>
                <a:cs typeface="Calibri" pitchFamily="34" charset="-120"/>
              </a:rPr>
              <a:t>Example (PLL1 for 480 MHz SYSCLK with 25 MHz HSE):</a:t>
            </a:r>
            <a:endParaRPr lang="en-US" sz="1150" dirty="0"/>
          </a:p>
          <a:p>
            <a:pPr>
              <a:spcAft>
                <a:spcPts val="300"/>
              </a:spcAft>
            </a:pPr>
            <a:r>
              <a:rPr lang="en-US" sz="1150" dirty="0">
                <a:solidFill>
                  <a:srgbClr val="1A1A2E"/>
                </a:solidFill>
                <a:latin typeface="Calibri" pitchFamily="34" charset="0"/>
                <a:ea typeface="Calibri" pitchFamily="34" charset="-122"/>
                <a:cs typeface="Calibri" pitchFamily="34" charset="-120"/>
              </a:rPr>
              <a:t>f_in=25 MHz, M=5 → VCO_in=5 MHz, N=192 → VCO=960 MHz, P=2 → f_out=480 MHz</a:t>
            </a:r>
            <a:endParaRPr lang="en-US" sz="1150" dirty="0"/>
          </a:p>
        </p:txBody>
      </p:sp>
      <p:sp>
        <p:nvSpPr>
          <p:cNvPr id="6" name="Shape 4"/>
          <p:cNvSpPr/>
          <p:nvPr/>
        </p:nvSpPr>
        <p:spPr>
          <a:xfrm>
            <a:off x="4663440" y="2320290"/>
            <a:ext cx="1188720" cy="502920"/>
          </a:xfrm>
          <a:prstGeom prst="roundRect">
            <a:avLst>
              <a:gd name="adj" fmla="val 10909"/>
            </a:avLst>
          </a:prstGeom>
          <a:solidFill>
            <a:srgbClr val="0D7A5C"/>
          </a:solidFill>
          <a:ln w="12700">
            <a:solidFill>
              <a:srgbClr val="0D7A5C"/>
            </a:solidFill>
            <a:prstDash val="solid"/>
          </a:ln>
        </p:spPr>
      </p:sp>
      <p:sp>
        <p:nvSpPr>
          <p:cNvPr id="7" name="Text 5"/>
          <p:cNvSpPr/>
          <p:nvPr/>
        </p:nvSpPr>
        <p:spPr>
          <a:xfrm>
            <a:off x="4663440" y="2320290"/>
            <a:ext cx="1188720" cy="50292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HSE/HSI</a:t>
            </a:r>
            <a:endParaRPr lang="en-US" sz="900" dirty="0"/>
          </a:p>
          <a:p>
            <a:pPr algn="ctr"/>
            <a:r>
              <a:rPr lang="en-US" sz="900" b="1" dirty="0">
                <a:solidFill>
                  <a:srgbClr val="FFFFFF"/>
                </a:solidFill>
                <a:latin typeface="Calibri" pitchFamily="34" charset="0"/>
                <a:ea typeface="Calibri" pitchFamily="34" charset="-122"/>
                <a:cs typeface="Calibri" pitchFamily="34" charset="-120"/>
              </a:rPr>
              <a:t>f_in</a:t>
            </a:r>
            <a:endParaRPr lang="en-US" sz="900" dirty="0"/>
          </a:p>
        </p:txBody>
      </p:sp>
      <p:sp>
        <p:nvSpPr>
          <p:cNvPr id="8" name="Shape 6"/>
          <p:cNvSpPr/>
          <p:nvPr/>
        </p:nvSpPr>
        <p:spPr>
          <a:xfrm>
            <a:off x="5852160" y="2571750"/>
            <a:ext cx="320040" cy="0"/>
          </a:xfrm>
          <a:prstGeom prst="line">
            <a:avLst/>
          </a:prstGeom>
          <a:noFill/>
          <a:ln w="25400">
            <a:solidFill>
              <a:srgbClr val="1A3A5C"/>
            </a:solidFill>
            <a:prstDash val="solid"/>
          </a:ln>
        </p:spPr>
      </p:sp>
      <p:sp>
        <p:nvSpPr>
          <p:cNvPr id="9" name="Shape 7"/>
          <p:cNvSpPr/>
          <p:nvPr/>
        </p:nvSpPr>
        <p:spPr>
          <a:xfrm>
            <a:off x="6172200" y="2320290"/>
            <a:ext cx="731520" cy="502920"/>
          </a:xfrm>
          <a:prstGeom prst="roundRect">
            <a:avLst>
              <a:gd name="adj" fmla="val 10909"/>
            </a:avLst>
          </a:prstGeom>
          <a:solidFill>
            <a:srgbClr val="0080C8"/>
          </a:solidFill>
          <a:ln w="12700">
            <a:solidFill>
              <a:srgbClr val="0080C8"/>
            </a:solidFill>
            <a:prstDash val="solid"/>
          </a:ln>
        </p:spPr>
      </p:sp>
      <p:sp>
        <p:nvSpPr>
          <p:cNvPr id="10" name="Text 8"/>
          <p:cNvSpPr/>
          <p:nvPr/>
        </p:nvSpPr>
        <p:spPr>
          <a:xfrm>
            <a:off x="6172200" y="2320290"/>
            <a:ext cx="731520" cy="50292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÷M</a:t>
            </a:r>
            <a:endParaRPr lang="en-US" sz="900" dirty="0"/>
          </a:p>
          <a:p>
            <a:pPr algn="ctr"/>
            <a:r>
              <a:rPr lang="en-US" sz="900" b="1" dirty="0">
                <a:solidFill>
                  <a:srgbClr val="FFFFFF"/>
                </a:solidFill>
                <a:latin typeface="Calibri" pitchFamily="34" charset="0"/>
                <a:ea typeface="Calibri" pitchFamily="34" charset="-122"/>
                <a:cs typeface="Calibri" pitchFamily="34" charset="-120"/>
              </a:rPr>
              <a:t>(1-63)</a:t>
            </a:r>
            <a:endParaRPr lang="en-US" sz="900" dirty="0"/>
          </a:p>
        </p:txBody>
      </p:sp>
      <p:sp>
        <p:nvSpPr>
          <p:cNvPr id="11" name="Shape 9"/>
          <p:cNvSpPr/>
          <p:nvPr/>
        </p:nvSpPr>
        <p:spPr>
          <a:xfrm>
            <a:off x="6903720" y="2571750"/>
            <a:ext cx="320040" cy="0"/>
          </a:xfrm>
          <a:prstGeom prst="line">
            <a:avLst/>
          </a:prstGeom>
          <a:noFill/>
          <a:ln w="25400">
            <a:solidFill>
              <a:srgbClr val="1A3A5C"/>
            </a:solidFill>
            <a:prstDash val="solid"/>
          </a:ln>
        </p:spPr>
      </p:sp>
      <p:sp>
        <p:nvSpPr>
          <p:cNvPr id="12" name="Shape 10"/>
          <p:cNvSpPr/>
          <p:nvPr/>
        </p:nvSpPr>
        <p:spPr>
          <a:xfrm>
            <a:off x="7223760" y="2228850"/>
            <a:ext cx="822960" cy="685800"/>
          </a:xfrm>
          <a:prstGeom prst="roundRect">
            <a:avLst>
              <a:gd name="adj" fmla="val 8000"/>
            </a:avLst>
          </a:prstGeom>
          <a:solidFill>
            <a:srgbClr val="D4660A"/>
          </a:solidFill>
          <a:ln w="12700">
            <a:solidFill>
              <a:srgbClr val="D4660A"/>
            </a:solidFill>
            <a:prstDash val="solid"/>
          </a:ln>
        </p:spPr>
      </p:sp>
      <p:sp>
        <p:nvSpPr>
          <p:cNvPr id="13" name="Text 11"/>
          <p:cNvSpPr/>
          <p:nvPr/>
        </p:nvSpPr>
        <p:spPr>
          <a:xfrm>
            <a:off x="7223760" y="2228850"/>
            <a:ext cx="822960" cy="68580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VCO</a:t>
            </a:r>
            <a:endParaRPr lang="en-US" sz="900" dirty="0"/>
          </a:p>
          <a:p>
            <a:pPr algn="ctr"/>
            <a:r>
              <a:rPr lang="en-US" sz="900" b="1" dirty="0">
                <a:solidFill>
                  <a:srgbClr val="FFFFFF"/>
                </a:solidFill>
                <a:latin typeface="Calibri" pitchFamily="34" charset="0"/>
                <a:ea typeface="Calibri" pitchFamily="34" charset="-122"/>
                <a:cs typeface="Calibri" pitchFamily="34" charset="-120"/>
              </a:rPr>
              <a:t>×N</a:t>
            </a:r>
            <a:endParaRPr lang="en-US" sz="900" dirty="0"/>
          </a:p>
          <a:p>
            <a:pPr algn="ctr"/>
            <a:r>
              <a:rPr lang="en-US" sz="900" b="1" dirty="0">
                <a:solidFill>
                  <a:srgbClr val="FFFFFF"/>
                </a:solidFill>
                <a:latin typeface="Calibri" pitchFamily="34" charset="0"/>
                <a:ea typeface="Calibri" pitchFamily="34" charset="-122"/>
                <a:cs typeface="Calibri" pitchFamily="34" charset="-120"/>
              </a:rPr>
              <a:t>(4-512)</a:t>
            </a:r>
            <a:endParaRPr lang="en-US" sz="900" dirty="0"/>
          </a:p>
        </p:txBody>
      </p:sp>
      <p:sp>
        <p:nvSpPr>
          <p:cNvPr id="14" name="Text 12"/>
          <p:cNvSpPr/>
          <p:nvPr/>
        </p:nvSpPr>
        <p:spPr>
          <a:xfrm>
            <a:off x="7132320" y="1863090"/>
            <a:ext cx="1005840" cy="274320"/>
          </a:xfrm>
          <a:prstGeom prst="rect">
            <a:avLst/>
          </a:prstGeom>
          <a:noFill/>
          <a:ln/>
        </p:spPr>
        <p:txBody>
          <a:bodyPr wrap="square" lIns="0" tIns="0" rIns="0" bIns="0" rtlCol="0" anchor="ctr"/>
          <a:lstStyle/>
          <a:p>
            <a:pPr algn="ctr"/>
            <a:r>
              <a:rPr lang="en-US" sz="800" i="1" dirty="0">
                <a:solidFill>
                  <a:srgbClr val="D4660A"/>
                </a:solidFill>
                <a:latin typeface="Calibri" pitchFamily="34" charset="0"/>
                <a:ea typeface="Calibri" pitchFamily="34" charset="-122"/>
                <a:cs typeface="Calibri" pitchFamily="34" charset="-120"/>
              </a:rPr>
              <a:t>750–1500 MHz</a:t>
            </a:r>
            <a:endParaRPr lang="en-US" sz="800" dirty="0"/>
          </a:p>
        </p:txBody>
      </p:sp>
      <p:sp>
        <p:nvSpPr>
          <p:cNvPr id="15" name="Shape 13"/>
          <p:cNvSpPr/>
          <p:nvPr/>
        </p:nvSpPr>
        <p:spPr>
          <a:xfrm>
            <a:off x="8046720" y="2571750"/>
            <a:ext cx="320040" cy="0"/>
          </a:xfrm>
          <a:prstGeom prst="line">
            <a:avLst/>
          </a:prstGeom>
          <a:noFill/>
          <a:ln w="25400">
            <a:solidFill>
              <a:srgbClr val="1A3A5C"/>
            </a:solidFill>
            <a:prstDash val="solid"/>
          </a:ln>
        </p:spPr>
      </p:sp>
      <p:sp>
        <p:nvSpPr>
          <p:cNvPr id="16" name="Shape 14"/>
          <p:cNvSpPr/>
          <p:nvPr/>
        </p:nvSpPr>
        <p:spPr>
          <a:xfrm>
            <a:off x="8366760" y="2183130"/>
            <a:ext cx="0" cy="1280160"/>
          </a:xfrm>
          <a:prstGeom prst="line">
            <a:avLst/>
          </a:prstGeom>
          <a:noFill/>
          <a:ln w="25400">
            <a:solidFill>
              <a:srgbClr val="1A3A5C"/>
            </a:solidFill>
            <a:prstDash val="solid"/>
          </a:ln>
        </p:spPr>
      </p:sp>
      <p:sp>
        <p:nvSpPr>
          <p:cNvPr id="17" name="Shape 15"/>
          <p:cNvSpPr/>
          <p:nvPr/>
        </p:nvSpPr>
        <p:spPr>
          <a:xfrm>
            <a:off x="8366760" y="2183130"/>
            <a:ext cx="365760" cy="0"/>
          </a:xfrm>
          <a:prstGeom prst="line">
            <a:avLst/>
          </a:prstGeom>
          <a:noFill/>
          <a:ln w="25400">
            <a:solidFill>
              <a:srgbClr val="1A3A5C"/>
            </a:solidFill>
            <a:prstDash val="solid"/>
          </a:ln>
        </p:spPr>
      </p:sp>
      <p:sp>
        <p:nvSpPr>
          <p:cNvPr id="18" name="Shape 16"/>
          <p:cNvSpPr/>
          <p:nvPr/>
        </p:nvSpPr>
        <p:spPr>
          <a:xfrm>
            <a:off x="8732520" y="2000250"/>
            <a:ext cx="640080" cy="365760"/>
          </a:xfrm>
          <a:prstGeom prst="roundRect">
            <a:avLst>
              <a:gd name="adj" fmla="val 10000"/>
            </a:avLst>
          </a:prstGeom>
          <a:solidFill>
            <a:srgbClr val="1A3A5C"/>
          </a:solidFill>
          <a:ln w="12700">
            <a:solidFill>
              <a:srgbClr val="1A3A5C"/>
            </a:solidFill>
            <a:prstDash val="solid"/>
          </a:ln>
        </p:spPr>
      </p:sp>
      <p:sp>
        <p:nvSpPr>
          <p:cNvPr id="19" name="Text 17"/>
          <p:cNvSpPr/>
          <p:nvPr/>
        </p:nvSpPr>
        <p:spPr>
          <a:xfrm>
            <a:off x="8732520" y="2000250"/>
            <a:ext cx="640080" cy="36576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÷P</a:t>
            </a:r>
            <a:endParaRPr lang="en-US" sz="900" dirty="0"/>
          </a:p>
        </p:txBody>
      </p:sp>
      <p:sp>
        <p:nvSpPr>
          <p:cNvPr id="20" name="Shape 18"/>
          <p:cNvSpPr/>
          <p:nvPr/>
        </p:nvSpPr>
        <p:spPr>
          <a:xfrm>
            <a:off x="9372600" y="2183130"/>
            <a:ext cx="274320" cy="0"/>
          </a:xfrm>
          <a:prstGeom prst="line">
            <a:avLst/>
          </a:prstGeom>
          <a:noFill/>
          <a:ln w="25400">
            <a:solidFill>
              <a:srgbClr val="1A3A5C"/>
            </a:solidFill>
            <a:prstDash val="solid"/>
          </a:ln>
        </p:spPr>
      </p:sp>
      <p:sp>
        <p:nvSpPr>
          <p:cNvPr id="21" name="Text 19"/>
          <p:cNvSpPr/>
          <p:nvPr/>
        </p:nvSpPr>
        <p:spPr>
          <a:xfrm>
            <a:off x="9646920" y="2000250"/>
            <a:ext cx="914400" cy="411480"/>
          </a:xfrm>
          <a:prstGeom prst="rect">
            <a:avLst/>
          </a:prstGeom>
          <a:noFill/>
          <a:ln/>
        </p:spPr>
        <p:txBody>
          <a:bodyPr wrap="square" lIns="0" tIns="0" rIns="0" bIns="0" rtlCol="0" anchor="ctr"/>
          <a:lstStyle/>
          <a:p>
            <a:r>
              <a:rPr lang="en-US" sz="800" b="1" dirty="0">
                <a:solidFill>
                  <a:srgbClr val="1A3A5C"/>
                </a:solidFill>
                <a:latin typeface="Calibri" pitchFamily="34" charset="0"/>
                <a:ea typeface="Calibri" pitchFamily="34" charset="-122"/>
                <a:cs typeface="Calibri" pitchFamily="34" charset="-120"/>
              </a:rPr>
              <a:t>SYSCLK</a:t>
            </a:r>
            <a:endParaRPr lang="en-US" sz="800" dirty="0"/>
          </a:p>
          <a:p>
            <a:r>
              <a:rPr lang="en-US" sz="800" b="1" dirty="0">
                <a:solidFill>
                  <a:srgbClr val="1A3A5C"/>
                </a:solidFill>
                <a:latin typeface="Calibri" pitchFamily="34" charset="0"/>
                <a:ea typeface="Calibri" pitchFamily="34" charset="-122"/>
                <a:cs typeface="Calibri" pitchFamily="34" charset="-120"/>
              </a:rPr>
              <a:t>(PLL1P)</a:t>
            </a:r>
            <a:endParaRPr lang="en-US" sz="800" dirty="0"/>
          </a:p>
        </p:txBody>
      </p:sp>
      <p:sp>
        <p:nvSpPr>
          <p:cNvPr id="22" name="Shape 20"/>
          <p:cNvSpPr/>
          <p:nvPr/>
        </p:nvSpPr>
        <p:spPr>
          <a:xfrm>
            <a:off x="8366760" y="2571750"/>
            <a:ext cx="365760" cy="0"/>
          </a:xfrm>
          <a:prstGeom prst="line">
            <a:avLst/>
          </a:prstGeom>
          <a:noFill/>
          <a:ln w="25400">
            <a:solidFill>
              <a:srgbClr val="1A3A5C"/>
            </a:solidFill>
            <a:prstDash val="solid"/>
          </a:ln>
        </p:spPr>
      </p:sp>
      <p:sp>
        <p:nvSpPr>
          <p:cNvPr id="23" name="Shape 21"/>
          <p:cNvSpPr/>
          <p:nvPr/>
        </p:nvSpPr>
        <p:spPr>
          <a:xfrm>
            <a:off x="8732520" y="2366010"/>
            <a:ext cx="640080" cy="365760"/>
          </a:xfrm>
          <a:prstGeom prst="roundRect">
            <a:avLst>
              <a:gd name="adj" fmla="val 10000"/>
            </a:avLst>
          </a:prstGeom>
          <a:solidFill>
            <a:srgbClr val="0080C8"/>
          </a:solidFill>
          <a:ln w="12700">
            <a:solidFill>
              <a:srgbClr val="0080C8"/>
            </a:solidFill>
            <a:prstDash val="solid"/>
          </a:ln>
        </p:spPr>
      </p:sp>
      <p:sp>
        <p:nvSpPr>
          <p:cNvPr id="24" name="Text 22"/>
          <p:cNvSpPr/>
          <p:nvPr/>
        </p:nvSpPr>
        <p:spPr>
          <a:xfrm>
            <a:off x="8732520" y="2366010"/>
            <a:ext cx="640080" cy="36576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÷Q</a:t>
            </a:r>
            <a:endParaRPr lang="en-US" sz="900" dirty="0"/>
          </a:p>
        </p:txBody>
      </p:sp>
      <p:sp>
        <p:nvSpPr>
          <p:cNvPr id="25" name="Shape 23"/>
          <p:cNvSpPr/>
          <p:nvPr/>
        </p:nvSpPr>
        <p:spPr>
          <a:xfrm>
            <a:off x="9372600" y="2571750"/>
            <a:ext cx="274320" cy="0"/>
          </a:xfrm>
          <a:prstGeom prst="line">
            <a:avLst/>
          </a:prstGeom>
          <a:noFill/>
          <a:ln w="25400">
            <a:solidFill>
              <a:srgbClr val="1A3A5C"/>
            </a:solidFill>
            <a:prstDash val="solid"/>
          </a:ln>
        </p:spPr>
      </p:sp>
      <p:sp>
        <p:nvSpPr>
          <p:cNvPr id="26" name="Text 24"/>
          <p:cNvSpPr/>
          <p:nvPr/>
        </p:nvSpPr>
        <p:spPr>
          <a:xfrm>
            <a:off x="9646920" y="2411730"/>
            <a:ext cx="914400" cy="365760"/>
          </a:xfrm>
          <a:prstGeom prst="rect">
            <a:avLst/>
          </a:prstGeom>
          <a:noFill/>
          <a:ln/>
        </p:spPr>
        <p:txBody>
          <a:bodyPr wrap="square" lIns="0" tIns="0" rIns="0" bIns="0" rtlCol="0" anchor="ctr"/>
          <a:lstStyle/>
          <a:p>
            <a:r>
              <a:rPr lang="en-US" sz="800" dirty="0">
                <a:solidFill>
                  <a:srgbClr val="0080C8"/>
                </a:solidFill>
                <a:latin typeface="Calibri" pitchFamily="34" charset="0"/>
                <a:ea typeface="Calibri" pitchFamily="34" charset="-122"/>
                <a:cs typeface="Calibri" pitchFamily="34" charset="-120"/>
              </a:rPr>
              <a:t>USB, SDMMC</a:t>
            </a:r>
            <a:endParaRPr lang="en-US" sz="800" dirty="0"/>
          </a:p>
          <a:p>
            <a:r>
              <a:rPr lang="en-US" sz="800" dirty="0">
                <a:solidFill>
                  <a:srgbClr val="0080C8"/>
                </a:solidFill>
                <a:latin typeface="Calibri" pitchFamily="34" charset="0"/>
                <a:ea typeface="Calibri" pitchFamily="34" charset="-122"/>
                <a:cs typeface="Calibri" pitchFamily="34" charset="-120"/>
              </a:rPr>
              <a:t>(PLL1Q=48MHz)</a:t>
            </a:r>
            <a:endParaRPr lang="en-US" sz="800" dirty="0"/>
          </a:p>
        </p:txBody>
      </p:sp>
      <p:sp>
        <p:nvSpPr>
          <p:cNvPr id="27" name="Shape 25"/>
          <p:cNvSpPr/>
          <p:nvPr/>
        </p:nvSpPr>
        <p:spPr>
          <a:xfrm>
            <a:off x="8366760" y="2960370"/>
            <a:ext cx="365760" cy="0"/>
          </a:xfrm>
          <a:prstGeom prst="line">
            <a:avLst/>
          </a:prstGeom>
          <a:noFill/>
          <a:ln w="25400">
            <a:solidFill>
              <a:srgbClr val="1A3A5C"/>
            </a:solidFill>
            <a:prstDash val="solid"/>
          </a:ln>
        </p:spPr>
      </p:sp>
      <p:sp>
        <p:nvSpPr>
          <p:cNvPr id="28" name="Shape 26"/>
          <p:cNvSpPr/>
          <p:nvPr/>
        </p:nvSpPr>
        <p:spPr>
          <a:xfrm>
            <a:off x="8732520" y="2777490"/>
            <a:ext cx="640080" cy="365760"/>
          </a:xfrm>
          <a:prstGeom prst="roundRect">
            <a:avLst>
              <a:gd name="adj" fmla="val 10000"/>
            </a:avLst>
          </a:prstGeom>
          <a:solidFill>
            <a:srgbClr val="4A5568"/>
          </a:solidFill>
          <a:ln w="12700">
            <a:solidFill>
              <a:srgbClr val="4A5568"/>
            </a:solidFill>
            <a:prstDash val="solid"/>
          </a:ln>
        </p:spPr>
      </p:sp>
      <p:sp>
        <p:nvSpPr>
          <p:cNvPr id="29" name="Text 27"/>
          <p:cNvSpPr/>
          <p:nvPr/>
        </p:nvSpPr>
        <p:spPr>
          <a:xfrm>
            <a:off x="8732520" y="2777490"/>
            <a:ext cx="640080" cy="36576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÷R</a:t>
            </a:r>
            <a:endParaRPr lang="en-US" sz="900" dirty="0"/>
          </a:p>
        </p:txBody>
      </p:sp>
      <p:sp>
        <p:nvSpPr>
          <p:cNvPr id="30" name="Shape 28"/>
          <p:cNvSpPr/>
          <p:nvPr/>
        </p:nvSpPr>
        <p:spPr>
          <a:xfrm>
            <a:off x="9372600" y="2960370"/>
            <a:ext cx="274320" cy="0"/>
          </a:xfrm>
          <a:prstGeom prst="line">
            <a:avLst/>
          </a:prstGeom>
          <a:noFill/>
          <a:ln w="25400">
            <a:solidFill>
              <a:srgbClr val="1A3A5C"/>
            </a:solidFill>
            <a:prstDash val="solid"/>
          </a:ln>
        </p:spPr>
      </p:sp>
      <p:sp>
        <p:nvSpPr>
          <p:cNvPr id="31" name="Text 29"/>
          <p:cNvSpPr/>
          <p:nvPr/>
        </p:nvSpPr>
        <p:spPr>
          <a:xfrm>
            <a:off x="9646920" y="2777490"/>
            <a:ext cx="914400" cy="365760"/>
          </a:xfrm>
          <a:prstGeom prst="rect">
            <a:avLst/>
          </a:prstGeom>
          <a:noFill/>
          <a:ln/>
        </p:spPr>
        <p:txBody>
          <a:bodyPr wrap="square" lIns="0" tIns="0" rIns="0" bIns="0" rtlCol="0" anchor="ctr"/>
          <a:lstStyle/>
          <a:p>
            <a:r>
              <a:rPr lang="en-US" sz="800" dirty="0">
                <a:solidFill>
                  <a:srgbClr val="4A5568"/>
                </a:solidFill>
                <a:latin typeface="Calibri" pitchFamily="34" charset="0"/>
                <a:ea typeface="Calibri" pitchFamily="34" charset="-122"/>
                <a:cs typeface="Calibri" pitchFamily="34" charset="-120"/>
              </a:rPr>
              <a:t>Peripheral Clk</a:t>
            </a:r>
            <a:endParaRPr lang="en-US" sz="800" dirty="0"/>
          </a:p>
          <a:p>
            <a:r>
              <a:rPr lang="en-US" sz="800" dirty="0">
                <a:solidFill>
                  <a:srgbClr val="4A5568"/>
                </a:solidFill>
                <a:latin typeface="Calibri" pitchFamily="34" charset="0"/>
                <a:ea typeface="Calibri" pitchFamily="34" charset="-122"/>
                <a:cs typeface="Calibri" pitchFamily="34" charset="-120"/>
              </a:rPr>
              <a:t>(PLL1R)</a:t>
            </a:r>
            <a:endParaRPr lang="en-US" sz="800" dirty="0"/>
          </a:p>
        </p:txBody>
      </p:sp>
      <p:sp>
        <p:nvSpPr>
          <p:cNvPr id="32" name="Shape 30"/>
          <p:cNvSpPr/>
          <p:nvPr/>
        </p:nvSpPr>
        <p:spPr>
          <a:xfrm>
            <a:off x="4663440" y="3600450"/>
            <a:ext cx="4389120" cy="548640"/>
          </a:xfrm>
          <a:prstGeom prst="roundRect">
            <a:avLst>
              <a:gd name="adj" fmla="val 10000"/>
            </a:avLst>
          </a:prstGeom>
          <a:solidFill>
            <a:srgbClr val="E8EEF4"/>
          </a:solidFill>
          <a:ln w="12700">
            <a:solidFill>
              <a:srgbClr val="94A3B8"/>
            </a:solidFill>
            <a:prstDash val="solid"/>
          </a:ln>
        </p:spPr>
      </p:sp>
      <p:sp>
        <p:nvSpPr>
          <p:cNvPr id="33" name="Text 31"/>
          <p:cNvSpPr/>
          <p:nvPr/>
        </p:nvSpPr>
        <p:spPr>
          <a:xfrm>
            <a:off x="4754880" y="3646170"/>
            <a:ext cx="4206240" cy="457200"/>
          </a:xfrm>
          <a:prstGeom prst="rect">
            <a:avLst/>
          </a:prstGeom>
          <a:noFill/>
          <a:ln/>
        </p:spPr>
        <p:txBody>
          <a:bodyPr wrap="square" lIns="0" tIns="0" rIns="0" bIns="0" rtlCol="0" anchor="ctr"/>
          <a:lstStyle/>
          <a:p>
            <a:r>
              <a:rPr lang="en-US" sz="1000" dirty="0">
                <a:solidFill>
                  <a:srgbClr val="1A3A5C"/>
                </a:solidFill>
                <a:latin typeface="Calibri" pitchFamily="34" charset="0"/>
                <a:ea typeface="Calibri" pitchFamily="34" charset="-122"/>
                <a:cs typeface="Calibri" pitchFamily="34" charset="-120"/>
              </a:rPr>
              <a:t>STM32H7 has 3 identical PLLs: PLL1 (for CPU), PLL2 (for ADC, DFSDM, SPI), PLL3 (for USB, SAI, USART)</a:t>
            </a:r>
            <a:endParaRPr lang="en-US" sz="1000" dirty="0"/>
          </a:p>
        </p:txBody>
      </p:sp>
      <p:sp>
        <p:nvSpPr>
          <p:cNvPr id="34" name="Shape 32"/>
          <p:cNvSpPr/>
          <p:nvPr/>
        </p:nvSpPr>
        <p:spPr>
          <a:xfrm>
            <a:off x="4663440" y="4286250"/>
            <a:ext cx="4389120" cy="1417320"/>
          </a:xfrm>
          <a:prstGeom prst="roundRect">
            <a:avLst>
              <a:gd name="adj" fmla="val 4516"/>
            </a:avLst>
          </a:prstGeom>
          <a:solidFill>
            <a:srgbClr val="FFFBF0"/>
          </a:solidFill>
          <a:ln w="12700">
            <a:solidFill>
              <a:srgbClr val="D4660A"/>
            </a:solidFill>
            <a:prstDash val="solid"/>
          </a:ln>
        </p:spPr>
      </p:sp>
      <p:sp>
        <p:nvSpPr>
          <p:cNvPr id="35" name="Text 33"/>
          <p:cNvSpPr/>
          <p:nvPr/>
        </p:nvSpPr>
        <p:spPr>
          <a:xfrm>
            <a:off x="4800600" y="4377690"/>
            <a:ext cx="4114800" cy="274320"/>
          </a:xfrm>
          <a:prstGeom prst="rect">
            <a:avLst/>
          </a:prstGeom>
          <a:noFill/>
          <a:ln/>
        </p:spPr>
        <p:txBody>
          <a:bodyPr wrap="square" lIns="0" tIns="0" rIns="0" bIns="0" rtlCol="0" anchor="ctr"/>
          <a:lstStyle/>
          <a:p>
            <a:r>
              <a:rPr lang="en-US" sz="1100" b="1" dirty="0">
                <a:solidFill>
                  <a:srgbClr val="D4660A"/>
                </a:solidFill>
                <a:latin typeface="Calibri" pitchFamily="34" charset="0"/>
                <a:ea typeface="Calibri" pitchFamily="34" charset="-122"/>
                <a:cs typeface="Calibri" pitchFamily="34" charset="-120"/>
              </a:rPr>
              <a:t>📐  PLL Formula</a:t>
            </a:r>
            <a:endParaRPr lang="en-US" sz="1100" dirty="0"/>
          </a:p>
        </p:txBody>
      </p:sp>
      <p:sp>
        <p:nvSpPr>
          <p:cNvPr id="36" name="Text 34"/>
          <p:cNvSpPr/>
          <p:nvPr/>
        </p:nvSpPr>
        <p:spPr>
          <a:xfrm>
            <a:off x="4800600" y="4697730"/>
            <a:ext cx="4114800" cy="914400"/>
          </a:xfrm>
          <a:prstGeom prst="rect">
            <a:avLst/>
          </a:prstGeom>
          <a:noFill/>
          <a:ln/>
        </p:spPr>
        <p:txBody>
          <a:bodyPr wrap="square" rtlCol="0" anchor="t"/>
          <a:lstStyle/>
          <a:p>
            <a:r>
              <a:rPr lang="en-US" sz="1000" b="1" dirty="0">
                <a:solidFill>
                  <a:srgbClr val="1A1A2E"/>
                </a:solidFill>
                <a:latin typeface="Courier New" pitchFamily="34" charset="0"/>
                <a:ea typeface="Courier New" pitchFamily="34" charset="-122"/>
                <a:cs typeface="Courier New" pitchFamily="34" charset="-120"/>
              </a:rPr>
              <a:t>f_VCO  = (f_ref / M) × N
</a:t>
            </a:r>
            <a:r>
              <a:rPr lang="en-US" sz="1000" dirty="0">
                <a:solidFill>
                  <a:srgbClr val="1A1A2E"/>
                </a:solidFill>
                <a:latin typeface="Courier New" pitchFamily="34" charset="0"/>
                <a:ea typeface="Courier New" pitchFamily="34" charset="-122"/>
                <a:cs typeface="Courier New" pitchFamily="34" charset="-120"/>
              </a:rPr>
              <a:t>f_PLLx_P = f_VCO / P       (SYSCLK source)
f_PLLx_Q = f_VCO / Q       (48 MHz for USB)
f_PLLx_R = f_VCO / R       (peripheral clock)</a:t>
            </a:r>
            <a:endParaRPr lang="en-US" sz="1000" dirty="0"/>
          </a:p>
        </p:txBody>
      </p:sp>
      <p:sp>
        <p:nvSpPr>
          <p:cNvPr id="37" name="Shape 35"/>
          <p:cNvSpPr/>
          <p:nvPr/>
        </p:nvSpPr>
        <p:spPr>
          <a:xfrm>
            <a:off x="365760" y="5200650"/>
            <a:ext cx="4114800" cy="640080"/>
          </a:xfrm>
          <a:prstGeom prst="roundRect">
            <a:avLst>
              <a:gd name="adj" fmla="val 8571"/>
            </a:avLst>
          </a:prstGeom>
          <a:solidFill>
            <a:srgbClr val="FFF3F0"/>
          </a:solidFill>
          <a:ln w="12700">
            <a:solidFill>
              <a:srgbClr val="D4660A"/>
            </a:solidFill>
            <a:prstDash val="solid"/>
          </a:ln>
        </p:spPr>
      </p:sp>
      <p:sp>
        <p:nvSpPr>
          <p:cNvPr id="38" name="Text 36"/>
          <p:cNvSpPr/>
          <p:nvPr/>
        </p:nvSpPr>
        <p:spPr>
          <a:xfrm>
            <a:off x="502920" y="5246370"/>
            <a:ext cx="3840480" cy="548640"/>
          </a:xfrm>
          <a:prstGeom prst="rect">
            <a:avLst/>
          </a:prstGeom>
          <a:noFill/>
          <a:ln/>
        </p:spPr>
        <p:txBody>
          <a:bodyPr wrap="square" rtlCol="0" anchor="t"/>
          <a:lstStyle/>
          <a:p>
            <a:r>
              <a:rPr lang="en-US" sz="1050" b="1" dirty="0">
                <a:solidFill>
                  <a:srgbClr val="D4660A"/>
                </a:solidFill>
                <a:latin typeface="Calibri" pitchFamily="34" charset="0"/>
                <a:ea typeface="Calibri" pitchFamily="34" charset="-122"/>
                <a:cs typeface="Calibri" pitchFamily="34" charset="-120"/>
              </a:rPr>
              <a:t>⚠ VCO Range Constraint: </a:t>
            </a:r>
            <a:r>
              <a:rPr lang="en-US" sz="1050" dirty="0">
                <a:solidFill>
                  <a:srgbClr val="1A1A2E"/>
                </a:solidFill>
                <a:latin typeface="Calibri" pitchFamily="34" charset="0"/>
                <a:ea typeface="Calibri" pitchFamily="34" charset="-122"/>
                <a:cs typeface="Calibri" pitchFamily="34" charset="-120"/>
              </a:rPr>
              <a:t>The PLL VCO must be in 192–836 MHz (wide range) or 150–420 MHz (medium). Always verify f_VCO = f_ref/M × N is within this range before enabling the PLL.</a:t>
            </a:r>
            <a:endParaRPr lang="en-US" sz="1050" dirty="0"/>
          </a:p>
        </p:txBody>
      </p:sp>
    </p:spTree>
    <p:extLst>
      <p:ext uri="{BB962C8B-B14F-4D97-AF65-F5344CB8AC3E}">
        <p14:creationId xmlns:p14="http://schemas.microsoft.com/office/powerpoint/2010/main" val="144091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94360"/>
          </a:xfrm>
          <a:prstGeom prst="rect">
            <a:avLst/>
          </a:prstGeom>
          <a:solidFill>
            <a:srgbClr val="1A3A5C"/>
          </a:solidFill>
          <a:ln w="12700">
            <a:solidFill>
              <a:srgbClr val="1A3A5C"/>
            </a:solidFill>
            <a:prstDash val="solid"/>
          </a:ln>
        </p:spPr>
      </p:sp>
      <p:sp>
        <p:nvSpPr>
          <p:cNvPr id="3" name="Text 1"/>
          <p:cNvSpPr/>
          <p:nvPr/>
        </p:nvSpPr>
        <p:spPr>
          <a:xfrm>
            <a:off x="365760" y="857250"/>
            <a:ext cx="8412480" cy="594360"/>
          </a:xfrm>
          <a:prstGeom prst="rect">
            <a:avLst/>
          </a:prstGeom>
          <a:noFill/>
          <a:ln/>
        </p:spPr>
        <p:txBody>
          <a:bodyPr wrap="square" lIns="0" tIns="0" rIns="0" bIns="0" rtlCol="0" anchor="ctr"/>
          <a:lstStyle/>
          <a:p>
            <a:r>
              <a:rPr lang="en-US" sz="2000" b="1" dirty="0">
                <a:solidFill>
                  <a:srgbClr val="FFFFFF"/>
                </a:solidFill>
                <a:latin typeface="Cambria" pitchFamily="34" charset="0"/>
                <a:ea typeface="Cambria" pitchFamily="34" charset="-122"/>
                <a:cs typeface="Cambria" pitchFamily="34" charset="-120"/>
              </a:rPr>
              <a:t>System Clock — SYSCLK (up to 480 MHz)</a:t>
            </a:r>
            <a:endParaRPr lang="en-US" sz="2000" dirty="0"/>
          </a:p>
        </p:txBody>
      </p:sp>
      <p:sp>
        <p:nvSpPr>
          <p:cNvPr id="4" name="Text 2"/>
          <p:cNvSpPr/>
          <p:nvPr/>
        </p:nvSpPr>
        <p:spPr>
          <a:xfrm>
            <a:off x="365760" y="1588770"/>
            <a:ext cx="4114800" cy="320040"/>
          </a:xfrm>
          <a:prstGeom prst="rect">
            <a:avLst/>
          </a:prstGeom>
          <a:noFill/>
          <a:ln/>
        </p:spPr>
        <p:txBody>
          <a:bodyPr wrap="square" lIns="0" tIns="0" rIns="0" bIns="0" rtlCol="0" anchor="ctr"/>
          <a:lstStyle/>
          <a:p>
            <a:r>
              <a:rPr lang="en-US" sz="1400" b="1" dirty="0">
                <a:solidFill>
                  <a:srgbClr val="1A3A5C"/>
                </a:solidFill>
                <a:latin typeface="Cambria" pitchFamily="34" charset="0"/>
                <a:ea typeface="Cambria" pitchFamily="34" charset="-122"/>
                <a:cs typeface="Cambria" pitchFamily="34" charset="-120"/>
              </a:rPr>
              <a:t>SYSCLK Selection</a:t>
            </a:r>
            <a:endParaRPr lang="en-US" sz="1400" dirty="0"/>
          </a:p>
        </p:txBody>
      </p:sp>
      <p:sp>
        <p:nvSpPr>
          <p:cNvPr id="5" name="Text 3"/>
          <p:cNvSpPr/>
          <p:nvPr/>
        </p:nvSpPr>
        <p:spPr>
          <a:xfrm>
            <a:off x="365760" y="1954530"/>
            <a:ext cx="4114800" cy="3474720"/>
          </a:xfrm>
          <a:prstGeom prst="rect">
            <a:avLst/>
          </a:prstGeom>
          <a:noFill/>
          <a:ln/>
        </p:spPr>
        <p:txBody>
          <a:bodyPr wrap="square" rtlCol="0" anchor="t"/>
          <a:lstStyle/>
          <a:p>
            <a:pPr>
              <a:spcAft>
                <a:spcPts val="500"/>
              </a:spcAft>
            </a:pPr>
            <a:r>
              <a:rPr lang="en-US" sz="1150" dirty="0">
                <a:solidFill>
                  <a:srgbClr val="1A1A2E"/>
                </a:solidFill>
                <a:latin typeface="Calibri" pitchFamily="34" charset="0"/>
                <a:ea typeface="Calibri" pitchFamily="34" charset="-122"/>
                <a:cs typeface="Calibri" pitchFamily="34" charset="-120"/>
              </a:rPr>
              <a:t>SYSCLK is the master clock of the Cortex-M7 CPU core and the highest-level bus in the clock hierarchy.</a:t>
            </a:r>
            <a:endParaRPr lang="en-US" sz="1150" dirty="0"/>
          </a:p>
          <a:p>
            <a:pPr>
              <a:spcAft>
                <a:spcPts val="500"/>
              </a:spcAft>
            </a:pPr>
            <a:r>
              <a:rPr lang="en-US" sz="1150" dirty="0">
                <a:solidFill>
                  <a:srgbClr val="1A1A2E"/>
                </a:solidFill>
                <a:latin typeface="Calibri" pitchFamily="34" charset="0"/>
                <a:ea typeface="Calibri" pitchFamily="34" charset="-122"/>
                <a:cs typeface="Calibri" pitchFamily="34" charset="-120"/>
              </a:rPr>
              <a:t>It is selected by writing to the SW[1:0] bits in the RCC_CFGR register. The actual switch only happens when the hardware confirms stability (SWS bits reflect the new source).</a:t>
            </a:r>
            <a:endParaRPr lang="en-US" sz="1150" dirty="0"/>
          </a:p>
          <a:p>
            <a:pPr>
              <a:spcAft>
                <a:spcPts val="200"/>
              </a:spcAft>
            </a:pPr>
            <a:r>
              <a:rPr lang="en-US" sz="1150" b="1" dirty="0">
                <a:solidFill>
                  <a:srgbClr val="1A1A2E"/>
                </a:solidFill>
                <a:latin typeface="Calibri" pitchFamily="34" charset="0"/>
                <a:ea typeface="Calibri" pitchFamily="34" charset="-122"/>
                <a:cs typeface="Calibri" pitchFamily="34" charset="-120"/>
              </a:rPr>
              <a:t>Sources (SW bits):</a:t>
            </a:r>
            <a:endParaRPr lang="en-US" sz="1150" dirty="0"/>
          </a:p>
          <a:p>
            <a:pPr marL="342900" indent="-342900">
              <a:spcAft>
                <a:spcPts val="200"/>
              </a:spcAft>
              <a:buSzPct val="100000"/>
              <a:buChar char="•"/>
            </a:pPr>
            <a:r>
              <a:rPr lang="en-US" sz="1150" dirty="0">
                <a:solidFill>
                  <a:srgbClr val="1A1A2E"/>
                </a:solidFill>
                <a:latin typeface="Calibri" pitchFamily="34" charset="0"/>
                <a:ea typeface="Calibri" pitchFamily="34" charset="-122"/>
                <a:cs typeface="Calibri" pitchFamily="34" charset="-120"/>
              </a:rPr>
              <a:t>00 → HSI (64 MHz, default at reset)</a:t>
            </a:r>
            <a:endParaRPr lang="en-US" sz="1150" dirty="0"/>
          </a:p>
          <a:p>
            <a:pPr marL="342900" indent="-342900">
              <a:spcAft>
                <a:spcPts val="200"/>
              </a:spcAft>
              <a:buSzPct val="100000"/>
              <a:buChar char="•"/>
            </a:pPr>
            <a:r>
              <a:rPr lang="en-US" sz="1150" dirty="0">
                <a:solidFill>
                  <a:srgbClr val="1A1A2E"/>
                </a:solidFill>
                <a:latin typeface="Calibri" pitchFamily="34" charset="0"/>
                <a:ea typeface="Calibri" pitchFamily="34" charset="-122"/>
                <a:cs typeface="Calibri" pitchFamily="34" charset="-120"/>
              </a:rPr>
              <a:t>01 → CSI (4 MHz, low-power applications)</a:t>
            </a:r>
            <a:endParaRPr lang="en-US" sz="1150" dirty="0"/>
          </a:p>
          <a:p>
            <a:pPr marL="342900" indent="-342900">
              <a:spcAft>
                <a:spcPts val="200"/>
              </a:spcAft>
              <a:buSzPct val="100000"/>
              <a:buChar char="•"/>
            </a:pPr>
            <a:r>
              <a:rPr lang="en-US" sz="1150" dirty="0">
                <a:solidFill>
                  <a:srgbClr val="1A1A2E"/>
                </a:solidFill>
                <a:latin typeface="Calibri" pitchFamily="34" charset="0"/>
                <a:ea typeface="Calibri" pitchFamily="34" charset="-122"/>
                <a:cs typeface="Calibri" pitchFamily="34" charset="-120"/>
              </a:rPr>
              <a:t>10 → HSE (4–48 MHz external crystal)</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11 → PLL1_P output (up to 480 MHz)</a:t>
            </a:r>
            <a:endParaRPr lang="en-US" sz="1150" dirty="0"/>
          </a:p>
          <a:p>
            <a:pPr>
              <a:spcAft>
                <a:spcPts val="500"/>
              </a:spcAft>
            </a:pPr>
            <a:r>
              <a:rPr lang="en-US" sz="1150" dirty="0">
                <a:solidFill>
                  <a:srgbClr val="1A1A2E"/>
                </a:solidFill>
                <a:latin typeface="Calibri" pitchFamily="34" charset="0"/>
                <a:ea typeface="Calibri" pitchFamily="34" charset="-122"/>
                <a:cs typeface="Calibri" pitchFamily="34" charset="-120"/>
              </a:rPr>
              <a:t>Maximum SYSCLK for the Cortex-M7 core is 480 MHz (for Run* / OverDrive mode) or 400 MHz in the normal run domain.</a:t>
            </a:r>
            <a:endParaRPr lang="en-US" sz="1150" dirty="0"/>
          </a:p>
          <a:p>
            <a:pPr>
              <a:spcAft>
                <a:spcPts val="200"/>
              </a:spcAft>
            </a:pPr>
            <a:r>
              <a:rPr lang="en-US" sz="1150" dirty="0">
                <a:solidFill>
                  <a:srgbClr val="1A1A2E"/>
                </a:solidFill>
                <a:latin typeface="Calibri" pitchFamily="34" charset="0"/>
                <a:ea typeface="Calibri" pitchFamily="34" charset="-122"/>
                <a:cs typeface="Calibri" pitchFamily="34" charset="-120"/>
              </a:rPr>
              <a:t>HCLK (AHB clock) = SYSCLK / AHB prescaler. CPU actually clocks off HCLK, so SYSCLK and HCLK are often the same when AHB prescaler = 1.</a:t>
            </a:r>
            <a:endParaRPr lang="en-US" sz="1150" dirty="0"/>
          </a:p>
        </p:txBody>
      </p:sp>
      <p:sp>
        <p:nvSpPr>
          <p:cNvPr id="6" name="Shape 4"/>
          <p:cNvSpPr/>
          <p:nvPr/>
        </p:nvSpPr>
        <p:spPr>
          <a:xfrm>
            <a:off x="4754880" y="1680210"/>
            <a:ext cx="1554480" cy="594360"/>
          </a:xfrm>
          <a:prstGeom prst="roundRect">
            <a:avLst>
              <a:gd name="adj" fmla="val 9231"/>
            </a:avLst>
          </a:prstGeom>
          <a:solidFill>
            <a:srgbClr val="0080C8"/>
          </a:solidFill>
          <a:ln w="12700">
            <a:solidFill>
              <a:srgbClr val="0080C8"/>
            </a:solidFill>
            <a:prstDash val="solid"/>
          </a:ln>
        </p:spPr>
      </p:sp>
      <p:sp>
        <p:nvSpPr>
          <p:cNvPr id="7" name="Text 5"/>
          <p:cNvSpPr/>
          <p:nvPr/>
        </p:nvSpPr>
        <p:spPr>
          <a:xfrm>
            <a:off x="4754880" y="1680210"/>
            <a:ext cx="155448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HSI</a:t>
            </a:r>
            <a:endParaRPr lang="en-US" sz="1000" dirty="0"/>
          </a:p>
          <a:p>
            <a:pPr algn="ctr"/>
            <a:r>
              <a:rPr lang="en-US" sz="1000" b="1" dirty="0">
                <a:solidFill>
                  <a:srgbClr val="FFFFFF"/>
                </a:solidFill>
                <a:latin typeface="Calibri" pitchFamily="34" charset="0"/>
                <a:ea typeface="Calibri" pitchFamily="34" charset="-122"/>
                <a:cs typeface="Calibri" pitchFamily="34" charset="-120"/>
              </a:rPr>
              <a:t>64 MHz</a:t>
            </a:r>
            <a:endParaRPr lang="en-US" sz="1000" dirty="0"/>
          </a:p>
        </p:txBody>
      </p:sp>
      <p:sp>
        <p:nvSpPr>
          <p:cNvPr id="8" name="Text 6"/>
          <p:cNvSpPr/>
          <p:nvPr/>
        </p:nvSpPr>
        <p:spPr>
          <a:xfrm>
            <a:off x="4754880" y="1771650"/>
            <a:ext cx="457200" cy="228600"/>
          </a:xfrm>
          <a:prstGeom prst="rect">
            <a:avLst/>
          </a:prstGeom>
          <a:noFill/>
          <a:ln/>
        </p:spPr>
        <p:txBody>
          <a:bodyPr wrap="square" lIns="0" tIns="0" rIns="0" bIns="0" rtlCol="0" anchor="ctr"/>
          <a:lstStyle/>
          <a:p>
            <a:r>
              <a:rPr lang="en-US" sz="700" dirty="0">
                <a:solidFill>
                  <a:srgbClr val="000000"/>
                </a:solidFill>
                <a:latin typeface="Courier New" pitchFamily="34" charset="0"/>
                <a:ea typeface="Courier New" pitchFamily="34" charset="-122"/>
                <a:cs typeface="Courier New" pitchFamily="34" charset="-120"/>
              </a:rPr>
              <a:t>SW=00</a:t>
            </a:r>
            <a:endParaRPr lang="en-US" sz="700" dirty="0"/>
          </a:p>
        </p:txBody>
      </p:sp>
      <p:sp>
        <p:nvSpPr>
          <p:cNvPr id="9" name="Shape 7"/>
          <p:cNvSpPr/>
          <p:nvPr/>
        </p:nvSpPr>
        <p:spPr>
          <a:xfrm>
            <a:off x="6309360" y="1977390"/>
            <a:ext cx="502920" cy="0"/>
          </a:xfrm>
          <a:prstGeom prst="line">
            <a:avLst/>
          </a:prstGeom>
          <a:noFill/>
          <a:ln w="19050">
            <a:solidFill>
              <a:srgbClr val="0080C8"/>
            </a:solidFill>
            <a:prstDash val="solid"/>
          </a:ln>
        </p:spPr>
      </p:sp>
      <p:sp>
        <p:nvSpPr>
          <p:cNvPr id="10" name="Shape 8"/>
          <p:cNvSpPr/>
          <p:nvPr/>
        </p:nvSpPr>
        <p:spPr>
          <a:xfrm>
            <a:off x="4754880" y="2457450"/>
            <a:ext cx="1554480" cy="594360"/>
          </a:xfrm>
          <a:prstGeom prst="roundRect">
            <a:avLst>
              <a:gd name="adj" fmla="val 9231"/>
            </a:avLst>
          </a:prstGeom>
          <a:solidFill>
            <a:srgbClr val="4A5568"/>
          </a:solidFill>
          <a:ln w="12700">
            <a:solidFill>
              <a:srgbClr val="4A5568"/>
            </a:solidFill>
            <a:prstDash val="solid"/>
          </a:ln>
        </p:spPr>
      </p:sp>
      <p:sp>
        <p:nvSpPr>
          <p:cNvPr id="11" name="Text 9"/>
          <p:cNvSpPr/>
          <p:nvPr/>
        </p:nvSpPr>
        <p:spPr>
          <a:xfrm>
            <a:off x="4754880" y="2457450"/>
            <a:ext cx="155448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CSI</a:t>
            </a:r>
            <a:endParaRPr lang="en-US" sz="1000" dirty="0"/>
          </a:p>
          <a:p>
            <a:pPr algn="ctr"/>
            <a:r>
              <a:rPr lang="en-US" sz="1000" b="1" dirty="0">
                <a:solidFill>
                  <a:srgbClr val="FFFFFF"/>
                </a:solidFill>
                <a:latin typeface="Calibri" pitchFamily="34" charset="0"/>
                <a:ea typeface="Calibri" pitchFamily="34" charset="-122"/>
                <a:cs typeface="Calibri" pitchFamily="34" charset="-120"/>
              </a:rPr>
              <a:t>4 MHz</a:t>
            </a:r>
            <a:endParaRPr lang="en-US" sz="1000" dirty="0"/>
          </a:p>
        </p:txBody>
      </p:sp>
      <p:sp>
        <p:nvSpPr>
          <p:cNvPr id="12" name="Text 10"/>
          <p:cNvSpPr/>
          <p:nvPr/>
        </p:nvSpPr>
        <p:spPr>
          <a:xfrm>
            <a:off x="4754880" y="2548890"/>
            <a:ext cx="457200" cy="228600"/>
          </a:xfrm>
          <a:prstGeom prst="rect">
            <a:avLst/>
          </a:prstGeom>
          <a:noFill/>
          <a:ln/>
        </p:spPr>
        <p:txBody>
          <a:bodyPr wrap="square" lIns="0" tIns="0" rIns="0" bIns="0" rtlCol="0" anchor="ctr"/>
          <a:lstStyle/>
          <a:p>
            <a:r>
              <a:rPr lang="en-US" sz="700" dirty="0">
                <a:solidFill>
                  <a:srgbClr val="000000"/>
                </a:solidFill>
                <a:latin typeface="Courier New" pitchFamily="34" charset="0"/>
                <a:ea typeface="Courier New" pitchFamily="34" charset="-122"/>
                <a:cs typeface="Courier New" pitchFamily="34" charset="-120"/>
              </a:rPr>
              <a:t>SW=01</a:t>
            </a:r>
            <a:endParaRPr lang="en-US" sz="700" dirty="0"/>
          </a:p>
        </p:txBody>
      </p:sp>
      <p:sp>
        <p:nvSpPr>
          <p:cNvPr id="13" name="Shape 11"/>
          <p:cNvSpPr/>
          <p:nvPr/>
        </p:nvSpPr>
        <p:spPr>
          <a:xfrm>
            <a:off x="6309360" y="2754630"/>
            <a:ext cx="502920" cy="0"/>
          </a:xfrm>
          <a:prstGeom prst="line">
            <a:avLst/>
          </a:prstGeom>
          <a:noFill/>
          <a:ln w="19050">
            <a:solidFill>
              <a:srgbClr val="4A5568"/>
            </a:solidFill>
            <a:prstDash val="solid"/>
          </a:ln>
        </p:spPr>
      </p:sp>
      <p:sp>
        <p:nvSpPr>
          <p:cNvPr id="14" name="Shape 12"/>
          <p:cNvSpPr/>
          <p:nvPr/>
        </p:nvSpPr>
        <p:spPr>
          <a:xfrm>
            <a:off x="4754880" y="3234690"/>
            <a:ext cx="1554480" cy="594360"/>
          </a:xfrm>
          <a:prstGeom prst="roundRect">
            <a:avLst>
              <a:gd name="adj" fmla="val 9231"/>
            </a:avLst>
          </a:prstGeom>
          <a:solidFill>
            <a:srgbClr val="0D7A5C"/>
          </a:solidFill>
          <a:ln w="12700">
            <a:solidFill>
              <a:srgbClr val="0D7A5C"/>
            </a:solidFill>
            <a:prstDash val="solid"/>
          </a:ln>
        </p:spPr>
      </p:sp>
      <p:sp>
        <p:nvSpPr>
          <p:cNvPr id="15" name="Text 13"/>
          <p:cNvSpPr/>
          <p:nvPr/>
        </p:nvSpPr>
        <p:spPr>
          <a:xfrm>
            <a:off x="4754880" y="3234690"/>
            <a:ext cx="155448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HSE</a:t>
            </a:r>
            <a:endParaRPr lang="en-US" sz="1000" dirty="0"/>
          </a:p>
          <a:p>
            <a:pPr algn="ctr"/>
            <a:r>
              <a:rPr lang="en-US" sz="1000" b="1" dirty="0">
                <a:solidFill>
                  <a:srgbClr val="FFFFFF"/>
                </a:solidFill>
                <a:latin typeface="Calibri" pitchFamily="34" charset="0"/>
                <a:ea typeface="Calibri" pitchFamily="34" charset="-122"/>
                <a:cs typeface="Calibri" pitchFamily="34" charset="-120"/>
              </a:rPr>
              <a:t>4–48MHz</a:t>
            </a:r>
            <a:endParaRPr lang="en-US" sz="1000" dirty="0"/>
          </a:p>
        </p:txBody>
      </p:sp>
      <p:sp>
        <p:nvSpPr>
          <p:cNvPr id="16" name="Text 14"/>
          <p:cNvSpPr/>
          <p:nvPr/>
        </p:nvSpPr>
        <p:spPr>
          <a:xfrm>
            <a:off x="4754880" y="3326130"/>
            <a:ext cx="457200" cy="228600"/>
          </a:xfrm>
          <a:prstGeom prst="rect">
            <a:avLst/>
          </a:prstGeom>
          <a:noFill/>
          <a:ln/>
        </p:spPr>
        <p:txBody>
          <a:bodyPr wrap="square" lIns="0" tIns="0" rIns="0" bIns="0" rtlCol="0" anchor="ctr"/>
          <a:lstStyle/>
          <a:p>
            <a:r>
              <a:rPr lang="en-US" sz="700" dirty="0">
                <a:solidFill>
                  <a:srgbClr val="000000"/>
                </a:solidFill>
                <a:latin typeface="Courier New" pitchFamily="34" charset="0"/>
                <a:ea typeface="Courier New" pitchFamily="34" charset="-122"/>
                <a:cs typeface="Courier New" pitchFamily="34" charset="-120"/>
              </a:rPr>
              <a:t>SW=10</a:t>
            </a:r>
            <a:endParaRPr lang="en-US" sz="700" dirty="0"/>
          </a:p>
        </p:txBody>
      </p:sp>
      <p:sp>
        <p:nvSpPr>
          <p:cNvPr id="17" name="Shape 15"/>
          <p:cNvSpPr/>
          <p:nvPr/>
        </p:nvSpPr>
        <p:spPr>
          <a:xfrm>
            <a:off x="6309360" y="3531870"/>
            <a:ext cx="502920" cy="0"/>
          </a:xfrm>
          <a:prstGeom prst="line">
            <a:avLst/>
          </a:prstGeom>
          <a:noFill/>
          <a:ln w="19050">
            <a:solidFill>
              <a:srgbClr val="0D7A5C"/>
            </a:solidFill>
            <a:prstDash val="solid"/>
          </a:ln>
        </p:spPr>
      </p:sp>
      <p:sp>
        <p:nvSpPr>
          <p:cNvPr id="18" name="Shape 16"/>
          <p:cNvSpPr/>
          <p:nvPr/>
        </p:nvSpPr>
        <p:spPr>
          <a:xfrm>
            <a:off x="4754880" y="4011930"/>
            <a:ext cx="1554480" cy="594360"/>
          </a:xfrm>
          <a:prstGeom prst="roundRect">
            <a:avLst>
              <a:gd name="adj" fmla="val 9231"/>
            </a:avLst>
          </a:prstGeom>
          <a:solidFill>
            <a:srgbClr val="D4660A"/>
          </a:solidFill>
          <a:ln w="12700">
            <a:solidFill>
              <a:srgbClr val="D4660A"/>
            </a:solidFill>
            <a:prstDash val="solid"/>
          </a:ln>
        </p:spPr>
      </p:sp>
      <p:sp>
        <p:nvSpPr>
          <p:cNvPr id="19" name="Text 17"/>
          <p:cNvSpPr/>
          <p:nvPr/>
        </p:nvSpPr>
        <p:spPr>
          <a:xfrm>
            <a:off x="4754880" y="4011930"/>
            <a:ext cx="1554480" cy="59436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PLL1_P</a:t>
            </a:r>
            <a:endParaRPr lang="en-US" sz="1000" dirty="0"/>
          </a:p>
          <a:p>
            <a:pPr algn="ctr"/>
            <a:r>
              <a:rPr lang="en-US" sz="1000" b="1" dirty="0">
                <a:solidFill>
                  <a:srgbClr val="FFFFFF"/>
                </a:solidFill>
                <a:latin typeface="Calibri" pitchFamily="34" charset="0"/>
                <a:ea typeface="Calibri" pitchFamily="34" charset="-122"/>
                <a:cs typeface="Calibri" pitchFamily="34" charset="-120"/>
              </a:rPr>
              <a:t>≤480 MHz</a:t>
            </a:r>
            <a:endParaRPr lang="en-US" sz="1000" dirty="0"/>
          </a:p>
        </p:txBody>
      </p:sp>
      <p:sp>
        <p:nvSpPr>
          <p:cNvPr id="20" name="Text 18"/>
          <p:cNvSpPr/>
          <p:nvPr/>
        </p:nvSpPr>
        <p:spPr>
          <a:xfrm>
            <a:off x="4754880" y="4103370"/>
            <a:ext cx="457200" cy="228600"/>
          </a:xfrm>
          <a:prstGeom prst="rect">
            <a:avLst/>
          </a:prstGeom>
          <a:noFill/>
          <a:ln/>
        </p:spPr>
        <p:txBody>
          <a:bodyPr wrap="square" lIns="0" tIns="0" rIns="0" bIns="0" rtlCol="0" anchor="ctr"/>
          <a:lstStyle/>
          <a:p>
            <a:r>
              <a:rPr lang="en-US" sz="700" dirty="0">
                <a:solidFill>
                  <a:srgbClr val="000000"/>
                </a:solidFill>
                <a:latin typeface="Courier New" pitchFamily="34" charset="0"/>
                <a:ea typeface="Courier New" pitchFamily="34" charset="-122"/>
                <a:cs typeface="Courier New" pitchFamily="34" charset="-120"/>
              </a:rPr>
              <a:t>SW=11</a:t>
            </a:r>
            <a:endParaRPr lang="en-US" sz="700" dirty="0"/>
          </a:p>
        </p:txBody>
      </p:sp>
      <p:sp>
        <p:nvSpPr>
          <p:cNvPr id="21" name="Shape 19"/>
          <p:cNvSpPr/>
          <p:nvPr/>
        </p:nvSpPr>
        <p:spPr>
          <a:xfrm>
            <a:off x="6309360" y="4309110"/>
            <a:ext cx="502920" cy="0"/>
          </a:xfrm>
          <a:prstGeom prst="line">
            <a:avLst/>
          </a:prstGeom>
          <a:noFill/>
          <a:ln w="19050">
            <a:solidFill>
              <a:srgbClr val="D4660A"/>
            </a:solidFill>
            <a:prstDash val="solid"/>
          </a:ln>
        </p:spPr>
      </p:sp>
      <p:sp>
        <p:nvSpPr>
          <p:cNvPr id="22" name="Shape 20"/>
          <p:cNvSpPr/>
          <p:nvPr/>
        </p:nvSpPr>
        <p:spPr>
          <a:xfrm>
            <a:off x="6812280" y="1863090"/>
            <a:ext cx="914400" cy="2697480"/>
          </a:xfrm>
          <a:prstGeom prst="roundRect">
            <a:avLst>
              <a:gd name="adj" fmla="val 8000"/>
            </a:avLst>
          </a:prstGeom>
          <a:solidFill>
            <a:srgbClr val="1A3A5C"/>
          </a:solidFill>
          <a:ln w="25400">
            <a:solidFill>
              <a:srgbClr val="0080C8"/>
            </a:solidFill>
            <a:prstDash val="solid"/>
          </a:ln>
          <a:effectLst>
            <a:outerShdw blurRad="101600" dist="25400" dir="2700000" algn="bl" rotWithShape="0">
              <a:srgbClr val="000000">
                <a:alpha val="10000"/>
              </a:srgbClr>
            </a:outerShdw>
          </a:effectLst>
        </p:spPr>
      </p:sp>
      <p:sp>
        <p:nvSpPr>
          <p:cNvPr id="23" name="Text 21"/>
          <p:cNvSpPr/>
          <p:nvPr/>
        </p:nvSpPr>
        <p:spPr>
          <a:xfrm>
            <a:off x="6812280" y="1863090"/>
            <a:ext cx="914400" cy="2697480"/>
          </a:xfrm>
          <a:prstGeom prst="rect">
            <a:avLst/>
          </a:prstGeom>
          <a:noFill/>
          <a:ln/>
        </p:spPr>
        <p:txBody>
          <a:bodyPr wrap="square" rtlCol="0" anchor="ctr"/>
          <a:lstStyle/>
          <a:p>
            <a:pPr algn="ctr"/>
            <a:r>
              <a:rPr lang="en-US" sz="1200" b="1" dirty="0">
                <a:solidFill>
                  <a:srgbClr val="FFFFFF"/>
                </a:solidFill>
                <a:latin typeface="Calibri" pitchFamily="34" charset="0"/>
                <a:ea typeface="Calibri" pitchFamily="34" charset="-122"/>
                <a:cs typeface="Calibri" pitchFamily="34" charset="-120"/>
              </a:rPr>
              <a:t>M</a:t>
            </a:r>
            <a:endParaRPr lang="en-US" sz="1200" dirty="0"/>
          </a:p>
          <a:p>
            <a:pPr algn="ctr"/>
            <a:r>
              <a:rPr lang="en-US" sz="1200" b="1" dirty="0">
                <a:solidFill>
                  <a:srgbClr val="FFFFFF"/>
                </a:solidFill>
                <a:latin typeface="Calibri" pitchFamily="34" charset="0"/>
                <a:ea typeface="Calibri" pitchFamily="34" charset="-122"/>
                <a:cs typeface="Calibri" pitchFamily="34" charset="-120"/>
              </a:rPr>
              <a:t>U</a:t>
            </a:r>
            <a:endParaRPr lang="en-US" sz="1200" dirty="0"/>
          </a:p>
          <a:p>
            <a:pPr algn="ctr"/>
            <a:r>
              <a:rPr lang="en-US" sz="1200" b="1" dirty="0">
                <a:solidFill>
                  <a:srgbClr val="FFFFFF"/>
                </a:solidFill>
                <a:latin typeface="Calibri" pitchFamily="34" charset="0"/>
                <a:ea typeface="Calibri" pitchFamily="34" charset="-122"/>
                <a:cs typeface="Calibri" pitchFamily="34" charset="-120"/>
              </a:rPr>
              <a:t>X</a:t>
            </a:r>
            <a:endParaRPr lang="en-US" sz="1200" dirty="0"/>
          </a:p>
        </p:txBody>
      </p:sp>
      <p:sp>
        <p:nvSpPr>
          <p:cNvPr id="24" name="Shape 22"/>
          <p:cNvSpPr/>
          <p:nvPr/>
        </p:nvSpPr>
        <p:spPr>
          <a:xfrm>
            <a:off x="7726680" y="3211830"/>
            <a:ext cx="457200" cy="0"/>
          </a:xfrm>
          <a:prstGeom prst="line">
            <a:avLst/>
          </a:prstGeom>
          <a:noFill/>
          <a:ln w="38100">
            <a:solidFill>
              <a:srgbClr val="0080C8"/>
            </a:solidFill>
            <a:prstDash val="solid"/>
          </a:ln>
        </p:spPr>
      </p:sp>
      <p:sp>
        <p:nvSpPr>
          <p:cNvPr id="25" name="Shape 23"/>
          <p:cNvSpPr/>
          <p:nvPr/>
        </p:nvSpPr>
        <p:spPr>
          <a:xfrm>
            <a:off x="8183880" y="2960370"/>
            <a:ext cx="731520" cy="502920"/>
          </a:xfrm>
          <a:prstGeom prst="roundRect">
            <a:avLst>
              <a:gd name="adj" fmla="val 10909"/>
            </a:avLst>
          </a:prstGeom>
          <a:solidFill>
            <a:srgbClr val="0D7A5C"/>
          </a:solidFill>
          <a:ln w="12700">
            <a:solidFill>
              <a:srgbClr val="0D7A5C"/>
            </a:solidFill>
            <a:prstDash val="solid"/>
          </a:ln>
        </p:spPr>
      </p:sp>
      <p:sp>
        <p:nvSpPr>
          <p:cNvPr id="26" name="Text 24"/>
          <p:cNvSpPr/>
          <p:nvPr/>
        </p:nvSpPr>
        <p:spPr>
          <a:xfrm>
            <a:off x="8183880" y="2960370"/>
            <a:ext cx="731520" cy="50292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SYSCLK</a:t>
            </a:r>
            <a:endParaRPr lang="en-US" sz="900" dirty="0"/>
          </a:p>
        </p:txBody>
      </p:sp>
      <p:sp>
        <p:nvSpPr>
          <p:cNvPr id="27" name="Text 25"/>
          <p:cNvSpPr/>
          <p:nvPr/>
        </p:nvSpPr>
        <p:spPr>
          <a:xfrm>
            <a:off x="6675120" y="4697730"/>
            <a:ext cx="2194560" cy="274320"/>
          </a:xfrm>
          <a:prstGeom prst="rect">
            <a:avLst/>
          </a:prstGeom>
          <a:noFill/>
          <a:ln/>
        </p:spPr>
        <p:txBody>
          <a:bodyPr wrap="square" lIns="0" tIns="0" rIns="0" bIns="0" rtlCol="0" anchor="ctr"/>
          <a:lstStyle/>
          <a:p>
            <a:pPr algn="ctr"/>
            <a:r>
              <a:rPr lang="en-US" sz="900" i="1" dirty="0">
                <a:solidFill>
                  <a:srgbClr val="4A5568"/>
                </a:solidFill>
                <a:latin typeface="Calibri" pitchFamily="34" charset="0"/>
                <a:ea typeface="Calibri" pitchFamily="34" charset="-122"/>
                <a:cs typeface="Calibri" pitchFamily="34" charset="-120"/>
              </a:rPr>
              <a:t>SW bits select input</a:t>
            </a:r>
            <a:endParaRPr lang="en-US" sz="900" dirty="0"/>
          </a:p>
        </p:txBody>
      </p:sp>
      <p:sp>
        <p:nvSpPr>
          <p:cNvPr id="28" name="Shape 26"/>
          <p:cNvSpPr/>
          <p:nvPr/>
        </p:nvSpPr>
        <p:spPr>
          <a:xfrm>
            <a:off x="365760" y="5228082"/>
            <a:ext cx="8412480" cy="566928"/>
          </a:xfrm>
          <a:prstGeom prst="roundRect">
            <a:avLst>
              <a:gd name="adj" fmla="val 11290"/>
            </a:avLst>
          </a:prstGeom>
          <a:solidFill>
            <a:srgbClr val="E8F4FB"/>
          </a:solidFill>
          <a:ln w="12700">
            <a:solidFill>
              <a:srgbClr val="0080C8"/>
            </a:solidFill>
            <a:prstDash val="solid"/>
          </a:ln>
        </p:spPr>
      </p:sp>
      <p:sp>
        <p:nvSpPr>
          <p:cNvPr id="29" name="Text 27"/>
          <p:cNvSpPr/>
          <p:nvPr/>
        </p:nvSpPr>
        <p:spPr>
          <a:xfrm>
            <a:off x="502920" y="5273802"/>
            <a:ext cx="8138160" cy="475488"/>
          </a:xfrm>
          <a:prstGeom prst="rect">
            <a:avLst/>
          </a:prstGeom>
          <a:noFill/>
          <a:ln/>
        </p:spPr>
        <p:txBody>
          <a:bodyPr wrap="square" lIns="0" tIns="0" rIns="0" bIns="0" rtlCol="0" anchor="ctr"/>
          <a:lstStyle/>
          <a:p>
            <a:r>
              <a:rPr lang="en-US" sz="1100" dirty="0">
                <a:solidFill>
                  <a:srgbClr val="1A3A5C"/>
                </a:solidFill>
                <a:latin typeface="Calibri" pitchFamily="34" charset="0"/>
                <a:ea typeface="Calibri" pitchFamily="34" charset="-122"/>
                <a:cs typeface="Calibri" pitchFamily="34" charset="-120"/>
              </a:rPr>
              <a:t>💡  Always verify SWS == SW after switching clocks. The hardware only commits when the new source is stable. Reading SWS before it matches SW means the switch is not complete.</a:t>
            </a:r>
            <a:endParaRPr lang="en-US" sz="1100" dirty="0"/>
          </a:p>
        </p:txBody>
      </p:sp>
    </p:spTree>
    <p:extLst>
      <p:ext uri="{BB962C8B-B14F-4D97-AF65-F5344CB8AC3E}">
        <p14:creationId xmlns:p14="http://schemas.microsoft.com/office/powerpoint/2010/main" val="3602184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94360"/>
          </a:xfrm>
          <a:prstGeom prst="rect">
            <a:avLst/>
          </a:prstGeom>
          <a:solidFill>
            <a:srgbClr val="005F8E"/>
          </a:solidFill>
          <a:ln w="12700">
            <a:solidFill>
              <a:srgbClr val="005F8E"/>
            </a:solidFill>
            <a:prstDash val="solid"/>
          </a:ln>
        </p:spPr>
      </p:sp>
      <p:sp>
        <p:nvSpPr>
          <p:cNvPr id="3" name="Text 1"/>
          <p:cNvSpPr/>
          <p:nvPr/>
        </p:nvSpPr>
        <p:spPr>
          <a:xfrm>
            <a:off x="365760" y="857250"/>
            <a:ext cx="8412480" cy="594360"/>
          </a:xfrm>
          <a:prstGeom prst="rect">
            <a:avLst/>
          </a:prstGeom>
          <a:noFill/>
          <a:ln/>
        </p:spPr>
        <p:txBody>
          <a:bodyPr wrap="square" lIns="0" tIns="0" rIns="0" bIns="0" rtlCol="0" anchor="ctr"/>
          <a:lstStyle/>
          <a:p>
            <a:r>
              <a:rPr lang="en-US" b="1" dirty="0">
                <a:solidFill>
                  <a:srgbClr val="FFFFFF"/>
                </a:solidFill>
                <a:latin typeface="Cambria" pitchFamily="34" charset="0"/>
                <a:ea typeface="Cambria" pitchFamily="34" charset="-122"/>
                <a:cs typeface="Cambria" pitchFamily="34" charset="-120"/>
              </a:rPr>
              <a:t>Peripheral Prescalers — AHB, APB1, APB2, APB3, APB4</a:t>
            </a:r>
            <a:endParaRPr lang="en-US" dirty="0"/>
          </a:p>
        </p:txBody>
      </p:sp>
      <p:sp>
        <p:nvSpPr>
          <p:cNvPr id="4" name="Text 2"/>
          <p:cNvSpPr/>
          <p:nvPr/>
        </p:nvSpPr>
        <p:spPr>
          <a:xfrm>
            <a:off x="365760" y="1588770"/>
            <a:ext cx="4114800" cy="320040"/>
          </a:xfrm>
          <a:prstGeom prst="rect">
            <a:avLst/>
          </a:prstGeom>
          <a:noFill/>
          <a:ln/>
        </p:spPr>
        <p:txBody>
          <a:bodyPr wrap="square" lIns="0" tIns="0" rIns="0" bIns="0" rtlCol="0" anchor="ctr"/>
          <a:lstStyle/>
          <a:p>
            <a:r>
              <a:rPr lang="en-US" sz="1400" b="1" dirty="0">
                <a:solidFill>
                  <a:srgbClr val="1A3A5C"/>
                </a:solidFill>
                <a:latin typeface="Cambria" pitchFamily="34" charset="0"/>
                <a:ea typeface="Cambria" pitchFamily="34" charset="-122"/>
                <a:cs typeface="Cambria" pitchFamily="34" charset="-120"/>
              </a:rPr>
              <a:t>Why Prescalers?</a:t>
            </a:r>
            <a:endParaRPr lang="en-US" sz="1400" dirty="0"/>
          </a:p>
        </p:txBody>
      </p:sp>
      <p:sp>
        <p:nvSpPr>
          <p:cNvPr id="5" name="Text 3"/>
          <p:cNvSpPr/>
          <p:nvPr/>
        </p:nvSpPr>
        <p:spPr>
          <a:xfrm>
            <a:off x="365760" y="1954530"/>
            <a:ext cx="4114800" cy="3749040"/>
          </a:xfrm>
          <a:prstGeom prst="rect">
            <a:avLst/>
          </a:prstGeom>
          <a:noFill/>
          <a:ln/>
        </p:spPr>
        <p:txBody>
          <a:bodyPr wrap="square" rtlCol="0" anchor="t"/>
          <a:lstStyle/>
          <a:p>
            <a:pPr>
              <a:spcAft>
                <a:spcPts val="500"/>
              </a:spcAft>
            </a:pPr>
            <a:r>
              <a:rPr lang="en-US" sz="1100" dirty="0">
                <a:solidFill>
                  <a:srgbClr val="1A1A2E"/>
                </a:solidFill>
                <a:latin typeface="Calibri" pitchFamily="34" charset="0"/>
                <a:ea typeface="Calibri" pitchFamily="34" charset="-122"/>
                <a:cs typeface="Calibri" pitchFamily="34" charset="-120"/>
              </a:rPr>
              <a:t>Not every peripheral can run at 480 MHz. Older or low-speed peripherals have maximum clock limits. Prescalers divide SYSCLK/AHB down to a safe frequency.</a:t>
            </a:r>
            <a:endParaRPr lang="en-US" sz="1100" dirty="0"/>
          </a:p>
          <a:p>
            <a:pPr>
              <a:spcAft>
                <a:spcPts val="200"/>
              </a:spcAft>
            </a:pPr>
            <a:r>
              <a:rPr lang="en-US" sz="1100" b="1" dirty="0">
                <a:solidFill>
                  <a:srgbClr val="1A1A2E"/>
                </a:solidFill>
                <a:latin typeface="Calibri" pitchFamily="34" charset="0"/>
                <a:ea typeface="Calibri" pitchFamily="34" charset="-122"/>
                <a:cs typeface="Calibri" pitchFamily="34" charset="-120"/>
              </a:rPr>
              <a:t>Bus Hierarchy (SYSCLK → peripherals):</a:t>
            </a:r>
            <a:endParaRPr lang="en-US" sz="1100" dirty="0"/>
          </a:p>
          <a:p>
            <a:pPr marL="342900" indent="-342900">
              <a:spcAft>
                <a:spcPts val="200"/>
              </a:spcAft>
              <a:buSzPct val="100000"/>
              <a:buChar char="•"/>
            </a:pPr>
            <a:r>
              <a:rPr lang="en-US" sz="1100" dirty="0">
                <a:solidFill>
                  <a:srgbClr val="1A1A2E"/>
                </a:solidFill>
                <a:latin typeface="Calibri" pitchFamily="34" charset="0"/>
                <a:ea typeface="Calibri" pitchFamily="34" charset="-122"/>
                <a:cs typeface="Calibri" pitchFamily="34" charset="-120"/>
              </a:rPr>
              <a:t>SYSCLK → AHB (÷1–512) → HCLK (CPU, DMA, Flash, FMC)</a:t>
            </a:r>
            <a:endParaRPr lang="en-US" sz="1100" dirty="0"/>
          </a:p>
          <a:p>
            <a:pPr marL="342900" indent="-342900">
              <a:spcAft>
                <a:spcPts val="200"/>
              </a:spcAft>
              <a:buSzPct val="100000"/>
              <a:buChar char="•"/>
            </a:pPr>
            <a:r>
              <a:rPr lang="en-US" sz="1100" dirty="0">
                <a:solidFill>
                  <a:srgbClr val="1A1A2E"/>
                </a:solidFill>
                <a:latin typeface="Calibri" pitchFamily="34" charset="0"/>
                <a:ea typeface="Calibri" pitchFamily="34" charset="-122"/>
                <a:cs typeface="Calibri" pitchFamily="34" charset="-120"/>
              </a:rPr>
              <a:t>HCLK → APB1 (÷1–16) → PCLK1 (TIM2–7, TIM12–14, USART2–5, SPI2–3, I2C1–3, CAN)</a:t>
            </a:r>
            <a:endParaRPr lang="en-US" sz="1100" dirty="0"/>
          </a:p>
          <a:p>
            <a:pPr marL="342900" indent="-342900">
              <a:spcAft>
                <a:spcPts val="200"/>
              </a:spcAft>
              <a:buSzPct val="100000"/>
              <a:buChar char="•"/>
            </a:pPr>
            <a:r>
              <a:rPr lang="en-US" sz="1100" dirty="0">
                <a:solidFill>
                  <a:srgbClr val="1A1A2E"/>
                </a:solidFill>
                <a:latin typeface="Calibri" pitchFamily="34" charset="0"/>
                <a:ea typeface="Calibri" pitchFamily="34" charset="-122"/>
                <a:cs typeface="Calibri" pitchFamily="34" charset="-120"/>
              </a:rPr>
              <a:t>HCLK → APB2 (÷1–16) → PCLK2 (TIM1/8, USART1/6, SPI1/4/5, ADC, SDMMC)</a:t>
            </a:r>
            <a:endParaRPr lang="en-US" sz="1100" dirty="0"/>
          </a:p>
          <a:p>
            <a:pPr marL="342900" indent="-342900">
              <a:spcAft>
                <a:spcPts val="200"/>
              </a:spcAft>
              <a:buSzPct val="100000"/>
              <a:buChar char="•"/>
            </a:pPr>
            <a:r>
              <a:rPr lang="en-US" sz="1100" dirty="0">
                <a:solidFill>
                  <a:srgbClr val="1A1A2E"/>
                </a:solidFill>
                <a:latin typeface="Calibri" pitchFamily="34" charset="0"/>
                <a:ea typeface="Calibri" pitchFamily="34" charset="-122"/>
                <a:cs typeface="Calibri" pitchFamily="34" charset="-120"/>
              </a:rPr>
              <a:t>HCLK → APB3 (÷1–16) → PCLK3 (LTDC, WWDG1)</a:t>
            </a:r>
            <a:endParaRPr lang="en-US" sz="1100" dirty="0"/>
          </a:p>
          <a:p>
            <a:pPr marL="342900" indent="-342900">
              <a:spcAft>
                <a:spcPts val="500"/>
              </a:spcAft>
              <a:buSzPct val="100000"/>
              <a:buChar char="•"/>
            </a:pPr>
            <a:r>
              <a:rPr lang="en-US" sz="1100" dirty="0">
                <a:solidFill>
                  <a:srgbClr val="1A1A2E"/>
                </a:solidFill>
                <a:latin typeface="Calibri" pitchFamily="34" charset="0"/>
                <a:ea typeface="Calibri" pitchFamily="34" charset="-122"/>
                <a:cs typeface="Calibri" pitchFamily="34" charset="-120"/>
              </a:rPr>
              <a:t>HCLK → APB4 (÷1–16) → PCLK4 (SPI6, I2C4, LPUART1, LPTIM2–5, COMP, VREF, SAI4)</a:t>
            </a:r>
            <a:endParaRPr lang="en-US" sz="1100" dirty="0"/>
          </a:p>
          <a:p>
            <a:pPr>
              <a:spcAft>
                <a:spcPts val="300"/>
              </a:spcAft>
            </a:pPr>
            <a:r>
              <a:rPr lang="en-US" sz="1100" dirty="0">
                <a:solidFill>
                  <a:srgbClr val="1A1A2E"/>
                </a:solidFill>
                <a:latin typeface="Calibri" pitchFamily="34" charset="0"/>
                <a:ea typeface="Calibri" pitchFamily="34" charset="-122"/>
                <a:cs typeface="Calibri" pitchFamily="34" charset="-120"/>
              </a:rPr>
              <a:t>Timer clock multiplier: When APBx prescaler &gt; 1, timer clocks are automatically doubled (×2) by hardware — important when calculating timer frequencies!</a:t>
            </a:r>
            <a:endParaRPr lang="en-US" sz="1100" dirty="0"/>
          </a:p>
        </p:txBody>
      </p:sp>
      <p:sp>
        <p:nvSpPr>
          <p:cNvPr id="6" name="Shape 4"/>
          <p:cNvSpPr/>
          <p:nvPr/>
        </p:nvSpPr>
        <p:spPr>
          <a:xfrm>
            <a:off x="5760720" y="1588770"/>
            <a:ext cx="1645920" cy="457200"/>
          </a:xfrm>
          <a:prstGeom prst="roundRect">
            <a:avLst>
              <a:gd name="adj" fmla="val 12000"/>
            </a:avLst>
          </a:prstGeom>
          <a:solidFill>
            <a:srgbClr val="1A3A5C"/>
          </a:solidFill>
          <a:ln w="12700">
            <a:solidFill>
              <a:srgbClr val="1A3A5C"/>
            </a:solidFill>
            <a:prstDash val="solid"/>
          </a:ln>
        </p:spPr>
      </p:sp>
      <p:sp>
        <p:nvSpPr>
          <p:cNvPr id="7" name="Text 5"/>
          <p:cNvSpPr/>
          <p:nvPr/>
        </p:nvSpPr>
        <p:spPr>
          <a:xfrm>
            <a:off x="5760720" y="1588770"/>
            <a:ext cx="1645920" cy="45720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SYSCLK</a:t>
            </a:r>
            <a:endParaRPr lang="en-US" sz="900" dirty="0"/>
          </a:p>
          <a:p>
            <a:pPr algn="ctr"/>
            <a:r>
              <a:rPr lang="en-US" sz="900" b="1" dirty="0">
                <a:solidFill>
                  <a:srgbClr val="FFFFFF"/>
                </a:solidFill>
                <a:latin typeface="Calibri" pitchFamily="34" charset="0"/>
                <a:ea typeface="Calibri" pitchFamily="34" charset="-122"/>
                <a:cs typeface="Calibri" pitchFamily="34" charset="-120"/>
              </a:rPr>
              <a:t>480 MHz</a:t>
            </a:r>
            <a:endParaRPr lang="en-US" sz="900" dirty="0"/>
          </a:p>
        </p:txBody>
      </p:sp>
      <p:sp>
        <p:nvSpPr>
          <p:cNvPr id="8" name="Shape 6"/>
          <p:cNvSpPr/>
          <p:nvPr/>
        </p:nvSpPr>
        <p:spPr>
          <a:xfrm>
            <a:off x="6583680" y="2045970"/>
            <a:ext cx="0" cy="320040"/>
          </a:xfrm>
          <a:prstGeom prst="line">
            <a:avLst/>
          </a:prstGeom>
          <a:noFill/>
          <a:ln w="25400">
            <a:solidFill>
              <a:srgbClr val="1A3A5C"/>
            </a:solidFill>
            <a:prstDash val="solid"/>
          </a:ln>
        </p:spPr>
      </p:sp>
      <p:sp>
        <p:nvSpPr>
          <p:cNvPr id="9" name="Shape 7"/>
          <p:cNvSpPr/>
          <p:nvPr/>
        </p:nvSpPr>
        <p:spPr>
          <a:xfrm>
            <a:off x="5760720" y="2366010"/>
            <a:ext cx="1645920" cy="457200"/>
          </a:xfrm>
          <a:prstGeom prst="roundRect">
            <a:avLst>
              <a:gd name="adj" fmla="val 12000"/>
            </a:avLst>
          </a:prstGeom>
          <a:solidFill>
            <a:srgbClr val="0080C8"/>
          </a:solidFill>
          <a:ln w="12700">
            <a:solidFill>
              <a:srgbClr val="0080C8"/>
            </a:solidFill>
            <a:prstDash val="solid"/>
          </a:ln>
        </p:spPr>
      </p:sp>
      <p:sp>
        <p:nvSpPr>
          <p:cNvPr id="10" name="Text 8"/>
          <p:cNvSpPr/>
          <p:nvPr/>
        </p:nvSpPr>
        <p:spPr>
          <a:xfrm>
            <a:off x="5760720" y="2366010"/>
            <a:ext cx="1645920" cy="457200"/>
          </a:xfrm>
          <a:prstGeom prst="rect">
            <a:avLst/>
          </a:prstGeom>
          <a:noFill/>
          <a:ln/>
        </p:spPr>
        <p:txBody>
          <a:bodyPr wrap="square" rtlCol="0" anchor="ctr"/>
          <a:lstStyle/>
          <a:p>
            <a:pPr algn="ctr"/>
            <a:r>
              <a:rPr lang="en-US" sz="800" b="1" dirty="0">
                <a:solidFill>
                  <a:srgbClr val="FFFFFF"/>
                </a:solidFill>
                <a:latin typeface="Calibri" pitchFamily="34" charset="0"/>
                <a:ea typeface="Calibri" pitchFamily="34" charset="-122"/>
                <a:cs typeface="Calibri" pitchFamily="34" charset="-120"/>
              </a:rPr>
              <a:t>AHB ÷1–512</a:t>
            </a:r>
            <a:endParaRPr lang="en-US" sz="800" dirty="0"/>
          </a:p>
          <a:p>
            <a:pPr algn="ctr"/>
            <a:r>
              <a:rPr lang="en-US" sz="800" b="1" dirty="0">
                <a:solidFill>
                  <a:srgbClr val="FFFFFF"/>
                </a:solidFill>
                <a:latin typeface="Calibri" pitchFamily="34" charset="0"/>
                <a:ea typeface="Calibri" pitchFamily="34" charset="-122"/>
                <a:cs typeface="Calibri" pitchFamily="34" charset="-120"/>
              </a:rPr>
              <a:t>(HCLK ≤240MHz)</a:t>
            </a:r>
            <a:endParaRPr lang="en-US" sz="800" dirty="0"/>
          </a:p>
        </p:txBody>
      </p:sp>
      <p:sp>
        <p:nvSpPr>
          <p:cNvPr id="11" name="Shape 9"/>
          <p:cNvSpPr/>
          <p:nvPr/>
        </p:nvSpPr>
        <p:spPr>
          <a:xfrm>
            <a:off x="4846320" y="3143250"/>
            <a:ext cx="3291840" cy="0"/>
          </a:xfrm>
          <a:prstGeom prst="line">
            <a:avLst/>
          </a:prstGeom>
          <a:noFill/>
          <a:ln w="25400">
            <a:solidFill>
              <a:srgbClr val="0080C8"/>
            </a:solidFill>
            <a:prstDash val="solid"/>
          </a:ln>
        </p:spPr>
      </p:sp>
      <p:sp>
        <p:nvSpPr>
          <p:cNvPr id="12" name="Shape 10"/>
          <p:cNvSpPr/>
          <p:nvPr/>
        </p:nvSpPr>
        <p:spPr>
          <a:xfrm>
            <a:off x="5303520" y="3143250"/>
            <a:ext cx="0" cy="320040"/>
          </a:xfrm>
          <a:prstGeom prst="line">
            <a:avLst/>
          </a:prstGeom>
          <a:noFill/>
          <a:ln w="19050">
            <a:solidFill>
              <a:srgbClr val="0D7A5C"/>
            </a:solidFill>
            <a:prstDash val="solid"/>
          </a:ln>
        </p:spPr>
      </p:sp>
      <p:sp>
        <p:nvSpPr>
          <p:cNvPr id="13" name="Shape 11"/>
          <p:cNvSpPr/>
          <p:nvPr/>
        </p:nvSpPr>
        <p:spPr>
          <a:xfrm>
            <a:off x="4663440" y="3463290"/>
            <a:ext cx="1005840" cy="1508760"/>
          </a:xfrm>
          <a:prstGeom prst="roundRect">
            <a:avLst>
              <a:gd name="adj" fmla="val 5455"/>
            </a:avLst>
          </a:prstGeom>
          <a:solidFill>
            <a:srgbClr val="0D7A5C"/>
          </a:solidFill>
          <a:ln w="12700">
            <a:solidFill>
              <a:srgbClr val="0D7A5C"/>
            </a:solidFill>
            <a:prstDash val="solid"/>
          </a:ln>
          <a:effectLst>
            <a:outerShdw blurRad="101600" dist="25400" dir="2700000" algn="bl" rotWithShape="0">
              <a:srgbClr val="000000">
                <a:alpha val="10000"/>
              </a:srgbClr>
            </a:outerShdw>
          </a:effectLst>
        </p:spPr>
      </p:sp>
      <p:sp>
        <p:nvSpPr>
          <p:cNvPr id="14" name="Text 12"/>
          <p:cNvSpPr/>
          <p:nvPr/>
        </p:nvSpPr>
        <p:spPr>
          <a:xfrm>
            <a:off x="4663440" y="3463290"/>
            <a:ext cx="1005840" cy="1508760"/>
          </a:xfrm>
          <a:prstGeom prst="rect">
            <a:avLst/>
          </a:prstGeom>
          <a:noFill/>
          <a:ln/>
        </p:spPr>
        <p:txBody>
          <a:bodyPr wrap="square" rtlCol="0" anchor="ctr"/>
          <a:lstStyle/>
          <a:p>
            <a:pPr algn="ctr"/>
            <a:r>
              <a:rPr lang="en-US" sz="800" dirty="0">
                <a:solidFill>
                  <a:srgbClr val="FFFFFF"/>
                </a:solidFill>
                <a:latin typeface="Calibri" pitchFamily="34" charset="0"/>
                <a:ea typeface="Calibri" pitchFamily="34" charset="-122"/>
                <a:cs typeface="Calibri" pitchFamily="34" charset="-120"/>
              </a:rPr>
              <a:t>APB1</a:t>
            </a:r>
            <a:endParaRPr lang="en-US" sz="800" dirty="0"/>
          </a:p>
          <a:p>
            <a:pPr algn="ctr"/>
            <a:r>
              <a:rPr lang="en-US" sz="800" dirty="0">
                <a:solidFill>
                  <a:srgbClr val="FFFFFF"/>
                </a:solidFill>
                <a:latin typeface="Calibri" pitchFamily="34" charset="0"/>
                <a:ea typeface="Calibri" pitchFamily="34" charset="-122"/>
                <a:cs typeface="Calibri" pitchFamily="34" charset="-120"/>
              </a:rPr>
              <a:t>÷1–16</a:t>
            </a:r>
            <a:endParaRPr lang="en-US" sz="800" dirty="0"/>
          </a:p>
          <a:p>
            <a:pPr algn="ctr"/>
            <a:r>
              <a:rPr lang="en-US" sz="800" dirty="0">
                <a:solidFill>
                  <a:srgbClr val="FFFFFF"/>
                </a:solidFill>
                <a:latin typeface="Calibri" pitchFamily="34" charset="0"/>
                <a:ea typeface="Calibri" pitchFamily="34" charset="-122"/>
                <a:cs typeface="Calibri" pitchFamily="34" charset="-120"/>
              </a:rPr>
              <a:t>PCLK1 ≤120MHz</a:t>
            </a:r>
            <a:endParaRPr lang="en-US" sz="800" dirty="0"/>
          </a:p>
          <a:p>
            <a:pPr algn="ctr"/>
            <a:r>
              <a:rPr lang="en-US" sz="800" dirty="0">
                <a:solidFill>
                  <a:srgbClr val="FFFFFF"/>
                </a:solidFill>
                <a:latin typeface="Calibri" pitchFamily="34" charset="0"/>
                <a:ea typeface="Calibri" pitchFamily="34" charset="-122"/>
                <a:cs typeface="Calibri" pitchFamily="34" charset="-120"/>
              </a:rPr>
              <a:t>TIM2-7, UART2-5</a:t>
            </a:r>
            <a:endParaRPr lang="en-US" sz="800" dirty="0"/>
          </a:p>
          <a:p>
            <a:pPr algn="ctr"/>
            <a:r>
              <a:rPr lang="en-US" sz="800" dirty="0">
                <a:solidFill>
                  <a:srgbClr val="FFFFFF"/>
                </a:solidFill>
                <a:latin typeface="Calibri" pitchFamily="34" charset="0"/>
                <a:ea typeface="Calibri" pitchFamily="34" charset="-122"/>
                <a:cs typeface="Calibri" pitchFamily="34" charset="-120"/>
              </a:rPr>
              <a:t>I2C, CAN</a:t>
            </a:r>
            <a:endParaRPr lang="en-US" sz="800" dirty="0"/>
          </a:p>
        </p:txBody>
      </p:sp>
      <p:sp>
        <p:nvSpPr>
          <p:cNvPr id="15" name="Shape 13"/>
          <p:cNvSpPr/>
          <p:nvPr/>
        </p:nvSpPr>
        <p:spPr>
          <a:xfrm>
            <a:off x="6400800" y="3143250"/>
            <a:ext cx="0" cy="320040"/>
          </a:xfrm>
          <a:prstGeom prst="line">
            <a:avLst/>
          </a:prstGeom>
          <a:noFill/>
          <a:ln w="19050">
            <a:solidFill>
              <a:srgbClr val="0D7A7A"/>
            </a:solidFill>
            <a:prstDash val="solid"/>
          </a:ln>
        </p:spPr>
      </p:sp>
      <p:sp>
        <p:nvSpPr>
          <p:cNvPr id="16" name="Shape 14"/>
          <p:cNvSpPr/>
          <p:nvPr/>
        </p:nvSpPr>
        <p:spPr>
          <a:xfrm>
            <a:off x="5760720" y="3463290"/>
            <a:ext cx="1005840" cy="1508760"/>
          </a:xfrm>
          <a:prstGeom prst="roundRect">
            <a:avLst>
              <a:gd name="adj" fmla="val 5455"/>
            </a:avLst>
          </a:prstGeom>
          <a:solidFill>
            <a:srgbClr val="0D7A7A"/>
          </a:solidFill>
          <a:ln w="12700">
            <a:solidFill>
              <a:srgbClr val="0D7A7A"/>
            </a:solidFill>
            <a:prstDash val="solid"/>
          </a:ln>
          <a:effectLst>
            <a:outerShdw blurRad="101600" dist="25400" dir="2700000" algn="bl" rotWithShape="0">
              <a:srgbClr val="000000">
                <a:alpha val="10000"/>
              </a:srgbClr>
            </a:outerShdw>
          </a:effectLst>
        </p:spPr>
      </p:sp>
      <p:sp>
        <p:nvSpPr>
          <p:cNvPr id="17" name="Text 15"/>
          <p:cNvSpPr/>
          <p:nvPr/>
        </p:nvSpPr>
        <p:spPr>
          <a:xfrm>
            <a:off x="5760720" y="3463290"/>
            <a:ext cx="1005840" cy="1508760"/>
          </a:xfrm>
          <a:prstGeom prst="rect">
            <a:avLst/>
          </a:prstGeom>
          <a:noFill/>
          <a:ln/>
        </p:spPr>
        <p:txBody>
          <a:bodyPr wrap="square" rtlCol="0" anchor="ctr"/>
          <a:lstStyle/>
          <a:p>
            <a:pPr algn="ctr"/>
            <a:r>
              <a:rPr lang="en-US" sz="800" dirty="0">
                <a:solidFill>
                  <a:srgbClr val="FFFFFF"/>
                </a:solidFill>
                <a:latin typeface="Calibri" pitchFamily="34" charset="0"/>
                <a:ea typeface="Calibri" pitchFamily="34" charset="-122"/>
                <a:cs typeface="Calibri" pitchFamily="34" charset="-120"/>
              </a:rPr>
              <a:t>APB2</a:t>
            </a:r>
            <a:endParaRPr lang="en-US" sz="800" dirty="0"/>
          </a:p>
          <a:p>
            <a:pPr algn="ctr"/>
            <a:r>
              <a:rPr lang="en-US" sz="800" dirty="0">
                <a:solidFill>
                  <a:srgbClr val="FFFFFF"/>
                </a:solidFill>
                <a:latin typeface="Calibri" pitchFamily="34" charset="0"/>
                <a:ea typeface="Calibri" pitchFamily="34" charset="-122"/>
                <a:cs typeface="Calibri" pitchFamily="34" charset="-120"/>
              </a:rPr>
              <a:t>÷1–16</a:t>
            </a:r>
            <a:endParaRPr lang="en-US" sz="800" dirty="0"/>
          </a:p>
          <a:p>
            <a:pPr algn="ctr"/>
            <a:r>
              <a:rPr lang="en-US" sz="800" dirty="0">
                <a:solidFill>
                  <a:srgbClr val="FFFFFF"/>
                </a:solidFill>
                <a:latin typeface="Calibri" pitchFamily="34" charset="0"/>
                <a:ea typeface="Calibri" pitchFamily="34" charset="-122"/>
                <a:cs typeface="Calibri" pitchFamily="34" charset="-120"/>
              </a:rPr>
              <a:t>PCLK2 ≤120MHz</a:t>
            </a:r>
            <a:endParaRPr lang="en-US" sz="800" dirty="0"/>
          </a:p>
          <a:p>
            <a:pPr algn="ctr"/>
            <a:r>
              <a:rPr lang="en-US" sz="800" dirty="0">
                <a:solidFill>
                  <a:srgbClr val="FFFFFF"/>
                </a:solidFill>
                <a:latin typeface="Calibri" pitchFamily="34" charset="0"/>
                <a:ea typeface="Calibri" pitchFamily="34" charset="-122"/>
                <a:cs typeface="Calibri" pitchFamily="34" charset="-120"/>
              </a:rPr>
              <a:t>TIM1/8, ADC</a:t>
            </a:r>
            <a:endParaRPr lang="en-US" sz="800" dirty="0"/>
          </a:p>
          <a:p>
            <a:pPr algn="ctr"/>
            <a:r>
              <a:rPr lang="en-US" sz="800" dirty="0">
                <a:solidFill>
                  <a:srgbClr val="FFFFFF"/>
                </a:solidFill>
                <a:latin typeface="Calibri" pitchFamily="34" charset="0"/>
                <a:ea typeface="Calibri" pitchFamily="34" charset="-122"/>
                <a:cs typeface="Calibri" pitchFamily="34" charset="-120"/>
              </a:rPr>
              <a:t>SPI1, UART1</a:t>
            </a:r>
            <a:endParaRPr lang="en-US" sz="800" dirty="0"/>
          </a:p>
        </p:txBody>
      </p:sp>
      <p:sp>
        <p:nvSpPr>
          <p:cNvPr id="18" name="Shape 16"/>
          <p:cNvSpPr/>
          <p:nvPr/>
        </p:nvSpPr>
        <p:spPr>
          <a:xfrm>
            <a:off x="7498080" y="3143250"/>
            <a:ext cx="0" cy="320040"/>
          </a:xfrm>
          <a:prstGeom prst="line">
            <a:avLst/>
          </a:prstGeom>
          <a:noFill/>
          <a:ln w="19050">
            <a:solidFill>
              <a:srgbClr val="4A5568"/>
            </a:solidFill>
            <a:prstDash val="solid"/>
          </a:ln>
        </p:spPr>
      </p:sp>
      <p:sp>
        <p:nvSpPr>
          <p:cNvPr id="19" name="Shape 17"/>
          <p:cNvSpPr/>
          <p:nvPr/>
        </p:nvSpPr>
        <p:spPr>
          <a:xfrm>
            <a:off x="6858000" y="3463290"/>
            <a:ext cx="1005840" cy="1508760"/>
          </a:xfrm>
          <a:prstGeom prst="roundRect">
            <a:avLst>
              <a:gd name="adj" fmla="val 5455"/>
            </a:avLst>
          </a:prstGeom>
          <a:solidFill>
            <a:srgbClr val="4A5568"/>
          </a:solidFill>
          <a:ln w="12700">
            <a:solidFill>
              <a:srgbClr val="4A5568"/>
            </a:solidFill>
            <a:prstDash val="solid"/>
          </a:ln>
          <a:effectLst>
            <a:outerShdw blurRad="101600" dist="25400" dir="2700000" algn="bl" rotWithShape="0">
              <a:srgbClr val="000000">
                <a:alpha val="10000"/>
              </a:srgbClr>
            </a:outerShdw>
          </a:effectLst>
        </p:spPr>
      </p:sp>
      <p:sp>
        <p:nvSpPr>
          <p:cNvPr id="20" name="Text 18"/>
          <p:cNvSpPr/>
          <p:nvPr/>
        </p:nvSpPr>
        <p:spPr>
          <a:xfrm>
            <a:off x="6858000" y="3463290"/>
            <a:ext cx="1005840" cy="1508760"/>
          </a:xfrm>
          <a:prstGeom prst="rect">
            <a:avLst/>
          </a:prstGeom>
          <a:noFill/>
          <a:ln/>
        </p:spPr>
        <p:txBody>
          <a:bodyPr wrap="square" rtlCol="0" anchor="ctr"/>
          <a:lstStyle/>
          <a:p>
            <a:pPr algn="ctr"/>
            <a:r>
              <a:rPr lang="en-US" sz="800" dirty="0">
                <a:solidFill>
                  <a:srgbClr val="FFFFFF"/>
                </a:solidFill>
                <a:latin typeface="Calibri" pitchFamily="34" charset="0"/>
                <a:ea typeface="Calibri" pitchFamily="34" charset="-122"/>
                <a:cs typeface="Calibri" pitchFamily="34" charset="-120"/>
              </a:rPr>
              <a:t>APB3</a:t>
            </a:r>
            <a:endParaRPr lang="en-US" sz="800" dirty="0"/>
          </a:p>
          <a:p>
            <a:pPr algn="ctr"/>
            <a:r>
              <a:rPr lang="en-US" sz="800" dirty="0">
                <a:solidFill>
                  <a:srgbClr val="FFFFFF"/>
                </a:solidFill>
                <a:latin typeface="Calibri" pitchFamily="34" charset="0"/>
                <a:ea typeface="Calibri" pitchFamily="34" charset="-122"/>
                <a:cs typeface="Calibri" pitchFamily="34" charset="-120"/>
              </a:rPr>
              <a:t>÷1–16</a:t>
            </a:r>
            <a:endParaRPr lang="en-US" sz="800" dirty="0"/>
          </a:p>
          <a:p>
            <a:pPr algn="ctr"/>
            <a:r>
              <a:rPr lang="en-US" sz="800" dirty="0">
                <a:solidFill>
                  <a:srgbClr val="FFFFFF"/>
                </a:solidFill>
                <a:latin typeface="Calibri" pitchFamily="34" charset="0"/>
                <a:ea typeface="Calibri" pitchFamily="34" charset="-122"/>
                <a:cs typeface="Calibri" pitchFamily="34" charset="-120"/>
              </a:rPr>
              <a:t>PCLK3 ≤120MHz</a:t>
            </a:r>
            <a:endParaRPr lang="en-US" sz="800" dirty="0"/>
          </a:p>
          <a:p>
            <a:pPr algn="ctr"/>
            <a:r>
              <a:rPr lang="en-US" sz="800" dirty="0">
                <a:solidFill>
                  <a:srgbClr val="FFFFFF"/>
                </a:solidFill>
                <a:latin typeface="Calibri" pitchFamily="34" charset="0"/>
                <a:ea typeface="Calibri" pitchFamily="34" charset="-122"/>
                <a:cs typeface="Calibri" pitchFamily="34" charset="-120"/>
              </a:rPr>
              <a:t>LTDC, WWDG1</a:t>
            </a:r>
            <a:endParaRPr lang="en-US" sz="800" dirty="0"/>
          </a:p>
        </p:txBody>
      </p:sp>
      <p:sp>
        <p:nvSpPr>
          <p:cNvPr id="21" name="Shape 19"/>
          <p:cNvSpPr/>
          <p:nvPr/>
        </p:nvSpPr>
        <p:spPr>
          <a:xfrm>
            <a:off x="8595360" y="3143250"/>
            <a:ext cx="0" cy="320040"/>
          </a:xfrm>
          <a:prstGeom prst="line">
            <a:avLst/>
          </a:prstGeom>
          <a:noFill/>
          <a:ln w="19050">
            <a:solidFill>
              <a:srgbClr val="5B6E9E"/>
            </a:solidFill>
            <a:prstDash val="solid"/>
          </a:ln>
        </p:spPr>
      </p:sp>
      <p:sp>
        <p:nvSpPr>
          <p:cNvPr id="22" name="Shape 20"/>
          <p:cNvSpPr/>
          <p:nvPr/>
        </p:nvSpPr>
        <p:spPr>
          <a:xfrm>
            <a:off x="7955280" y="3463290"/>
            <a:ext cx="1005840" cy="1508760"/>
          </a:xfrm>
          <a:prstGeom prst="roundRect">
            <a:avLst>
              <a:gd name="adj" fmla="val 5455"/>
            </a:avLst>
          </a:prstGeom>
          <a:solidFill>
            <a:srgbClr val="5B6E9E"/>
          </a:solidFill>
          <a:ln w="12700">
            <a:solidFill>
              <a:srgbClr val="5B6E9E"/>
            </a:solidFill>
            <a:prstDash val="solid"/>
          </a:ln>
          <a:effectLst>
            <a:outerShdw blurRad="101600" dist="25400" dir="2700000" algn="bl" rotWithShape="0">
              <a:srgbClr val="000000">
                <a:alpha val="10000"/>
              </a:srgbClr>
            </a:outerShdw>
          </a:effectLst>
        </p:spPr>
      </p:sp>
      <p:sp>
        <p:nvSpPr>
          <p:cNvPr id="23" name="Text 21"/>
          <p:cNvSpPr/>
          <p:nvPr/>
        </p:nvSpPr>
        <p:spPr>
          <a:xfrm>
            <a:off x="7955280" y="3463290"/>
            <a:ext cx="1005840" cy="1508760"/>
          </a:xfrm>
          <a:prstGeom prst="rect">
            <a:avLst/>
          </a:prstGeom>
          <a:noFill/>
          <a:ln/>
        </p:spPr>
        <p:txBody>
          <a:bodyPr wrap="square" rtlCol="0" anchor="ctr"/>
          <a:lstStyle/>
          <a:p>
            <a:pPr algn="ctr"/>
            <a:r>
              <a:rPr lang="en-US" sz="800" dirty="0">
                <a:solidFill>
                  <a:srgbClr val="FFFFFF"/>
                </a:solidFill>
                <a:latin typeface="Calibri" pitchFamily="34" charset="0"/>
                <a:ea typeface="Calibri" pitchFamily="34" charset="-122"/>
                <a:cs typeface="Calibri" pitchFamily="34" charset="-120"/>
              </a:rPr>
              <a:t>APB4</a:t>
            </a:r>
            <a:endParaRPr lang="en-US" sz="800" dirty="0"/>
          </a:p>
          <a:p>
            <a:pPr algn="ctr"/>
            <a:r>
              <a:rPr lang="en-US" sz="800" dirty="0">
                <a:solidFill>
                  <a:srgbClr val="FFFFFF"/>
                </a:solidFill>
                <a:latin typeface="Calibri" pitchFamily="34" charset="0"/>
                <a:ea typeface="Calibri" pitchFamily="34" charset="-122"/>
                <a:cs typeface="Calibri" pitchFamily="34" charset="-120"/>
              </a:rPr>
              <a:t>÷1–16</a:t>
            </a:r>
            <a:endParaRPr lang="en-US" sz="800" dirty="0"/>
          </a:p>
          <a:p>
            <a:pPr algn="ctr"/>
            <a:r>
              <a:rPr lang="en-US" sz="800" dirty="0">
                <a:solidFill>
                  <a:srgbClr val="FFFFFF"/>
                </a:solidFill>
                <a:latin typeface="Calibri" pitchFamily="34" charset="0"/>
                <a:ea typeface="Calibri" pitchFamily="34" charset="-122"/>
                <a:cs typeface="Calibri" pitchFamily="34" charset="-120"/>
              </a:rPr>
              <a:t>PCLK4 ≤120MHz</a:t>
            </a:r>
            <a:endParaRPr lang="en-US" sz="800" dirty="0"/>
          </a:p>
          <a:p>
            <a:pPr algn="ctr"/>
            <a:r>
              <a:rPr lang="en-US" sz="800" dirty="0">
                <a:solidFill>
                  <a:srgbClr val="FFFFFF"/>
                </a:solidFill>
                <a:latin typeface="Calibri" pitchFamily="34" charset="0"/>
                <a:ea typeface="Calibri" pitchFamily="34" charset="-122"/>
                <a:cs typeface="Calibri" pitchFamily="34" charset="-120"/>
              </a:rPr>
              <a:t>LPUART, I2C4</a:t>
            </a:r>
            <a:endParaRPr lang="en-US" sz="800" dirty="0"/>
          </a:p>
          <a:p>
            <a:pPr algn="ctr"/>
            <a:r>
              <a:rPr lang="en-US" sz="800" dirty="0">
                <a:solidFill>
                  <a:srgbClr val="FFFFFF"/>
                </a:solidFill>
                <a:latin typeface="Calibri" pitchFamily="34" charset="0"/>
                <a:ea typeface="Calibri" pitchFamily="34" charset="-122"/>
                <a:cs typeface="Calibri" pitchFamily="34" charset="-120"/>
              </a:rPr>
              <a:t>LPTIM, SAI4</a:t>
            </a:r>
            <a:endParaRPr lang="en-US" sz="800" dirty="0"/>
          </a:p>
        </p:txBody>
      </p:sp>
      <p:sp>
        <p:nvSpPr>
          <p:cNvPr id="24" name="Shape 22"/>
          <p:cNvSpPr/>
          <p:nvPr/>
        </p:nvSpPr>
        <p:spPr>
          <a:xfrm>
            <a:off x="4663440" y="5109210"/>
            <a:ext cx="4297680" cy="685800"/>
          </a:xfrm>
          <a:prstGeom prst="roundRect">
            <a:avLst>
              <a:gd name="adj" fmla="val 8000"/>
            </a:avLst>
          </a:prstGeom>
          <a:solidFill>
            <a:srgbClr val="F0F9FB"/>
          </a:solidFill>
          <a:ln w="12700">
            <a:solidFill>
              <a:srgbClr val="0080C8"/>
            </a:solidFill>
            <a:prstDash val="solid"/>
          </a:ln>
        </p:spPr>
      </p:sp>
      <p:sp>
        <p:nvSpPr>
          <p:cNvPr id="25" name="Text 23"/>
          <p:cNvSpPr/>
          <p:nvPr/>
        </p:nvSpPr>
        <p:spPr>
          <a:xfrm>
            <a:off x="4754880" y="5154930"/>
            <a:ext cx="4114800" cy="594360"/>
          </a:xfrm>
          <a:prstGeom prst="rect">
            <a:avLst/>
          </a:prstGeom>
          <a:noFill/>
          <a:ln/>
        </p:spPr>
        <p:txBody>
          <a:bodyPr wrap="square" rtlCol="0" anchor="t"/>
          <a:lstStyle/>
          <a:p>
            <a:r>
              <a:rPr lang="en-US" sz="1050" b="1" dirty="0">
                <a:solidFill>
                  <a:srgbClr val="0080C8"/>
                </a:solidFill>
                <a:latin typeface="Calibri" pitchFamily="34" charset="0"/>
                <a:ea typeface="Calibri" pitchFamily="34" charset="-122"/>
                <a:cs typeface="Calibri" pitchFamily="34" charset="-120"/>
              </a:rPr>
              <a:t>📌 Example: </a:t>
            </a:r>
            <a:r>
              <a:rPr lang="en-US" sz="1050" dirty="0">
                <a:solidFill>
                  <a:srgbClr val="1A1A2E"/>
                </a:solidFill>
                <a:latin typeface="Calibri" pitchFamily="34" charset="0"/>
                <a:ea typeface="Calibri" pitchFamily="34" charset="-122"/>
                <a:cs typeface="Calibri" pitchFamily="34" charset="-120"/>
              </a:rPr>
              <a:t>SYSCLK=480MHz, AHB÷2=240MHz, APB1÷2=120MHz. Timer TIM2 kernel clock = 120MHz×2 = 240MHz (APB prescaler&gt;1, so hardware ×2 applies).</a:t>
            </a:r>
            <a:endParaRPr lang="en-US" sz="1050" dirty="0"/>
          </a:p>
        </p:txBody>
      </p:sp>
    </p:spTree>
    <p:extLst>
      <p:ext uri="{BB962C8B-B14F-4D97-AF65-F5344CB8AC3E}">
        <p14:creationId xmlns:p14="http://schemas.microsoft.com/office/powerpoint/2010/main" val="2855370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94360"/>
          </a:xfrm>
          <a:prstGeom prst="rect">
            <a:avLst/>
          </a:prstGeom>
          <a:solidFill>
            <a:srgbClr val="1A3A5C"/>
          </a:solidFill>
          <a:ln w="12700">
            <a:solidFill>
              <a:srgbClr val="1A3A5C"/>
            </a:solidFill>
            <a:prstDash val="solid"/>
          </a:ln>
        </p:spPr>
      </p:sp>
      <p:sp>
        <p:nvSpPr>
          <p:cNvPr id="3" name="Text 1"/>
          <p:cNvSpPr/>
          <p:nvPr/>
        </p:nvSpPr>
        <p:spPr>
          <a:xfrm>
            <a:off x="365760" y="857250"/>
            <a:ext cx="8412480" cy="594360"/>
          </a:xfrm>
          <a:prstGeom prst="rect">
            <a:avLst/>
          </a:prstGeom>
          <a:noFill/>
          <a:ln/>
        </p:spPr>
        <p:txBody>
          <a:bodyPr wrap="square" lIns="0" tIns="0" rIns="0" bIns="0" rtlCol="0" anchor="ctr"/>
          <a:lstStyle/>
          <a:p>
            <a:r>
              <a:rPr lang="en-US" sz="2000" b="1" dirty="0">
                <a:solidFill>
                  <a:srgbClr val="FFFFFF"/>
                </a:solidFill>
                <a:latin typeface="Cambria" pitchFamily="34" charset="0"/>
                <a:ea typeface="Cambria" pitchFamily="34" charset="-122"/>
                <a:cs typeface="Cambria" pitchFamily="34" charset="-120"/>
              </a:rPr>
              <a:t>STM32H7 Clock Tree — Full Flow Diagram</a:t>
            </a:r>
            <a:endParaRPr lang="en-US" sz="2000" dirty="0"/>
          </a:p>
        </p:txBody>
      </p:sp>
      <p:sp>
        <p:nvSpPr>
          <p:cNvPr id="4" name="Shape 2"/>
          <p:cNvSpPr/>
          <p:nvPr/>
        </p:nvSpPr>
        <p:spPr>
          <a:xfrm>
            <a:off x="182880" y="1543050"/>
            <a:ext cx="1371600" cy="640080"/>
          </a:xfrm>
          <a:prstGeom prst="roundRect">
            <a:avLst>
              <a:gd name="adj" fmla="val 10000"/>
            </a:avLst>
          </a:prstGeom>
          <a:solidFill>
            <a:srgbClr val="0D7A5C"/>
          </a:solidFill>
          <a:ln w="12700">
            <a:solidFill>
              <a:srgbClr val="0D7A5C"/>
            </a:solidFill>
            <a:prstDash val="solid"/>
          </a:ln>
          <a:effectLst>
            <a:outerShdw blurRad="101600" dist="25400" dir="2700000" algn="bl" rotWithShape="0">
              <a:srgbClr val="000000">
                <a:alpha val="10000"/>
              </a:srgbClr>
            </a:outerShdw>
          </a:effectLst>
        </p:spPr>
      </p:sp>
      <p:sp>
        <p:nvSpPr>
          <p:cNvPr id="5" name="Text 3"/>
          <p:cNvSpPr/>
          <p:nvPr/>
        </p:nvSpPr>
        <p:spPr>
          <a:xfrm>
            <a:off x="182880" y="1543050"/>
            <a:ext cx="1371600" cy="640080"/>
          </a:xfrm>
          <a:prstGeom prst="rect">
            <a:avLst/>
          </a:prstGeom>
          <a:noFill/>
          <a:ln/>
        </p:spPr>
        <p:txBody>
          <a:bodyPr wrap="square" rtlCol="0" anchor="ctr"/>
          <a:lstStyle/>
          <a:p>
            <a:pPr algn="ctr"/>
            <a:r>
              <a:rPr lang="en-US" sz="800" b="1" dirty="0">
                <a:solidFill>
                  <a:srgbClr val="FFFFFF"/>
                </a:solidFill>
                <a:latin typeface="Calibri" pitchFamily="34" charset="0"/>
                <a:ea typeface="Calibri" pitchFamily="34" charset="-122"/>
                <a:cs typeface="Calibri" pitchFamily="34" charset="-120"/>
              </a:rPr>
              <a:t>HSE</a:t>
            </a:r>
            <a:endParaRPr lang="en-US" sz="800" dirty="0"/>
          </a:p>
          <a:p>
            <a:pPr algn="ctr"/>
            <a:r>
              <a:rPr lang="en-US" sz="800" b="1" dirty="0">
                <a:solidFill>
                  <a:srgbClr val="FFFFFF"/>
                </a:solidFill>
                <a:latin typeface="Calibri" pitchFamily="34" charset="0"/>
                <a:ea typeface="Calibri" pitchFamily="34" charset="-122"/>
                <a:cs typeface="Calibri" pitchFamily="34" charset="-120"/>
              </a:rPr>
              <a:t>4–48 MHz</a:t>
            </a:r>
            <a:endParaRPr lang="en-US" sz="800" dirty="0"/>
          </a:p>
          <a:p>
            <a:pPr algn="ctr"/>
            <a:r>
              <a:rPr lang="en-US" sz="800" b="1" dirty="0">
                <a:solidFill>
                  <a:srgbClr val="FFFFFF"/>
                </a:solidFill>
                <a:latin typeface="Calibri" pitchFamily="34" charset="0"/>
                <a:ea typeface="Calibri" pitchFamily="34" charset="-122"/>
                <a:cs typeface="Calibri" pitchFamily="34" charset="-120"/>
              </a:rPr>
              <a:t>(Crystal)</a:t>
            </a:r>
            <a:endParaRPr lang="en-US" sz="800" dirty="0"/>
          </a:p>
        </p:txBody>
      </p:sp>
      <p:sp>
        <p:nvSpPr>
          <p:cNvPr id="6" name="Shape 4"/>
          <p:cNvSpPr/>
          <p:nvPr/>
        </p:nvSpPr>
        <p:spPr>
          <a:xfrm>
            <a:off x="1645920" y="1543050"/>
            <a:ext cx="1371600" cy="640080"/>
          </a:xfrm>
          <a:prstGeom prst="roundRect">
            <a:avLst>
              <a:gd name="adj" fmla="val 10000"/>
            </a:avLst>
          </a:prstGeom>
          <a:solidFill>
            <a:srgbClr val="0080C8"/>
          </a:solidFill>
          <a:ln w="12700">
            <a:solidFill>
              <a:srgbClr val="0080C8"/>
            </a:solidFill>
            <a:prstDash val="solid"/>
          </a:ln>
          <a:effectLst>
            <a:outerShdw blurRad="101600" dist="25400" dir="2700000" algn="bl" rotWithShape="0">
              <a:srgbClr val="000000">
                <a:alpha val="10000"/>
              </a:srgbClr>
            </a:outerShdw>
          </a:effectLst>
        </p:spPr>
      </p:sp>
      <p:sp>
        <p:nvSpPr>
          <p:cNvPr id="7" name="Text 5"/>
          <p:cNvSpPr/>
          <p:nvPr/>
        </p:nvSpPr>
        <p:spPr>
          <a:xfrm>
            <a:off x="1645920" y="1543050"/>
            <a:ext cx="1371600" cy="640080"/>
          </a:xfrm>
          <a:prstGeom prst="rect">
            <a:avLst/>
          </a:prstGeom>
          <a:noFill/>
          <a:ln/>
        </p:spPr>
        <p:txBody>
          <a:bodyPr wrap="square" rtlCol="0" anchor="ctr"/>
          <a:lstStyle/>
          <a:p>
            <a:pPr algn="ctr"/>
            <a:r>
              <a:rPr lang="en-US" sz="800" b="1" dirty="0">
                <a:solidFill>
                  <a:srgbClr val="FFFFFF"/>
                </a:solidFill>
                <a:latin typeface="Calibri" pitchFamily="34" charset="0"/>
                <a:ea typeface="Calibri" pitchFamily="34" charset="-122"/>
                <a:cs typeface="Calibri" pitchFamily="34" charset="-120"/>
              </a:rPr>
              <a:t>HSI</a:t>
            </a:r>
            <a:endParaRPr lang="en-US" sz="800" dirty="0"/>
          </a:p>
          <a:p>
            <a:pPr algn="ctr"/>
            <a:r>
              <a:rPr lang="en-US" sz="800" b="1" dirty="0">
                <a:solidFill>
                  <a:srgbClr val="FFFFFF"/>
                </a:solidFill>
                <a:latin typeface="Calibri" pitchFamily="34" charset="0"/>
                <a:ea typeface="Calibri" pitchFamily="34" charset="-122"/>
                <a:cs typeface="Calibri" pitchFamily="34" charset="-120"/>
              </a:rPr>
              <a:t>64 MHz</a:t>
            </a:r>
            <a:endParaRPr lang="en-US" sz="800" dirty="0"/>
          </a:p>
          <a:p>
            <a:pPr algn="ctr"/>
            <a:r>
              <a:rPr lang="en-US" sz="800" b="1" dirty="0">
                <a:solidFill>
                  <a:srgbClr val="FFFFFF"/>
                </a:solidFill>
                <a:latin typeface="Calibri" pitchFamily="34" charset="0"/>
                <a:ea typeface="Calibri" pitchFamily="34" charset="-122"/>
                <a:cs typeface="Calibri" pitchFamily="34" charset="-120"/>
              </a:rPr>
              <a:t>(Internal RC)</a:t>
            </a:r>
            <a:endParaRPr lang="en-US" sz="800" dirty="0"/>
          </a:p>
        </p:txBody>
      </p:sp>
      <p:sp>
        <p:nvSpPr>
          <p:cNvPr id="8" name="Shape 6"/>
          <p:cNvSpPr/>
          <p:nvPr/>
        </p:nvSpPr>
        <p:spPr>
          <a:xfrm>
            <a:off x="3108960" y="1543050"/>
            <a:ext cx="1371600" cy="640080"/>
          </a:xfrm>
          <a:prstGeom prst="roundRect">
            <a:avLst>
              <a:gd name="adj" fmla="val 10000"/>
            </a:avLst>
          </a:prstGeom>
          <a:solidFill>
            <a:srgbClr val="4A5568"/>
          </a:solidFill>
          <a:ln w="12700">
            <a:solidFill>
              <a:srgbClr val="4A5568"/>
            </a:solidFill>
            <a:prstDash val="solid"/>
          </a:ln>
          <a:effectLst>
            <a:outerShdw blurRad="101600" dist="25400" dir="2700000" algn="bl" rotWithShape="0">
              <a:srgbClr val="000000">
                <a:alpha val="10000"/>
              </a:srgbClr>
            </a:outerShdw>
          </a:effectLst>
        </p:spPr>
      </p:sp>
      <p:sp>
        <p:nvSpPr>
          <p:cNvPr id="9" name="Text 7"/>
          <p:cNvSpPr/>
          <p:nvPr/>
        </p:nvSpPr>
        <p:spPr>
          <a:xfrm>
            <a:off x="3108960" y="1543050"/>
            <a:ext cx="1371600" cy="640080"/>
          </a:xfrm>
          <a:prstGeom prst="rect">
            <a:avLst/>
          </a:prstGeom>
          <a:noFill/>
          <a:ln/>
        </p:spPr>
        <p:txBody>
          <a:bodyPr wrap="square" rtlCol="0" anchor="ctr"/>
          <a:lstStyle/>
          <a:p>
            <a:pPr algn="ctr"/>
            <a:r>
              <a:rPr lang="en-US" sz="800" b="1" dirty="0">
                <a:solidFill>
                  <a:srgbClr val="FFFFFF"/>
                </a:solidFill>
                <a:latin typeface="Calibri" pitchFamily="34" charset="0"/>
                <a:ea typeface="Calibri" pitchFamily="34" charset="-122"/>
                <a:cs typeface="Calibri" pitchFamily="34" charset="-120"/>
              </a:rPr>
              <a:t>CSI</a:t>
            </a:r>
            <a:endParaRPr lang="en-US" sz="800" dirty="0"/>
          </a:p>
          <a:p>
            <a:pPr algn="ctr"/>
            <a:r>
              <a:rPr lang="en-US" sz="800" b="1" dirty="0">
                <a:solidFill>
                  <a:srgbClr val="FFFFFF"/>
                </a:solidFill>
                <a:latin typeface="Calibri" pitchFamily="34" charset="0"/>
                <a:ea typeface="Calibri" pitchFamily="34" charset="-122"/>
                <a:cs typeface="Calibri" pitchFamily="34" charset="-120"/>
              </a:rPr>
              <a:t>4 MHz</a:t>
            </a:r>
            <a:endParaRPr lang="en-US" sz="800" dirty="0"/>
          </a:p>
          <a:p>
            <a:pPr algn="ctr"/>
            <a:r>
              <a:rPr lang="en-US" sz="800" b="1" dirty="0">
                <a:solidFill>
                  <a:srgbClr val="FFFFFF"/>
                </a:solidFill>
                <a:latin typeface="Calibri" pitchFamily="34" charset="0"/>
                <a:ea typeface="Calibri" pitchFamily="34" charset="-122"/>
                <a:cs typeface="Calibri" pitchFamily="34" charset="-120"/>
              </a:rPr>
              <a:t>(Low Power)</a:t>
            </a:r>
            <a:endParaRPr lang="en-US" sz="800" dirty="0"/>
          </a:p>
        </p:txBody>
      </p:sp>
      <p:sp>
        <p:nvSpPr>
          <p:cNvPr id="10" name="Shape 8"/>
          <p:cNvSpPr/>
          <p:nvPr/>
        </p:nvSpPr>
        <p:spPr>
          <a:xfrm>
            <a:off x="4572000" y="1543050"/>
            <a:ext cx="1371600" cy="640080"/>
          </a:xfrm>
          <a:prstGeom prst="roundRect">
            <a:avLst>
              <a:gd name="adj" fmla="val 10000"/>
            </a:avLst>
          </a:prstGeom>
          <a:solidFill>
            <a:srgbClr val="7B5EA7"/>
          </a:solidFill>
          <a:ln w="12700">
            <a:solidFill>
              <a:srgbClr val="7B5EA7"/>
            </a:solidFill>
            <a:prstDash val="solid"/>
          </a:ln>
          <a:effectLst>
            <a:outerShdw blurRad="101600" dist="25400" dir="2700000" algn="bl" rotWithShape="0">
              <a:srgbClr val="000000">
                <a:alpha val="10000"/>
              </a:srgbClr>
            </a:outerShdw>
          </a:effectLst>
        </p:spPr>
      </p:sp>
      <p:sp>
        <p:nvSpPr>
          <p:cNvPr id="11" name="Text 9"/>
          <p:cNvSpPr/>
          <p:nvPr/>
        </p:nvSpPr>
        <p:spPr>
          <a:xfrm>
            <a:off x="4572000" y="1543050"/>
            <a:ext cx="1371600" cy="640080"/>
          </a:xfrm>
          <a:prstGeom prst="rect">
            <a:avLst/>
          </a:prstGeom>
          <a:noFill/>
          <a:ln/>
        </p:spPr>
        <p:txBody>
          <a:bodyPr wrap="square" rtlCol="0" anchor="ctr"/>
          <a:lstStyle/>
          <a:p>
            <a:pPr algn="ctr"/>
            <a:r>
              <a:rPr lang="en-US" sz="800" b="1" dirty="0">
                <a:solidFill>
                  <a:srgbClr val="FFFFFF"/>
                </a:solidFill>
                <a:latin typeface="Calibri" pitchFamily="34" charset="0"/>
                <a:ea typeface="Calibri" pitchFamily="34" charset="-122"/>
                <a:cs typeface="Calibri" pitchFamily="34" charset="-120"/>
              </a:rPr>
              <a:t>LSE</a:t>
            </a:r>
            <a:endParaRPr lang="en-US" sz="800" dirty="0"/>
          </a:p>
          <a:p>
            <a:pPr algn="ctr"/>
            <a:r>
              <a:rPr lang="en-US" sz="800" b="1" dirty="0">
                <a:solidFill>
                  <a:srgbClr val="FFFFFF"/>
                </a:solidFill>
                <a:latin typeface="Calibri" pitchFamily="34" charset="0"/>
                <a:ea typeface="Calibri" pitchFamily="34" charset="-122"/>
                <a:cs typeface="Calibri" pitchFamily="34" charset="-120"/>
              </a:rPr>
              <a:t>32.768 kHz</a:t>
            </a:r>
            <a:endParaRPr lang="en-US" sz="800" dirty="0"/>
          </a:p>
          <a:p>
            <a:pPr algn="ctr"/>
            <a:r>
              <a:rPr lang="en-US" sz="800" b="1" dirty="0">
                <a:solidFill>
                  <a:srgbClr val="FFFFFF"/>
                </a:solidFill>
                <a:latin typeface="Calibri" pitchFamily="34" charset="0"/>
                <a:ea typeface="Calibri" pitchFamily="34" charset="-122"/>
                <a:cs typeface="Calibri" pitchFamily="34" charset="-120"/>
              </a:rPr>
              <a:t>(RTC Crystal)</a:t>
            </a:r>
            <a:endParaRPr lang="en-US" sz="800" dirty="0"/>
          </a:p>
        </p:txBody>
      </p:sp>
      <p:sp>
        <p:nvSpPr>
          <p:cNvPr id="12" name="Shape 10"/>
          <p:cNvSpPr/>
          <p:nvPr/>
        </p:nvSpPr>
        <p:spPr>
          <a:xfrm>
            <a:off x="6035040" y="1543050"/>
            <a:ext cx="1371600" cy="640080"/>
          </a:xfrm>
          <a:prstGeom prst="roundRect">
            <a:avLst>
              <a:gd name="adj" fmla="val 10000"/>
            </a:avLst>
          </a:prstGeom>
          <a:solidFill>
            <a:srgbClr val="9E6B3E"/>
          </a:solidFill>
          <a:ln w="12700">
            <a:solidFill>
              <a:srgbClr val="9E6B3E"/>
            </a:solidFill>
            <a:prstDash val="solid"/>
          </a:ln>
          <a:effectLst>
            <a:outerShdw blurRad="101600" dist="25400" dir="2700000" algn="bl" rotWithShape="0">
              <a:srgbClr val="000000">
                <a:alpha val="10000"/>
              </a:srgbClr>
            </a:outerShdw>
          </a:effectLst>
        </p:spPr>
      </p:sp>
      <p:sp>
        <p:nvSpPr>
          <p:cNvPr id="13" name="Text 11"/>
          <p:cNvSpPr/>
          <p:nvPr/>
        </p:nvSpPr>
        <p:spPr>
          <a:xfrm>
            <a:off x="6035040" y="1543050"/>
            <a:ext cx="1371600" cy="640080"/>
          </a:xfrm>
          <a:prstGeom prst="rect">
            <a:avLst/>
          </a:prstGeom>
          <a:noFill/>
          <a:ln/>
        </p:spPr>
        <p:txBody>
          <a:bodyPr wrap="square" rtlCol="0" anchor="ctr"/>
          <a:lstStyle/>
          <a:p>
            <a:pPr algn="ctr"/>
            <a:r>
              <a:rPr lang="en-US" sz="800" b="1" dirty="0">
                <a:solidFill>
                  <a:srgbClr val="FFFFFF"/>
                </a:solidFill>
                <a:latin typeface="Calibri" pitchFamily="34" charset="0"/>
                <a:ea typeface="Calibri" pitchFamily="34" charset="-122"/>
                <a:cs typeface="Calibri" pitchFamily="34" charset="-120"/>
              </a:rPr>
              <a:t>LSI</a:t>
            </a:r>
            <a:endParaRPr lang="en-US" sz="800" dirty="0"/>
          </a:p>
          <a:p>
            <a:pPr algn="ctr"/>
            <a:r>
              <a:rPr lang="en-US" sz="800" b="1" dirty="0">
                <a:solidFill>
                  <a:srgbClr val="FFFFFF"/>
                </a:solidFill>
                <a:latin typeface="Calibri" pitchFamily="34" charset="0"/>
                <a:ea typeface="Calibri" pitchFamily="34" charset="-122"/>
                <a:cs typeface="Calibri" pitchFamily="34" charset="-120"/>
              </a:rPr>
              <a:t>32 kHz</a:t>
            </a:r>
            <a:endParaRPr lang="en-US" sz="800" dirty="0"/>
          </a:p>
          <a:p>
            <a:pPr algn="ctr"/>
            <a:r>
              <a:rPr lang="en-US" sz="800" b="1" dirty="0">
                <a:solidFill>
                  <a:srgbClr val="FFFFFF"/>
                </a:solidFill>
                <a:latin typeface="Calibri" pitchFamily="34" charset="0"/>
                <a:ea typeface="Calibri" pitchFamily="34" charset="-122"/>
                <a:cs typeface="Calibri" pitchFamily="34" charset="-120"/>
              </a:rPr>
              <a:t>(Internal RC)</a:t>
            </a:r>
            <a:endParaRPr lang="en-US" sz="800" dirty="0"/>
          </a:p>
        </p:txBody>
      </p:sp>
      <p:sp>
        <p:nvSpPr>
          <p:cNvPr id="14" name="Shape 12"/>
          <p:cNvSpPr/>
          <p:nvPr/>
        </p:nvSpPr>
        <p:spPr>
          <a:xfrm>
            <a:off x="7498080" y="1543050"/>
            <a:ext cx="1371600" cy="640080"/>
          </a:xfrm>
          <a:prstGeom prst="roundRect">
            <a:avLst>
              <a:gd name="adj" fmla="val 10000"/>
            </a:avLst>
          </a:prstGeom>
          <a:solidFill>
            <a:srgbClr val="5B8E7D"/>
          </a:solidFill>
          <a:ln w="12700">
            <a:solidFill>
              <a:srgbClr val="5B8E7D"/>
            </a:solidFill>
            <a:prstDash val="solid"/>
          </a:ln>
          <a:effectLst>
            <a:outerShdw blurRad="101600" dist="25400" dir="2700000" algn="bl" rotWithShape="0">
              <a:srgbClr val="000000">
                <a:alpha val="10000"/>
              </a:srgbClr>
            </a:outerShdw>
          </a:effectLst>
        </p:spPr>
      </p:sp>
      <p:sp>
        <p:nvSpPr>
          <p:cNvPr id="15" name="Text 13"/>
          <p:cNvSpPr/>
          <p:nvPr/>
        </p:nvSpPr>
        <p:spPr>
          <a:xfrm>
            <a:off x="7498080" y="1543050"/>
            <a:ext cx="1371600" cy="640080"/>
          </a:xfrm>
          <a:prstGeom prst="rect">
            <a:avLst/>
          </a:prstGeom>
          <a:noFill/>
          <a:ln/>
        </p:spPr>
        <p:txBody>
          <a:bodyPr wrap="square" rtlCol="0" anchor="ctr"/>
          <a:lstStyle/>
          <a:p>
            <a:pPr algn="ctr"/>
            <a:r>
              <a:rPr lang="en-US" sz="800" b="1" dirty="0">
                <a:solidFill>
                  <a:srgbClr val="FFFFFF"/>
                </a:solidFill>
                <a:latin typeface="Calibri" pitchFamily="34" charset="0"/>
                <a:ea typeface="Calibri" pitchFamily="34" charset="-122"/>
                <a:cs typeface="Calibri" pitchFamily="34" charset="-120"/>
              </a:rPr>
              <a:t>HSI48</a:t>
            </a:r>
            <a:endParaRPr lang="en-US" sz="800" dirty="0"/>
          </a:p>
          <a:p>
            <a:pPr algn="ctr"/>
            <a:r>
              <a:rPr lang="en-US" sz="800" b="1" dirty="0">
                <a:solidFill>
                  <a:srgbClr val="FFFFFF"/>
                </a:solidFill>
                <a:latin typeface="Calibri" pitchFamily="34" charset="0"/>
                <a:ea typeface="Calibri" pitchFamily="34" charset="-122"/>
                <a:cs typeface="Calibri" pitchFamily="34" charset="-120"/>
              </a:rPr>
              <a:t>48 MHz</a:t>
            </a:r>
            <a:endParaRPr lang="en-US" sz="800" dirty="0"/>
          </a:p>
          <a:p>
            <a:pPr algn="ctr"/>
            <a:r>
              <a:rPr lang="en-US" sz="800" b="1" dirty="0">
                <a:solidFill>
                  <a:srgbClr val="FFFFFF"/>
                </a:solidFill>
                <a:latin typeface="Calibri" pitchFamily="34" charset="0"/>
                <a:ea typeface="Calibri" pitchFamily="34" charset="-122"/>
                <a:cs typeface="Calibri" pitchFamily="34" charset="-120"/>
              </a:rPr>
              <a:t>(USB ref)</a:t>
            </a:r>
            <a:endParaRPr lang="en-US" sz="800" dirty="0"/>
          </a:p>
        </p:txBody>
      </p:sp>
      <p:sp>
        <p:nvSpPr>
          <p:cNvPr id="16" name="Shape 14"/>
          <p:cNvSpPr/>
          <p:nvPr/>
        </p:nvSpPr>
        <p:spPr>
          <a:xfrm>
            <a:off x="868680" y="2183130"/>
            <a:ext cx="0" cy="274320"/>
          </a:xfrm>
          <a:prstGeom prst="line">
            <a:avLst/>
          </a:prstGeom>
          <a:noFill/>
          <a:ln w="19050">
            <a:solidFill>
              <a:srgbClr val="0D7A5C"/>
            </a:solidFill>
            <a:prstDash val="solid"/>
          </a:ln>
        </p:spPr>
      </p:sp>
      <p:sp>
        <p:nvSpPr>
          <p:cNvPr id="17" name="Shape 15"/>
          <p:cNvSpPr/>
          <p:nvPr/>
        </p:nvSpPr>
        <p:spPr>
          <a:xfrm>
            <a:off x="2331720" y="2183130"/>
            <a:ext cx="0" cy="274320"/>
          </a:xfrm>
          <a:prstGeom prst="line">
            <a:avLst/>
          </a:prstGeom>
          <a:noFill/>
          <a:ln w="19050">
            <a:solidFill>
              <a:srgbClr val="0080C8"/>
            </a:solidFill>
            <a:prstDash val="solid"/>
          </a:ln>
        </p:spPr>
      </p:sp>
      <p:sp>
        <p:nvSpPr>
          <p:cNvPr id="18" name="Shape 16"/>
          <p:cNvSpPr/>
          <p:nvPr/>
        </p:nvSpPr>
        <p:spPr>
          <a:xfrm>
            <a:off x="3794760" y="2183130"/>
            <a:ext cx="0" cy="274320"/>
          </a:xfrm>
          <a:prstGeom prst="line">
            <a:avLst/>
          </a:prstGeom>
          <a:noFill/>
          <a:ln w="19050">
            <a:solidFill>
              <a:srgbClr val="4A5568"/>
            </a:solidFill>
            <a:prstDash val="solid"/>
          </a:ln>
        </p:spPr>
      </p:sp>
      <p:sp>
        <p:nvSpPr>
          <p:cNvPr id="19" name="Shape 17"/>
          <p:cNvSpPr/>
          <p:nvPr/>
        </p:nvSpPr>
        <p:spPr>
          <a:xfrm>
            <a:off x="868680" y="2457450"/>
            <a:ext cx="1463040" cy="0"/>
          </a:xfrm>
          <a:prstGeom prst="line">
            <a:avLst/>
          </a:prstGeom>
          <a:noFill/>
          <a:ln w="19050">
            <a:solidFill>
              <a:srgbClr val="1A3A5C"/>
            </a:solidFill>
            <a:prstDash val="solid"/>
          </a:ln>
        </p:spPr>
      </p:sp>
      <p:sp>
        <p:nvSpPr>
          <p:cNvPr id="20" name="Shape 18"/>
          <p:cNvSpPr/>
          <p:nvPr/>
        </p:nvSpPr>
        <p:spPr>
          <a:xfrm>
            <a:off x="2331720" y="2457450"/>
            <a:ext cx="1463040" cy="0"/>
          </a:xfrm>
          <a:prstGeom prst="line">
            <a:avLst/>
          </a:prstGeom>
          <a:noFill/>
          <a:ln w="19050">
            <a:solidFill>
              <a:srgbClr val="1A3A5C"/>
            </a:solidFill>
            <a:prstDash val="solid"/>
          </a:ln>
        </p:spPr>
      </p:sp>
      <p:sp>
        <p:nvSpPr>
          <p:cNvPr id="21" name="Shape 19"/>
          <p:cNvSpPr/>
          <p:nvPr/>
        </p:nvSpPr>
        <p:spPr>
          <a:xfrm>
            <a:off x="182880" y="2457450"/>
            <a:ext cx="2011680" cy="502920"/>
          </a:xfrm>
          <a:prstGeom prst="roundRect">
            <a:avLst>
              <a:gd name="adj" fmla="val 10909"/>
            </a:avLst>
          </a:prstGeom>
          <a:solidFill>
            <a:srgbClr val="D4660A"/>
          </a:solidFill>
          <a:ln w="12700">
            <a:solidFill>
              <a:srgbClr val="D4660A"/>
            </a:solidFill>
            <a:prstDash val="solid"/>
          </a:ln>
          <a:effectLst>
            <a:outerShdw blurRad="101600" dist="25400" dir="2700000" algn="bl" rotWithShape="0">
              <a:srgbClr val="000000">
                <a:alpha val="10000"/>
              </a:srgbClr>
            </a:outerShdw>
          </a:effectLst>
        </p:spPr>
      </p:sp>
      <p:sp>
        <p:nvSpPr>
          <p:cNvPr id="22" name="Text 20"/>
          <p:cNvSpPr/>
          <p:nvPr/>
        </p:nvSpPr>
        <p:spPr>
          <a:xfrm>
            <a:off x="182880" y="2457450"/>
            <a:ext cx="2011680" cy="50292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PLL1</a:t>
            </a:r>
            <a:endParaRPr lang="en-US" sz="900" dirty="0"/>
          </a:p>
          <a:p>
            <a:pPr algn="ctr"/>
            <a:r>
              <a:rPr lang="en-US" sz="900" b="1" dirty="0">
                <a:solidFill>
                  <a:srgbClr val="FFFFFF"/>
                </a:solidFill>
                <a:latin typeface="Calibri" pitchFamily="34" charset="0"/>
                <a:ea typeface="Calibri" pitchFamily="34" charset="-122"/>
                <a:cs typeface="Calibri" pitchFamily="34" charset="-120"/>
              </a:rPr>
              <a:t>CPU / SYSCLK</a:t>
            </a:r>
            <a:endParaRPr lang="en-US" sz="900" dirty="0"/>
          </a:p>
        </p:txBody>
      </p:sp>
      <p:sp>
        <p:nvSpPr>
          <p:cNvPr id="23" name="Shape 21"/>
          <p:cNvSpPr/>
          <p:nvPr/>
        </p:nvSpPr>
        <p:spPr>
          <a:xfrm>
            <a:off x="2560320" y="2457450"/>
            <a:ext cx="2011680" cy="502920"/>
          </a:xfrm>
          <a:prstGeom prst="roundRect">
            <a:avLst>
              <a:gd name="adj" fmla="val 10909"/>
            </a:avLst>
          </a:prstGeom>
          <a:solidFill>
            <a:srgbClr val="C97D1E"/>
          </a:solidFill>
          <a:ln w="12700">
            <a:solidFill>
              <a:srgbClr val="C97D1E"/>
            </a:solidFill>
            <a:prstDash val="solid"/>
          </a:ln>
          <a:effectLst>
            <a:outerShdw blurRad="101600" dist="25400" dir="2700000" algn="bl" rotWithShape="0">
              <a:srgbClr val="000000">
                <a:alpha val="10000"/>
              </a:srgbClr>
            </a:outerShdw>
          </a:effectLst>
        </p:spPr>
      </p:sp>
      <p:sp>
        <p:nvSpPr>
          <p:cNvPr id="24" name="Text 22"/>
          <p:cNvSpPr/>
          <p:nvPr/>
        </p:nvSpPr>
        <p:spPr>
          <a:xfrm>
            <a:off x="2560320" y="2457450"/>
            <a:ext cx="2011680" cy="50292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PLL2</a:t>
            </a:r>
            <a:endParaRPr lang="en-US" sz="900" dirty="0"/>
          </a:p>
          <a:p>
            <a:pPr algn="ctr"/>
            <a:r>
              <a:rPr lang="en-US" sz="900" b="1" dirty="0">
                <a:solidFill>
                  <a:srgbClr val="FFFFFF"/>
                </a:solidFill>
                <a:latin typeface="Calibri" pitchFamily="34" charset="0"/>
                <a:ea typeface="Calibri" pitchFamily="34" charset="-122"/>
                <a:cs typeface="Calibri" pitchFamily="34" charset="-120"/>
              </a:rPr>
              <a:t>ADC, SPI, DFSDM</a:t>
            </a:r>
            <a:endParaRPr lang="en-US" sz="900" dirty="0"/>
          </a:p>
        </p:txBody>
      </p:sp>
      <p:sp>
        <p:nvSpPr>
          <p:cNvPr id="25" name="Shape 23"/>
          <p:cNvSpPr/>
          <p:nvPr/>
        </p:nvSpPr>
        <p:spPr>
          <a:xfrm>
            <a:off x="4937760" y="2457450"/>
            <a:ext cx="2011680" cy="502920"/>
          </a:xfrm>
          <a:prstGeom prst="roundRect">
            <a:avLst>
              <a:gd name="adj" fmla="val 10909"/>
            </a:avLst>
          </a:prstGeom>
          <a:solidFill>
            <a:srgbClr val="B8621A"/>
          </a:solidFill>
          <a:ln w="12700">
            <a:solidFill>
              <a:srgbClr val="B8621A"/>
            </a:solidFill>
            <a:prstDash val="solid"/>
          </a:ln>
          <a:effectLst>
            <a:outerShdw blurRad="101600" dist="25400" dir="2700000" algn="bl" rotWithShape="0">
              <a:srgbClr val="000000">
                <a:alpha val="10000"/>
              </a:srgbClr>
            </a:outerShdw>
          </a:effectLst>
        </p:spPr>
      </p:sp>
      <p:sp>
        <p:nvSpPr>
          <p:cNvPr id="26" name="Text 24"/>
          <p:cNvSpPr/>
          <p:nvPr/>
        </p:nvSpPr>
        <p:spPr>
          <a:xfrm>
            <a:off x="4937760" y="2457450"/>
            <a:ext cx="2011680" cy="50292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PLL3</a:t>
            </a:r>
            <a:endParaRPr lang="en-US" sz="900" dirty="0"/>
          </a:p>
          <a:p>
            <a:pPr algn="ctr"/>
            <a:r>
              <a:rPr lang="en-US" sz="900" b="1" dirty="0">
                <a:solidFill>
                  <a:srgbClr val="FFFFFF"/>
                </a:solidFill>
                <a:latin typeface="Calibri" pitchFamily="34" charset="0"/>
                <a:ea typeface="Calibri" pitchFamily="34" charset="-122"/>
                <a:cs typeface="Calibri" pitchFamily="34" charset="-120"/>
              </a:rPr>
              <a:t>USB, SAI, USART</a:t>
            </a:r>
            <a:endParaRPr lang="en-US" sz="900" dirty="0"/>
          </a:p>
        </p:txBody>
      </p:sp>
      <p:sp>
        <p:nvSpPr>
          <p:cNvPr id="27" name="Shape 25"/>
          <p:cNvSpPr/>
          <p:nvPr/>
        </p:nvSpPr>
        <p:spPr>
          <a:xfrm>
            <a:off x="1188720" y="2960370"/>
            <a:ext cx="0" cy="274320"/>
          </a:xfrm>
          <a:prstGeom prst="line">
            <a:avLst/>
          </a:prstGeom>
          <a:noFill/>
          <a:ln w="19050">
            <a:solidFill>
              <a:srgbClr val="D4660A"/>
            </a:solidFill>
            <a:prstDash val="solid"/>
          </a:ln>
        </p:spPr>
      </p:sp>
      <p:sp>
        <p:nvSpPr>
          <p:cNvPr id="28" name="Shape 26"/>
          <p:cNvSpPr/>
          <p:nvPr/>
        </p:nvSpPr>
        <p:spPr>
          <a:xfrm>
            <a:off x="3566160" y="2960370"/>
            <a:ext cx="0" cy="274320"/>
          </a:xfrm>
          <a:prstGeom prst="line">
            <a:avLst/>
          </a:prstGeom>
          <a:noFill/>
          <a:ln w="12700">
            <a:solidFill>
              <a:srgbClr val="1A3A5C"/>
            </a:solidFill>
            <a:prstDash val="solid"/>
          </a:ln>
        </p:spPr>
      </p:sp>
      <p:sp>
        <p:nvSpPr>
          <p:cNvPr id="29" name="Shape 27"/>
          <p:cNvSpPr/>
          <p:nvPr/>
        </p:nvSpPr>
        <p:spPr>
          <a:xfrm>
            <a:off x="5943600" y="2960370"/>
            <a:ext cx="0" cy="274320"/>
          </a:xfrm>
          <a:prstGeom prst="line">
            <a:avLst/>
          </a:prstGeom>
          <a:noFill/>
          <a:ln w="12700">
            <a:solidFill>
              <a:srgbClr val="1A3A5C"/>
            </a:solidFill>
            <a:prstDash val="solid"/>
          </a:ln>
        </p:spPr>
      </p:sp>
      <p:sp>
        <p:nvSpPr>
          <p:cNvPr id="30" name="Shape 28"/>
          <p:cNvSpPr/>
          <p:nvPr/>
        </p:nvSpPr>
        <p:spPr>
          <a:xfrm>
            <a:off x="8183880" y="2183130"/>
            <a:ext cx="0" cy="1051560"/>
          </a:xfrm>
          <a:prstGeom prst="line">
            <a:avLst/>
          </a:prstGeom>
          <a:noFill/>
          <a:ln w="12700">
            <a:solidFill>
              <a:srgbClr val="0D7A5C"/>
            </a:solidFill>
            <a:prstDash val="solid"/>
          </a:ln>
        </p:spPr>
      </p:sp>
      <p:sp>
        <p:nvSpPr>
          <p:cNvPr id="31" name="Shape 29"/>
          <p:cNvSpPr/>
          <p:nvPr/>
        </p:nvSpPr>
        <p:spPr>
          <a:xfrm>
            <a:off x="3566160" y="3097530"/>
            <a:ext cx="4617720" cy="0"/>
          </a:xfrm>
          <a:prstGeom prst="line">
            <a:avLst/>
          </a:prstGeom>
          <a:noFill/>
          <a:ln w="12700">
            <a:solidFill>
              <a:srgbClr val="1A3A5C"/>
            </a:solidFill>
            <a:prstDash val="solid"/>
          </a:ln>
        </p:spPr>
      </p:sp>
      <p:sp>
        <p:nvSpPr>
          <p:cNvPr id="32" name="Shape 30"/>
          <p:cNvSpPr/>
          <p:nvPr/>
        </p:nvSpPr>
        <p:spPr>
          <a:xfrm>
            <a:off x="365760" y="3234690"/>
            <a:ext cx="4572000" cy="457200"/>
          </a:xfrm>
          <a:prstGeom prst="roundRect">
            <a:avLst>
              <a:gd name="adj" fmla="val 12000"/>
            </a:avLst>
          </a:prstGeom>
          <a:solidFill>
            <a:srgbClr val="1A3A5C"/>
          </a:solidFill>
          <a:ln w="19050">
            <a:solidFill>
              <a:srgbClr val="0080C8"/>
            </a:solidFill>
            <a:prstDash val="solid"/>
          </a:ln>
          <a:effectLst>
            <a:outerShdw blurRad="101600" dist="25400" dir="2700000" algn="bl" rotWithShape="0">
              <a:srgbClr val="000000">
                <a:alpha val="10000"/>
              </a:srgbClr>
            </a:outerShdw>
          </a:effectLst>
        </p:spPr>
      </p:sp>
      <p:sp>
        <p:nvSpPr>
          <p:cNvPr id="33" name="Text 31"/>
          <p:cNvSpPr/>
          <p:nvPr/>
        </p:nvSpPr>
        <p:spPr>
          <a:xfrm>
            <a:off x="365760" y="3234690"/>
            <a:ext cx="4572000" cy="457200"/>
          </a:xfrm>
          <a:prstGeom prst="rect">
            <a:avLst/>
          </a:prstGeom>
          <a:noFill/>
          <a:ln/>
        </p:spPr>
        <p:txBody>
          <a:bodyPr wrap="square" rtlCol="0" anchor="ctr"/>
          <a:lstStyle/>
          <a:p>
            <a:pPr algn="ctr"/>
            <a:r>
              <a:rPr lang="en-US" sz="1000" b="1" dirty="0">
                <a:solidFill>
                  <a:srgbClr val="FFFFFF"/>
                </a:solidFill>
                <a:latin typeface="Calibri" pitchFamily="34" charset="0"/>
                <a:ea typeface="Calibri" pitchFamily="34" charset="-122"/>
                <a:cs typeface="Calibri" pitchFamily="34" charset="-120"/>
              </a:rPr>
              <a:t>SYSCLK Mux  (SW bits)  →  SYSCLK (max 480 MHz)</a:t>
            </a:r>
            <a:endParaRPr lang="en-US" sz="1000" dirty="0"/>
          </a:p>
        </p:txBody>
      </p:sp>
      <p:sp>
        <p:nvSpPr>
          <p:cNvPr id="34" name="Shape 32"/>
          <p:cNvSpPr/>
          <p:nvPr/>
        </p:nvSpPr>
        <p:spPr>
          <a:xfrm>
            <a:off x="2651760" y="3691890"/>
            <a:ext cx="0" cy="228600"/>
          </a:xfrm>
          <a:prstGeom prst="line">
            <a:avLst/>
          </a:prstGeom>
          <a:noFill/>
          <a:ln w="25400">
            <a:solidFill>
              <a:srgbClr val="1A3A5C"/>
            </a:solidFill>
            <a:prstDash val="solid"/>
          </a:ln>
        </p:spPr>
      </p:sp>
      <p:sp>
        <p:nvSpPr>
          <p:cNvPr id="35" name="Shape 33"/>
          <p:cNvSpPr/>
          <p:nvPr/>
        </p:nvSpPr>
        <p:spPr>
          <a:xfrm>
            <a:off x="365760" y="3920490"/>
            <a:ext cx="4572000" cy="411480"/>
          </a:xfrm>
          <a:prstGeom prst="roundRect">
            <a:avLst>
              <a:gd name="adj" fmla="val 13333"/>
            </a:avLst>
          </a:prstGeom>
          <a:solidFill>
            <a:srgbClr val="0080C8"/>
          </a:solidFill>
          <a:ln w="12700">
            <a:solidFill>
              <a:srgbClr val="0080C8"/>
            </a:solidFill>
            <a:prstDash val="solid"/>
          </a:ln>
          <a:effectLst>
            <a:outerShdw blurRad="101600" dist="25400" dir="2700000" algn="bl" rotWithShape="0">
              <a:srgbClr val="000000">
                <a:alpha val="10000"/>
              </a:srgbClr>
            </a:outerShdw>
          </a:effectLst>
        </p:spPr>
      </p:sp>
      <p:sp>
        <p:nvSpPr>
          <p:cNvPr id="36" name="Text 34"/>
          <p:cNvSpPr/>
          <p:nvPr/>
        </p:nvSpPr>
        <p:spPr>
          <a:xfrm>
            <a:off x="365760" y="3920490"/>
            <a:ext cx="4572000" cy="411480"/>
          </a:xfrm>
          <a:prstGeom prst="rect">
            <a:avLst/>
          </a:prstGeom>
          <a:noFill/>
          <a:ln/>
        </p:spPr>
        <p:txBody>
          <a:bodyPr wrap="square" rtlCol="0" anchor="ctr"/>
          <a:lstStyle/>
          <a:p>
            <a:pPr algn="ctr"/>
            <a:r>
              <a:rPr lang="en-US" sz="900" b="1" dirty="0">
                <a:solidFill>
                  <a:srgbClr val="FFFFFF"/>
                </a:solidFill>
                <a:latin typeface="Calibri" pitchFamily="34" charset="0"/>
                <a:ea typeface="Calibri" pitchFamily="34" charset="-122"/>
                <a:cs typeface="Calibri" pitchFamily="34" charset="-120"/>
              </a:rPr>
              <a:t>AHB Prescaler (÷1–512) → HCLK  (max 240 MHz)  —  CPU, DMA, Flash, FMC</a:t>
            </a:r>
            <a:endParaRPr lang="en-US" sz="900" dirty="0"/>
          </a:p>
        </p:txBody>
      </p:sp>
      <p:sp>
        <p:nvSpPr>
          <p:cNvPr id="37" name="Shape 35"/>
          <p:cNvSpPr/>
          <p:nvPr/>
        </p:nvSpPr>
        <p:spPr>
          <a:xfrm>
            <a:off x="548640" y="4652010"/>
            <a:ext cx="4206240" cy="0"/>
          </a:xfrm>
          <a:prstGeom prst="line">
            <a:avLst/>
          </a:prstGeom>
          <a:noFill/>
          <a:ln w="25400">
            <a:solidFill>
              <a:srgbClr val="0080C8"/>
            </a:solidFill>
            <a:prstDash val="solid"/>
          </a:ln>
        </p:spPr>
      </p:sp>
      <p:sp>
        <p:nvSpPr>
          <p:cNvPr id="38" name="Shape 36"/>
          <p:cNvSpPr/>
          <p:nvPr/>
        </p:nvSpPr>
        <p:spPr>
          <a:xfrm>
            <a:off x="731520" y="4331970"/>
            <a:ext cx="0" cy="320040"/>
          </a:xfrm>
          <a:prstGeom prst="line">
            <a:avLst/>
          </a:prstGeom>
          <a:noFill/>
          <a:ln w="19050">
            <a:solidFill>
              <a:srgbClr val="0D7A5C"/>
            </a:solidFill>
            <a:prstDash val="solid"/>
          </a:ln>
        </p:spPr>
      </p:sp>
      <p:sp>
        <p:nvSpPr>
          <p:cNvPr id="39" name="Shape 37"/>
          <p:cNvSpPr/>
          <p:nvPr/>
        </p:nvSpPr>
        <p:spPr>
          <a:xfrm>
            <a:off x="182880" y="4652010"/>
            <a:ext cx="1097280" cy="1005840"/>
          </a:xfrm>
          <a:prstGeom prst="roundRect">
            <a:avLst>
              <a:gd name="adj" fmla="val 5455"/>
            </a:avLst>
          </a:prstGeom>
          <a:solidFill>
            <a:srgbClr val="0D7A5C"/>
          </a:solidFill>
          <a:ln w="12700">
            <a:solidFill>
              <a:srgbClr val="0D7A5C"/>
            </a:solidFill>
            <a:prstDash val="solid"/>
          </a:ln>
        </p:spPr>
      </p:sp>
      <p:sp>
        <p:nvSpPr>
          <p:cNvPr id="40" name="Text 38"/>
          <p:cNvSpPr/>
          <p:nvPr/>
        </p:nvSpPr>
        <p:spPr>
          <a:xfrm>
            <a:off x="182880" y="4652010"/>
            <a:ext cx="1097280" cy="1005840"/>
          </a:xfrm>
          <a:prstGeom prst="rect">
            <a:avLst/>
          </a:prstGeom>
          <a:noFill/>
          <a:ln/>
        </p:spPr>
        <p:txBody>
          <a:bodyPr wrap="square" rtlCol="0" anchor="ctr"/>
          <a:lstStyle/>
          <a:p>
            <a:pPr algn="ctr"/>
            <a:r>
              <a:rPr lang="en-US" sz="800" dirty="0">
                <a:solidFill>
                  <a:srgbClr val="FFFFFF"/>
                </a:solidFill>
                <a:latin typeface="Calibri" pitchFamily="34" charset="0"/>
                <a:ea typeface="Calibri" pitchFamily="34" charset="-122"/>
                <a:cs typeface="Calibri" pitchFamily="34" charset="-120"/>
              </a:rPr>
              <a:t>APB1</a:t>
            </a:r>
            <a:endParaRPr lang="en-US" sz="800" dirty="0"/>
          </a:p>
          <a:p>
            <a:pPr algn="ctr"/>
            <a:r>
              <a:rPr lang="en-US" sz="800" dirty="0">
                <a:solidFill>
                  <a:srgbClr val="FFFFFF"/>
                </a:solidFill>
                <a:latin typeface="Calibri" pitchFamily="34" charset="0"/>
                <a:ea typeface="Calibri" pitchFamily="34" charset="-122"/>
                <a:cs typeface="Calibri" pitchFamily="34" charset="-120"/>
              </a:rPr>
              <a:t>÷1-16</a:t>
            </a:r>
            <a:endParaRPr lang="en-US" sz="800" dirty="0"/>
          </a:p>
          <a:p>
            <a:pPr algn="ctr"/>
            <a:r>
              <a:rPr lang="en-US" sz="800" dirty="0">
                <a:solidFill>
                  <a:srgbClr val="FFFFFF"/>
                </a:solidFill>
                <a:latin typeface="Calibri" pitchFamily="34" charset="0"/>
                <a:ea typeface="Calibri" pitchFamily="34" charset="-122"/>
                <a:cs typeface="Calibri" pitchFamily="34" charset="-120"/>
              </a:rPr>
              <a:t>PCLK1</a:t>
            </a:r>
            <a:endParaRPr lang="en-US" sz="800" dirty="0"/>
          </a:p>
          <a:p>
            <a:pPr algn="ctr"/>
            <a:r>
              <a:rPr lang="en-US" sz="800" dirty="0">
                <a:solidFill>
                  <a:srgbClr val="FFFFFF"/>
                </a:solidFill>
                <a:latin typeface="Calibri" pitchFamily="34" charset="0"/>
                <a:ea typeface="Calibri" pitchFamily="34" charset="-122"/>
                <a:cs typeface="Calibri" pitchFamily="34" charset="-120"/>
              </a:rPr>
              <a:t>≤120MHz</a:t>
            </a:r>
            <a:endParaRPr lang="en-US" sz="800" dirty="0"/>
          </a:p>
        </p:txBody>
      </p:sp>
      <p:sp>
        <p:nvSpPr>
          <p:cNvPr id="41" name="Shape 39"/>
          <p:cNvSpPr/>
          <p:nvPr/>
        </p:nvSpPr>
        <p:spPr>
          <a:xfrm>
            <a:off x="1920240" y="4331970"/>
            <a:ext cx="0" cy="320040"/>
          </a:xfrm>
          <a:prstGeom prst="line">
            <a:avLst/>
          </a:prstGeom>
          <a:noFill/>
          <a:ln w="19050">
            <a:solidFill>
              <a:srgbClr val="0D7A7A"/>
            </a:solidFill>
            <a:prstDash val="solid"/>
          </a:ln>
        </p:spPr>
      </p:sp>
      <p:sp>
        <p:nvSpPr>
          <p:cNvPr id="42" name="Shape 40"/>
          <p:cNvSpPr/>
          <p:nvPr/>
        </p:nvSpPr>
        <p:spPr>
          <a:xfrm>
            <a:off x="1371600" y="4652010"/>
            <a:ext cx="1097280" cy="1005840"/>
          </a:xfrm>
          <a:prstGeom prst="roundRect">
            <a:avLst>
              <a:gd name="adj" fmla="val 5455"/>
            </a:avLst>
          </a:prstGeom>
          <a:solidFill>
            <a:srgbClr val="0D7A7A"/>
          </a:solidFill>
          <a:ln w="12700">
            <a:solidFill>
              <a:srgbClr val="0D7A7A"/>
            </a:solidFill>
            <a:prstDash val="solid"/>
          </a:ln>
        </p:spPr>
      </p:sp>
      <p:sp>
        <p:nvSpPr>
          <p:cNvPr id="43" name="Text 41"/>
          <p:cNvSpPr/>
          <p:nvPr/>
        </p:nvSpPr>
        <p:spPr>
          <a:xfrm>
            <a:off x="1371600" y="4652010"/>
            <a:ext cx="1097280" cy="1005840"/>
          </a:xfrm>
          <a:prstGeom prst="rect">
            <a:avLst/>
          </a:prstGeom>
          <a:noFill/>
          <a:ln/>
        </p:spPr>
        <p:txBody>
          <a:bodyPr wrap="square" rtlCol="0" anchor="ctr"/>
          <a:lstStyle/>
          <a:p>
            <a:pPr algn="ctr"/>
            <a:r>
              <a:rPr lang="en-US" sz="800" dirty="0">
                <a:solidFill>
                  <a:srgbClr val="FFFFFF"/>
                </a:solidFill>
                <a:latin typeface="Calibri" pitchFamily="34" charset="0"/>
                <a:ea typeface="Calibri" pitchFamily="34" charset="-122"/>
                <a:cs typeface="Calibri" pitchFamily="34" charset="-120"/>
              </a:rPr>
              <a:t>APB2</a:t>
            </a:r>
            <a:endParaRPr lang="en-US" sz="800" dirty="0"/>
          </a:p>
          <a:p>
            <a:pPr algn="ctr"/>
            <a:r>
              <a:rPr lang="en-US" sz="800" dirty="0">
                <a:solidFill>
                  <a:srgbClr val="FFFFFF"/>
                </a:solidFill>
                <a:latin typeface="Calibri" pitchFamily="34" charset="0"/>
                <a:ea typeface="Calibri" pitchFamily="34" charset="-122"/>
                <a:cs typeface="Calibri" pitchFamily="34" charset="-120"/>
              </a:rPr>
              <a:t>÷1-16</a:t>
            </a:r>
            <a:endParaRPr lang="en-US" sz="800" dirty="0"/>
          </a:p>
          <a:p>
            <a:pPr algn="ctr"/>
            <a:r>
              <a:rPr lang="en-US" sz="800" dirty="0">
                <a:solidFill>
                  <a:srgbClr val="FFFFFF"/>
                </a:solidFill>
                <a:latin typeface="Calibri" pitchFamily="34" charset="0"/>
                <a:ea typeface="Calibri" pitchFamily="34" charset="-122"/>
                <a:cs typeface="Calibri" pitchFamily="34" charset="-120"/>
              </a:rPr>
              <a:t>PCLK2</a:t>
            </a:r>
            <a:endParaRPr lang="en-US" sz="800" dirty="0"/>
          </a:p>
          <a:p>
            <a:pPr algn="ctr"/>
            <a:r>
              <a:rPr lang="en-US" sz="800" dirty="0">
                <a:solidFill>
                  <a:srgbClr val="FFFFFF"/>
                </a:solidFill>
                <a:latin typeface="Calibri" pitchFamily="34" charset="0"/>
                <a:ea typeface="Calibri" pitchFamily="34" charset="-122"/>
                <a:cs typeface="Calibri" pitchFamily="34" charset="-120"/>
              </a:rPr>
              <a:t>≤120MHz</a:t>
            </a:r>
            <a:endParaRPr lang="en-US" sz="800" dirty="0"/>
          </a:p>
        </p:txBody>
      </p:sp>
      <p:sp>
        <p:nvSpPr>
          <p:cNvPr id="44" name="Shape 42"/>
          <p:cNvSpPr/>
          <p:nvPr/>
        </p:nvSpPr>
        <p:spPr>
          <a:xfrm>
            <a:off x="3108960" y="4331970"/>
            <a:ext cx="0" cy="320040"/>
          </a:xfrm>
          <a:prstGeom prst="line">
            <a:avLst/>
          </a:prstGeom>
          <a:noFill/>
          <a:ln w="19050">
            <a:solidFill>
              <a:srgbClr val="4A5568"/>
            </a:solidFill>
            <a:prstDash val="solid"/>
          </a:ln>
        </p:spPr>
      </p:sp>
      <p:sp>
        <p:nvSpPr>
          <p:cNvPr id="45" name="Shape 43"/>
          <p:cNvSpPr/>
          <p:nvPr/>
        </p:nvSpPr>
        <p:spPr>
          <a:xfrm>
            <a:off x="2560320" y="4652010"/>
            <a:ext cx="1097280" cy="1005840"/>
          </a:xfrm>
          <a:prstGeom prst="roundRect">
            <a:avLst>
              <a:gd name="adj" fmla="val 5455"/>
            </a:avLst>
          </a:prstGeom>
          <a:solidFill>
            <a:srgbClr val="4A5568"/>
          </a:solidFill>
          <a:ln w="12700">
            <a:solidFill>
              <a:srgbClr val="4A5568"/>
            </a:solidFill>
            <a:prstDash val="solid"/>
          </a:ln>
        </p:spPr>
      </p:sp>
      <p:sp>
        <p:nvSpPr>
          <p:cNvPr id="46" name="Text 44"/>
          <p:cNvSpPr/>
          <p:nvPr/>
        </p:nvSpPr>
        <p:spPr>
          <a:xfrm>
            <a:off x="2560320" y="4652010"/>
            <a:ext cx="1097280" cy="1005840"/>
          </a:xfrm>
          <a:prstGeom prst="rect">
            <a:avLst/>
          </a:prstGeom>
          <a:noFill/>
          <a:ln/>
        </p:spPr>
        <p:txBody>
          <a:bodyPr wrap="square" rtlCol="0" anchor="ctr"/>
          <a:lstStyle/>
          <a:p>
            <a:pPr algn="ctr"/>
            <a:r>
              <a:rPr lang="en-US" sz="800" dirty="0">
                <a:solidFill>
                  <a:srgbClr val="FFFFFF"/>
                </a:solidFill>
                <a:latin typeface="Calibri" pitchFamily="34" charset="0"/>
                <a:ea typeface="Calibri" pitchFamily="34" charset="-122"/>
                <a:cs typeface="Calibri" pitchFamily="34" charset="-120"/>
              </a:rPr>
              <a:t>APB3</a:t>
            </a:r>
            <a:endParaRPr lang="en-US" sz="800" dirty="0"/>
          </a:p>
          <a:p>
            <a:pPr algn="ctr"/>
            <a:r>
              <a:rPr lang="en-US" sz="800" dirty="0">
                <a:solidFill>
                  <a:srgbClr val="FFFFFF"/>
                </a:solidFill>
                <a:latin typeface="Calibri" pitchFamily="34" charset="0"/>
                <a:ea typeface="Calibri" pitchFamily="34" charset="-122"/>
                <a:cs typeface="Calibri" pitchFamily="34" charset="-120"/>
              </a:rPr>
              <a:t>÷1-16</a:t>
            </a:r>
            <a:endParaRPr lang="en-US" sz="800" dirty="0"/>
          </a:p>
          <a:p>
            <a:pPr algn="ctr"/>
            <a:r>
              <a:rPr lang="en-US" sz="800" dirty="0">
                <a:solidFill>
                  <a:srgbClr val="FFFFFF"/>
                </a:solidFill>
                <a:latin typeface="Calibri" pitchFamily="34" charset="0"/>
                <a:ea typeface="Calibri" pitchFamily="34" charset="-122"/>
                <a:cs typeface="Calibri" pitchFamily="34" charset="-120"/>
              </a:rPr>
              <a:t>PCLK3</a:t>
            </a:r>
            <a:endParaRPr lang="en-US" sz="800" dirty="0"/>
          </a:p>
          <a:p>
            <a:pPr algn="ctr"/>
            <a:r>
              <a:rPr lang="en-US" sz="800" dirty="0">
                <a:solidFill>
                  <a:srgbClr val="FFFFFF"/>
                </a:solidFill>
                <a:latin typeface="Calibri" pitchFamily="34" charset="0"/>
                <a:ea typeface="Calibri" pitchFamily="34" charset="-122"/>
                <a:cs typeface="Calibri" pitchFamily="34" charset="-120"/>
              </a:rPr>
              <a:t>≤120MHz</a:t>
            </a:r>
            <a:endParaRPr lang="en-US" sz="800" dirty="0"/>
          </a:p>
        </p:txBody>
      </p:sp>
      <p:sp>
        <p:nvSpPr>
          <p:cNvPr id="47" name="Shape 45"/>
          <p:cNvSpPr/>
          <p:nvPr/>
        </p:nvSpPr>
        <p:spPr>
          <a:xfrm>
            <a:off x="4297680" y="4331970"/>
            <a:ext cx="0" cy="320040"/>
          </a:xfrm>
          <a:prstGeom prst="line">
            <a:avLst/>
          </a:prstGeom>
          <a:noFill/>
          <a:ln w="19050">
            <a:solidFill>
              <a:srgbClr val="5B6E9E"/>
            </a:solidFill>
            <a:prstDash val="solid"/>
          </a:ln>
        </p:spPr>
      </p:sp>
      <p:sp>
        <p:nvSpPr>
          <p:cNvPr id="48" name="Shape 46"/>
          <p:cNvSpPr/>
          <p:nvPr/>
        </p:nvSpPr>
        <p:spPr>
          <a:xfrm>
            <a:off x="3749040" y="4652010"/>
            <a:ext cx="1097280" cy="1005840"/>
          </a:xfrm>
          <a:prstGeom prst="roundRect">
            <a:avLst>
              <a:gd name="adj" fmla="val 5455"/>
            </a:avLst>
          </a:prstGeom>
          <a:solidFill>
            <a:srgbClr val="5B6E9E"/>
          </a:solidFill>
          <a:ln w="12700">
            <a:solidFill>
              <a:srgbClr val="5B6E9E"/>
            </a:solidFill>
            <a:prstDash val="solid"/>
          </a:ln>
        </p:spPr>
      </p:sp>
      <p:sp>
        <p:nvSpPr>
          <p:cNvPr id="49" name="Text 47"/>
          <p:cNvSpPr/>
          <p:nvPr/>
        </p:nvSpPr>
        <p:spPr>
          <a:xfrm>
            <a:off x="3749040" y="4652010"/>
            <a:ext cx="1097280" cy="1005840"/>
          </a:xfrm>
          <a:prstGeom prst="rect">
            <a:avLst/>
          </a:prstGeom>
          <a:noFill/>
          <a:ln/>
        </p:spPr>
        <p:txBody>
          <a:bodyPr wrap="square" rtlCol="0" anchor="ctr"/>
          <a:lstStyle/>
          <a:p>
            <a:pPr algn="ctr"/>
            <a:r>
              <a:rPr lang="en-US" sz="800" dirty="0">
                <a:solidFill>
                  <a:srgbClr val="FFFFFF"/>
                </a:solidFill>
                <a:latin typeface="Calibri" pitchFamily="34" charset="0"/>
                <a:ea typeface="Calibri" pitchFamily="34" charset="-122"/>
                <a:cs typeface="Calibri" pitchFamily="34" charset="-120"/>
              </a:rPr>
              <a:t>APB4</a:t>
            </a:r>
            <a:endParaRPr lang="en-US" sz="800" dirty="0"/>
          </a:p>
          <a:p>
            <a:pPr algn="ctr"/>
            <a:r>
              <a:rPr lang="en-US" sz="800" dirty="0">
                <a:solidFill>
                  <a:srgbClr val="FFFFFF"/>
                </a:solidFill>
                <a:latin typeface="Calibri" pitchFamily="34" charset="0"/>
                <a:ea typeface="Calibri" pitchFamily="34" charset="-122"/>
                <a:cs typeface="Calibri" pitchFamily="34" charset="-120"/>
              </a:rPr>
              <a:t>÷1-16</a:t>
            </a:r>
            <a:endParaRPr lang="en-US" sz="800" dirty="0"/>
          </a:p>
          <a:p>
            <a:pPr algn="ctr"/>
            <a:r>
              <a:rPr lang="en-US" sz="800" dirty="0">
                <a:solidFill>
                  <a:srgbClr val="FFFFFF"/>
                </a:solidFill>
                <a:latin typeface="Calibri" pitchFamily="34" charset="0"/>
                <a:ea typeface="Calibri" pitchFamily="34" charset="-122"/>
                <a:cs typeface="Calibri" pitchFamily="34" charset="-120"/>
              </a:rPr>
              <a:t>PCLK4</a:t>
            </a:r>
            <a:endParaRPr lang="en-US" sz="800" dirty="0"/>
          </a:p>
          <a:p>
            <a:pPr algn="ctr"/>
            <a:r>
              <a:rPr lang="en-US" sz="800" dirty="0">
                <a:solidFill>
                  <a:srgbClr val="FFFFFF"/>
                </a:solidFill>
                <a:latin typeface="Calibri" pitchFamily="34" charset="0"/>
                <a:ea typeface="Calibri" pitchFamily="34" charset="-122"/>
                <a:cs typeface="Calibri" pitchFamily="34" charset="-120"/>
              </a:rPr>
              <a:t>≤120MHz</a:t>
            </a:r>
            <a:endParaRPr lang="en-US" sz="800" dirty="0"/>
          </a:p>
        </p:txBody>
      </p:sp>
      <p:sp>
        <p:nvSpPr>
          <p:cNvPr id="50" name="Shape 48"/>
          <p:cNvSpPr/>
          <p:nvPr/>
        </p:nvSpPr>
        <p:spPr>
          <a:xfrm>
            <a:off x="5303520" y="3234690"/>
            <a:ext cx="3566160" cy="2423160"/>
          </a:xfrm>
          <a:prstGeom prst="roundRect">
            <a:avLst>
              <a:gd name="adj" fmla="val 3774"/>
            </a:avLst>
          </a:prstGeom>
          <a:solidFill>
            <a:srgbClr val="E8F4FB"/>
          </a:solidFill>
          <a:ln w="12700">
            <a:solidFill>
              <a:srgbClr val="0080C8"/>
            </a:solidFill>
            <a:prstDash val="solid"/>
          </a:ln>
          <a:effectLst>
            <a:outerShdw blurRad="101600" dist="25400" dir="2700000" algn="bl" rotWithShape="0">
              <a:srgbClr val="000000">
                <a:alpha val="10000"/>
              </a:srgbClr>
            </a:outerShdw>
          </a:effectLst>
        </p:spPr>
      </p:sp>
      <p:sp>
        <p:nvSpPr>
          <p:cNvPr id="51" name="Text 49"/>
          <p:cNvSpPr/>
          <p:nvPr/>
        </p:nvSpPr>
        <p:spPr>
          <a:xfrm>
            <a:off x="5394960" y="3280410"/>
            <a:ext cx="3383280" cy="320040"/>
          </a:xfrm>
          <a:prstGeom prst="rect">
            <a:avLst/>
          </a:prstGeom>
          <a:noFill/>
          <a:ln/>
        </p:spPr>
        <p:txBody>
          <a:bodyPr wrap="square" lIns="0" tIns="0" rIns="0" bIns="0" rtlCol="0" anchor="ctr"/>
          <a:lstStyle/>
          <a:p>
            <a:pPr algn="ctr"/>
            <a:r>
              <a:rPr lang="en-US" sz="1100" b="1" dirty="0">
                <a:solidFill>
                  <a:srgbClr val="1A3A5C"/>
                </a:solidFill>
                <a:latin typeface="Calibri" pitchFamily="34" charset="0"/>
                <a:ea typeface="Calibri" pitchFamily="34" charset="-122"/>
                <a:cs typeface="Calibri" pitchFamily="34" charset="-120"/>
              </a:rPr>
              <a:t>Independent Clock Domains</a:t>
            </a:r>
            <a:endParaRPr lang="en-US" sz="1100" dirty="0"/>
          </a:p>
        </p:txBody>
      </p:sp>
      <p:sp>
        <p:nvSpPr>
          <p:cNvPr id="52" name="Shape 50"/>
          <p:cNvSpPr/>
          <p:nvPr/>
        </p:nvSpPr>
        <p:spPr>
          <a:xfrm>
            <a:off x="5394960" y="3691890"/>
            <a:ext cx="1371600" cy="292608"/>
          </a:xfrm>
          <a:prstGeom prst="rect">
            <a:avLst/>
          </a:prstGeom>
          <a:solidFill>
            <a:srgbClr val="7B5EA7"/>
          </a:solidFill>
          <a:ln w="12700">
            <a:solidFill>
              <a:srgbClr val="7B5EA7"/>
            </a:solidFill>
            <a:prstDash val="solid"/>
          </a:ln>
        </p:spPr>
      </p:sp>
      <p:sp>
        <p:nvSpPr>
          <p:cNvPr id="53" name="Text 51"/>
          <p:cNvSpPr/>
          <p:nvPr/>
        </p:nvSpPr>
        <p:spPr>
          <a:xfrm>
            <a:off x="5394960" y="3691890"/>
            <a:ext cx="1371600" cy="292608"/>
          </a:xfrm>
          <a:prstGeom prst="rect">
            <a:avLst/>
          </a:prstGeom>
          <a:noFill/>
          <a:ln/>
        </p:spPr>
        <p:txBody>
          <a:bodyPr wrap="square" lIns="0" tIns="0" rIns="0" bIns="0" rtlCol="0" anchor="ctr"/>
          <a:lstStyle/>
          <a:p>
            <a:pPr algn="ctr"/>
            <a:r>
              <a:rPr lang="en-US" sz="800" dirty="0">
                <a:solidFill>
                  <a:srgbClr val="FFFFFF"/>
                </a:solidFill>
                <a:latin typeface="Calibri" pitchFamily="34" charset="0"/>
                <a:ea typeface="Calibri" pitchFamily="34" charset="-122"/>
                <a:cs typeface="Calibri" pitchFamily="34" charset="-120"/>
              </a:rPr>
              <a:t>LSE / LSI</a:t>
            </a:r>
            <a:endParaRPr lang="en-US" sz="800" dirty="0"/>
          </a:p>
        </p:txBody>
      </p:sp>
      <p:sp>
        <p:nvSpPr>
          <p:cNvPr id="54" name="Shape 52"/>
          <p:cNvSpPr/>
          <p:nvPr/>
        </p:nvSpPr>
        <p:spPr>
          <a:xfrm>
            <a:off x="6766560" y="3838194"/>
            <a:ext cx="228600" cy="0"/>
          </a:xfrm>
          <a:prstGeom prst="line">
            <a:avLst/>
          </a:prstGeom>
          <a:noFill/>
          <a:ln w="19050">
            <a:solidFill>
              <a:srgbClr val="7B5EA7"/>
            </a:solidFill>
            <a:prstDash val="solid"/>
          </a:ln>
        </p:spPr>
      </p:sp>
      <p:sp>
        <p:nvSpPr>
          <p:cNvPr id="55" name="Text 53"/>
          <p:cNvSpPr/>
          <p:nvPr/>
        </p:nvSpPr>
        <p:spPr>
          <a:xfrm>
            <a:off x="7022592" y="3691890"/>
            <a:ext cx="1737360" cy="292608"/>
          </a:xfrm>
          <a:prstGeom prst="rect">
            <a:avLst/>
          </a:prstGeom>
          <a:noFill/>
          <a:ln/>
        </p:spPr>
        <p:txBody>
          <a:bodyPr wrap="square" lIns="0" tIns="0" rIns="0" bIns="0" rtlCol="0" anchor="ctr"/>
          <a:lstStyle/>
          <a:p>
            <a:r>
              <a:rPr lang="en-US" sz="800" dirty="0">
                <a:solidFill>
                  <a:srgbClr val="1A3A5C"/>
                </a:solidFill>
                <a:latin typeface="Calibri" pitchFamily="34" charset="0"/>
                <a:ea typeface="Calibri" pitchFamily="34" charset="-122"/>
                <a:cs typeface="Calibri" pitchFamily="34" charset="-120"/>
              </a:rPr>
              <a:t>RTC, IWDG, BKPSRAM</a:t>
            </a:r>
            <a:endParaRPr lang="en-US" sz="800" dirty="0"/>
          </a:p>
        </p:txBody>
      </p:sp>
      <p:sp>
        <p:nvSpPr>
          <p:cNvPr id="56" name="Shape 54"/>
          <p:cNvSpPr/>
          <p:nvPr/>
        </p:nvSpPr>
        <p:spPr>
          <a:xfrm>
            <a:off x="5394960" y="4075938"/>
            <a:ext cx="1371600" cy="292608"/>
          </a:xfrm>
          <a:prstGeom prst="rect">
            <a:avLst/>
          </a:prstGeom>
          <a:solidFill>
            <a:srgbClr val="5B8E7D"/>
          </a:solidFill>
          <a:ln w="12700">
            <a:solidFill>
              <a:srgbClr val="5B8E7D"/>
            </a:solidFill>
            <a:prstDash val="solid"/>
          </a:ln>
        </p:spPr>
      </p:sp>
      <p:sp>
        <p:nvSpPr>
          <p:cNvPr id="57" name="Text 55"/>
          <p:cNvSpPr/>
          <p:nvPr/>
        </p:nvSpPr>
        <p:spPr>
          <a:xfrm>
            <a:off x="5394960" y="4075938"/>
            <a:ext cx="1371600" cy="292608"/>
          </a:xfrm>
          <a:prstGeom prst="rect">
            <a:avLst/>
          </a:prstGeom>
          <a:noFill/>
          <a:ln/>
        </p:spPr>
        <p:txBody>
          <a:bodyPr wrap="square" lIns="0" tIns="0" rIns="0" bIns="0" rtlCol="0" anchor="ctr"/>
          <a:lstStyle/>
          <a:p>
            <a:pPr algn="ctr"/>
            <a:r>
              <a:rPr lang="en-US" sz="800" dirty="0">
                <a:solidFill>
                  <a:srgbClr val="FFFFFF"/>
                </a:solidFill>
                <a:latin typeface="Calibri" pitchFamily="34" charset="0"/>
                <a:ea typeface="Calibri" pitchFamily="34" charset="-122"/>
                <a:cs typeface="Calibri" pitchFamily="34" charset="-120"/>
              </a:rPr>
              <a:t>HSI48 / PLL_Q</a:t>
            </a:r>
            <a:endParaRPr lang="en-US" sz="800" dirty="0"/>
          </a:p>
        </p:txBody>
      </p:sp>
      <p:sp>
        <p:nvSpPr>
          <p:cNvPr id="58" name="Shape 56"/>
          <p:cNvSpPr/>
          <p:nvPr/>
        </p:nvSpPr>
        <p:spPr>
          <a:xfrm>
            <a:off x="6766560" y="4222242"/>
            <a:ext cx="228600" cy="0"/>
          </a:xfrm>
          <a:prstGeom prst="line">
            <a:avLst/>
          </a:prstGeom>
          <a:noFill/>
          <a:ln w="19050">
            <a:solidFill>
              <a:srgbClr val="5B8E7D"/>
            </a:solidFill>
            <a:prstDash val="solid"/>
          </a:ln>
        </p:spPr>
      </p:sp>
      <p:sp>
        <p:nvSpPr>
          <p:cNvPr id="59" name="Text 57"/>
          <p:cNvSpPr/>
          <p:nvPr/>
        </p:nvSpPr>
        <p:spPr>
          <a:xfrm>
            <a:off x="7022592" y="4075938"/>
            <a:ext cx="1737360" cy="292608"/>
          </a:xfrm>
          <a:prstGeom prst="rect">
            <a:avLst/>
          </a:prstGeom>
          <a:noFill/>
          <a:ln/>
        </p:spPr>
        <p:txBody>
          <a:bodyPr wrap="square" lIns="0" tIns="0" rIns="0" bIns="0" rtlCol="0" anchor="ctr"/>
          <a:lstStyle/>
          <a:p>
            <a:r>
              <a:rPr lang="en-US" sz="800" dirty="0">
                <a:solidFill>
                  <a:srgbClr val="1A3A5C"/>
                </a:solidFill>
                <a:latin typeface="Calibri" pitchFamily="34" charset="0"/>
                <a:ea typeface="Calibri" pitchFamily="34" charset="-122"/>
                <a:cs typeface="Calibri" pitchFamily="34" charset="-120"/>
              </a:rPr>
              <a:t>USB OTG (must be 48 MHz)</a:t>
            </a:r>
            <a:endParaRPr lang="en-US" sz="800" dirty="0"/>
          </a:p>
        </p:txBody>
      </p:sp>
      <p:sp>
        <p:nvSpPr>
          <p:cNvPr id="60" name="Shape 58"/>
          <p:cNvSpPr/>
          <p:nvPr/>
        </p:nvSpPr>
        <p:spPr>
          <a:xfrm>
            <a:off x="5394960" y="4459986"/>
            <a:ext cx="1371600" cy="292608"/>
          </a:xfrm>
          <a:prstGeom prst="rect">
            <a:avLst/>
          </a:prstGeom>
          <a:solidFill>
            <a:srgbClr val="D4660A"/>
          </a:solidFill>
          <a:ln w="12700">
            <a:solidFill>
              <a:srgbClr val="D4660A"/>
            </a:solidFill>
            <a:prstDash val="solid"/>
          </a:ln>
        </p:spPr>
      </p:sp>
      <p:sp>
        <p:nvSpPr>
          <p:cNvPr id="61" name="Text 59"/>
          <p:cNvSpPr/>
          <p:nvPr/>
        </p:nvSpPr>
        <p:spPr>
          <a:xfrm>
            <a:off x="5394960" y="4459986"/>
            <a:ext cx="1371600" cy="292608"/>
          </a:xfrm>
          <a:prstGeom prst="rect">
            <a:avLst/>
          </a:prstGeom>
          <a:noFill/>
          <a:ln/>
        </p:spPr>
        <p:txBody>
          <a:bodyPr wrap="square" lIns="0" tIns="0" rIns="0" bIns="0" rtlCol="0" anchor="ctr"/>
          <a:lstStyle/>
          <a:p>
            <a:pPr algn="ctr"/>
            <a:r>
              <a:rPr lang="en-US" sz="800" dirty="0">
                <a:solidFill>
                  <a:srgbClr val="FFFFFF"/>
                </a:solidFill>
                <a:latin typeface="Calibri" pitchFamily="34" charset="0"/>
                <a:ea typeface="Calibri" pitchFamily="34" charset="-122"/>
                <a:cs typeface="Calibri" pitchFamily="34" charset="-120"/>
              </a:rPr>
              <a:t>PLL2_P / PLL3_P</a:t>
            </a:r>
            <a:endParaRPr lang="en-US" sz="800" dirty="0"/>
          </a:p>
        </p:txBody>
      </p:sp>
      <p:sp>
        <p:nvSpPr>
          <p:cNvPr id="62" name="Shape 60"/>
          <p:cNvSpPr/>
          <p:nvPr/>
        </p:nvSpPr>
        <p:spPr>
          <a:xfrm>
            <a:off x="6766560" y="4606290"/>
            <a:ext cx="228600" cy="0"/>
          </a:xfrm>
          <a:prstGeom prst="line">
            <a:avLst/>
          </a:prstGeom>
          <a:noFill/>
          <a:ln w="19050">
            <a:solidFill>
              <a:srgbClr val="D4660A"/>
            </a:solidFill>
            <a:prstDash val="solid"/>
          </a:ln>
        </p:spPr>
      </p:sp>
      <p:sp>
        <p:nvSpPr>
          <p:cNvPr id="63" name="Text 61"/>
          <p:cNvSpPr/>
          <p:nvPr/>
        </p:nvSpPr>
        <p:spPr>
          <a:xfrm>
            <a:off x="7022592" y="4459986"/>
            <a:ext cx="1737360" cy="292608"/>
          </a:xfrm>
          <a:prstGeom prst="rect">
            <a:avLst/>
          </a:prstGeom>
          <a:noFill/>
          <a:ln/>
        </p:spPr>
        <p:txBody>
          <a:bodyPr wrap="square" lIns="0" tIns="0" rIns="0" bIns="0" rtlCol="0" anchor="ctr"/>
          <a:lstStyle/>
          <a:p>
            <a:r>
              <a:rPr lang="en-US" sz="800" dirty="0">
                <a:solidFill>
                  <a:srgbClr val="1A3A5C"/>
                </a:solidFill>
                <a:latin typeface="Calibri" pitchFamily="34" charset="0"/>
                <a:ea typeface="Calibri" pitchFamily="34" charset="-122"/>
                <a:cs typeface="Calibri" pitchFamily="34" charset="-120"/>
              </a:rPr>
              <a:t>SAI1/2/3 (Audio)</a:t>
            </a:r>
            <a:endParaRPr lang="en-US" sz="800" dirty="0"/>
          </a:p>
        </p:txBody>
      </p:sp>
      <p:sp>
        <p:nvSpPr>
          <p:cNvPr id="64" name="Shape 62"/>
          <p:cNvSpPr/>
          <p:nvPr/>
        </p:nvSpPr>
        <p:spPr>
          <a:xfrm>
            <a:off x="5394960" y="4844034"/>
            <a:ext cx="1371600" cy="292608"/>
          </a:xfrm>
          <a:prstGeom prst="rect">
            <a:avLst/>
          </a:prstGeom>
          <a:solidFill>
            <a:srgbClr val="9E6B3E"/>
          </a:solidFill>
          <a:ln w="12700">
            <a:solidFill>
              <a:srgbClr val="9E6B3E"/>
            </a:solidFill>
            <a:prstDash val="solid"/>
          </a:ln>
        </p:spPr>
      </p:sp>
      <p:sp>
        <p:nvSpPr>
          <p:cNvPr id="65" name="Text 63"/>
          <p:cNvSpPr/>
          <p:nvPr/>
        </p:nvSpPr>
        <p:spPr>
          <a:xfrm>
            <a:off x="5394960" y="4844034"/>
            <a:ext cx="1371600" cy="292608"/>
          </a:xfrm>
          <a:prstGeom prst="rect">
            <a:avLst/>
          </a:prstGeom>
          <a:noFill/>
          <a:ln/>
        </p:spPr>
        <p:txBody>
          <a:bodyPr wrap="square" lIns="0" tIns="0" rIns="0" bIns="0" rtlCol="0" anchor="ctr"/>
          <a:lstStyle/>
          <a:p>
            <a:pPr algn="ctr"/>
            <a:r>
              <a:rPr lang="en-US" sz="800" dirty="0">
                <a:solidFill>
                  <a:srgbClr val="FFFFFF"/>
                </a:solidFill>
                <a:latin typeface="Calibri" pitchFamily="34" charset="0"/>
                <a:ea typeface="Calibri" pitchFamily="34" charset="-122"/>
                <a:cs typeface="Calibri" pitchFamily="34" charset="-120"/>
              </a:rPr>
              <a:t>PLL3_Q / HSI48</a:t>
            </a:r>
            <a:endParaRPr lang="en-US" sz="800" dirty="0"/>
          </a:p>
        </p:txBody>
      </p:sp>
      <p:sp>
        <p:nvSpPr>
          <p:cNvPr id="66" name="Shape 64"/>
          <p:cNvSpPr/>
          <p:nvPr/>
        </p:nvSpPr>
        <p:spPr>
          <a:xfrm>
            <a:off x="6766560" y="4990338"/>
            <a:ext cx="228600" cy="0"/>
          </a:xfrm>
          <a:prstGeom prst="line">
            <a:avLst/>
          </a:prstGeom>
          <a:noFill/>
          <a:ln w="19050">
            <a:solidFill>
              <a:srgbClr val="9E6B3E"/>
            </a:solidFill>
            <a:prstDash val="solid"/>
          </a:ln>
        </p:spPr>
      </p:sp>
      <p:sp>
        <p:nvSpPr>
          <p:cNvPr id="67" name="Text 65"/>
          <p:cNvSpPr/>
          <p:nvPr/>
        </p:nvSpPr>
        <p:spPr>
          <a:xfrm>
            <a:off x="7022592" y="4844034"/>
            <a:ext cx="1737360" cy="292608"/>
          </a:xfrm>
          <a:prstGeom prst="rect">
            <a:avLst/>
          </a:prstGeom>
          <a:noFill/>
          <a:ln/>
        </p:spPr>
        <p:txBody>
          <a:bodyPr wrap="square" lIns="0" tIns="0" rIns="0" bIns="0" rtlCol="0" anchor="ctr"/>
          <a:lstStyle/>
          <a:p>
            <a:r>
              <a:rPr lang="en-US" sz="800" dirty="0">
                <a:solidFill>
                  <a:srgbClr val="1A3A5C"/>
                </a:solidFill>
                <a:latin typeface="Calibri" pitchFamily="34" charset="0"/>
                <a:ea typeface="Calibri" pitchFamily="34" charset="-122"/>
                <a:cs typeface="Calibri" pitchFamily="34" charset="-120"/>
              </a:rPr>
              <a:t>FDCAN</a:t>
            </a:r>
            <a:endParaRPr lang="en-US" sz="800" dirty="0"/>
          </a:p>
        </p:txBody>
      </p:sp>
      <p:sp>
        <p:nvSpPr>
          <p:cNvPr id="68" name="Shape 66"/>
          <p:cNvSpPr/>
          <p:nvPr/>
        </p:nvSpPr>
        <p:spPr>
          <a:xfrm>
            <a:off x="5394960" y="5228082"/>
            <a:ext cx="1371600" cy="292608"/>
          </a:xfrm>
          <a:prstGeom prst="rect">
            <a:avLst/>
          </a:prstGeom>
          <a:solidFill>
            <a:srgbClr val="4A5568"/>
          </a:solidFill>
          <a:ln w="12700">
            <a:solidFill>
              <a:srgbClr val="4A5568"/>
            </a:solidFill>
            <a:prstDash val="solid"/>
          </a:ln>
        </p:spPr>
      </p:sp>
      <p:sp>
        <p:nvSpPr>
          <p:cNvPr id="69" name="Text 67"/>
          <p:cNvSpPr/>
          <p:nvPr/>
        </p:nvSpPr>
        <p:spPr>
          <a:xfrm>
            <a:off x="5394960" y="5228082"/>
            <a:ext cx="1371600" cy="292608"/>
          </a:xfrm>
          <a:prstGeom prst="rect">
            <a:avLst/>
          </a:prstGeom>
          <a:noFill/>
          <a:ln/>
        </p:spPr>
        <p:txBody>
          <a:bodyPr wrap="square" lIns="0" tIns="0" rIns="0" bIns="0" rtlCol="0" anchor="ctr"/>
          <a:lstStyle/>
          <a:p>
            <a:pPr algn="ctr"/>
            <a:r>
              <a:rPr lang="en-US" sz="800" dirty="0">
                <a:solidFill>
                  <a:srgbClr val="FFFFFF"/>
                </a:solidFill>
                <a:latin typeface="Calibri" pitchFamily="34" charset="0"/>
                <a:ea typeface="Calibri" pitchFamily="34" charset="-122"/>
                <a:cs typeface="Calibri" pitchFamily="34" charset="-120"/>
              </a:rPr>
              <a:t>PLL3_R / PLL2_R</a:t>
            </a:r>
            <a:endParaRPr lang="en-US" sz="800" dirty="0"/>
          </a:p>
        </p:txBody>
      </p:sp>
      <p:sp>
        <p:nvSpPr>
          <p:cNvPr id="70" name="Shape 68"/>
          <p:cNvSpPr/>
          <p:nvPr/>
        </p:nvSpPr>
        <p:spPr>
          <a:xfrm>
            <a:off x="6766560" y="5374386"/>
            <a:ext cx="228600" cy="0"/>
          </a:xfrm>
          <a:prstGeom prst="line">
            <a:avLst/>
          </a:prstGeom>
          <a:noFill/>
          <a:ln w="19050">
            <a:solidFill>
              <a:srgbClr val="4A5568"/>
            </a:solidFill>
            <a:prstDash val="solid"/>
          </a:ln>
        </p:spPr>
      </p:sp>
      <p:sp>
        <p:nvSpPr>
          <p:cNvPr id="71" name="Text 69"/>
          <p:cNvSpPr/>
          <p:nvPr/>
        </p:nvSpPr>
        <p:spPr>
          <a:xfrm>
            <a:off x="7022592" y="5228082"/>
            <a:ext cx="1737360" cy="292608"/>
          </a:xfrm>
          <a:prstGeom prst="rect">
            <a:avLst/>
          </a:prstGeom>
          <a:noFill/>
          <a:ln/>
        </p:spPr>
        <p:txBody>
          <a:bodyPr wrap="square" lIns="0" tIns="0" rIns="0" bIns="0" rtlCol="0" anchor="ctr"/>
          <a:lstStyle/>
          <a:p>
            <a:r>
              <a:rPr lang="en-US" sz="800" dirty="0">
                <a:solidFill>
                  <a:srgbClr val="1A3A5C"/>
                </a:solidFill>
                <a:latin typeface="Calibri" pitchFamily="34" charset="0"/>
                <a:ea typeface="Calibri" pitchFamily="34" charset="-122"/>
                <a:cs typeface="Calibri" pitchFamily="34" charset="-120"/>
              </a:rPr>
              <a:t>DFSDM, SPI1–6</a:t>
            </a:r>
            <a:endParaRPr lang="en-US" sz="800" dirty="0"/>
          </a:p>
        </p:txBody>
      </p:sp>
    </p:spTree>
    <p:extLst>
      <p:ext uri="{BB962C8B-B14F-4D97-AF65-F5344CB8AC3E}">
        <p14:creationId xmlns:p14="http://schemas.microsoft.com/office/powerpoint/2010/main" val="338583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94360"/>
          </a:xfrm>
          <a:prstGeom prst="rect">
            <a:avLst/>
          </a:prstGeom>
          <a:solidFill>
            <a:srgbClr val="1A3A5C"/>
          </a:solidFill>
          <a:ln w="12700">
            <a:solidFill>
              <a:srgbClr val="1A3A5C"/>
            </a:solidFill>
            <a:prstDash val="solid"/>
          </a:ln>
        </p:spPr>
      </p:sp>
      <p:sp>
        <p:nvSpPr>
          <p:cNvPr id="3" name="Text 1"/>
          <p:cNvSpPr/>
          <p:nvPr/>
        </p:nvSpPr>
        <p:spPr>
          <a:xfrm>
            <a:off x="365760" y="857250"/>
            <a:ext cx="8412480" cy="594360"/>
          </a:xfrm>
          <a:prstGeom prst="rect">
            <a:avLst/>
          </a:prstGeom>
          <a:noFill/>
          <a:ln/>
        </p:spPr>
        <p:txBody>
          <a:bodyPr wrap="square" lIns="0" tIns="0" rIns="0" bIns="0" rtlCol="0" anchor="ctr"/>
          <a:lstStyle/>
          <a:p>
            <a:r>
              <a:rPr lang="en-US" b="1" dirty="0">
                <a:solidFill>
                  <a:srgbClr val="FFFFFF"/>
                </a:solidFill>
                <a:latin typeface="Cambria" pitchFamily="34" charset="0"/>
                <a:ea typeface="Cambria" pitchFamily="34" charset="-122"/>
                <a:cs typeface="Cambria" pitchFamily="34" charset="-120"/>
              </a:rPr>
              <a:t>Practical Configuration — 480 MHz from 25 MHz HSE</a:t>
            </a:r>
            <a:endParaRPr lang="en-US" dirty="0"/>
          </a:p>
        </p:txBody>
      </p:sp>
      <p:sp>
        <p:nvSpPr>
          <p:cNvPr id="4" name="Text 2"/>
          <p:cNvSpPr/>
          <p:nvPr/>
        </p:nvSpPr>
        <p:spPr>
          <a:xfrm>
            <a:off x="365760" y="1588770"/>
            <a:ext cx="4114800" cy="320040"/>
          </a:xfrm>
          <a:prstGeom prst="rect">
            <a:avLst/>
          </a:prstGeom>
          <a:noFill/>
          <a:ln/>
        </p:spPr>
        <p:txBody>
          <a:bodyPr wrap="square" lIns="0" tIns="0" rIns="0" bIns="0" rtlCol="0" anchor="ctr"/>
          <a:lstStyle/>
          <a:p>
            <a:r>
              <a:rPr lang="en-US" sz="1300" b="1" dirty="0">
                <a:solidFill>
                  <a:srgbClr val="1A3A5C"/>
                </a:solidFill>
                <a:latin typeface="Cambria" pitchFamily="34" charset="0"/>
                <a:ea typeface="Cambria" pitchFamily="34" charset="-122"/>
                <a:cs typeface="Cambria" pitchFamily="34" charset="-120"/>
              </a:rPr>
              <a:t>Configuration Steps</a:t>
            </a:r>
            <a:endParaRPr lang="en-US" sz="1300" dirty="0"/>
          </a:p>
        </p:txBody>
      </p:sp>
      <p:sp>
        <p:nvSpPr>
          <p:cNvPr id="5" name="Shape 3"/>
          <p:cNvSpPr/>
          <p:nvPr/>
        </p:nvSpPr>
        <p:spPr>
          <a:xfrm>
            <a:off x="365760" y="2027682"/>
            <a:ext cx="301752" cy="301752"/>
          </a:xfrm>
          <a:prstGeom prst="ellipse">
            <a:avLst/>
          </a:prstGeom>
          <a:solidFill>
            <a:srgbClr val="0080C8"/>
          </a:solidFill>
          <a:ln w="12700">
            <a:solidFill>
              <a:srgbClr val="0080C8"/>
            </a:solidFill>
            <a:prstDash val="solid"/>
          </a:ln>
        </p:spPr>
      </p:sp>
      <p:sp>
        <p:nvSpPr>
          <p:cNvPr id="6" name="Text 4"/>
          <p:cNvSpPr/>
          <p:nvPr/>
        </p:nvSpPr>
        <p:spPr>
          <a:xfrm>
            <a:off x="365760" y="2027682"/>
            <a:ext cx="301752" cy="301752"/>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Text 5"/>
          <p:cNvSpPr/>
          <p:nvPr/>
        </p:nvSpPr>
        <p:spPr>
          <a:xfrm>
            <a:off x="731520" y="2018538"/>
            <a:ext cx="3566160" cy="182880"/>
          </a:xfrm>
          <a:prstGeom prst="rect">
            <a:avLst/>
          </a:prstGeom>
          <a:noFill/>
          <a:ln/>
        </p:spPr>
        <p:txBody>
          <a:bodyPr wrap="square" lIns="0" tIns="0" rIns="0" bIns="0" rtlCol="0" anchor="ctr"/>
          <a:lstStyle/>
          <a:p>
            <a:r>
              <a:rPr lang="en-US" sz="1000" b="1" dirty="0">
                <a:solidFill>
                  <a:srgbClr val="1A3A5C"/>
                </a:solidFill>
                <a:latin typeface="Calibri" pitchFamily="34" charset="0"/>
                <a:ea typeface="Calibri" pitchFamily="34" charset="-122"/>
                <a:cs typeface="Calibri" pitchFamily="34" charset="-120"/>
              </a:rPr>
              <a:t>Enable HSE: </a:t>
            </a:r>
            <a:endParaRPr lang="en-US" sz="1000" dirty="0"/>
          </a:p>
        </p:txBody>
      </p:sp>
      <p:sp>
        <p:nvSpPr>
          <p:cNvPr id="8" name="Text 6"/>
          <p:cNvSpPr/>
          <p:nvPr/>
        </p:nvSpPr>
        <p:spPr>
          <a:xfrm>
            <a:off x="731520" y="2201418"/>
            <a:ext cx="3566160" cy="201168"/>
          </a:xfrm>
          <a:prstGeom prst="rect">
            <a:avLst/>
          </a:prstGeom>
          <a:noFill/>
          <a:ln/>
        </p:spPr>
        <p:txBody>
          <a:bodyPr wrap="square" lIns="0" tIns="0" rIns="0" bIns="0" rtlCol="0" anchor="ctr"/>
          <a:lstStyle/>
          <a:p>
            <a:r>
              <a:rPr lang="en-US" sz="900" dirty="0">
                <a:solidFill>
                  <a:srgbClr val="4A5568"/>
                </a:solidFill>
                <a:latin typeface="Calibri" pitchFamily="34" charset="0"/>
                <a:ea typeface="Calibri" pitchFamily="34" charset="-122"/>
                <a:cs typeface="Calibri" pitchFamily="34" charset="-120"/>
              </a:rPr>
              <a:t>Set RCC_CR.HSEON=1, poll HSERDY until 1.</a:t>
            </a:r>
            <a:endParaRPr lang="en-US" sz="900" dirty="0"/>
          </a:p>
        </p:txBody>
      </p:sp>
      <p:sp>
        <p:nvSpPr>
          <p:cNvPr id="9" name="Shape 7"/>
          <p:cNvSpPr/>
          <p:nvPr/>
        </p:nvSpPr>
        <p:spPr>
          <a:xfrm>
            <a:off x="365760" y="2494026"/>
            <a:ext cx="301752" cy="301752"/>
          </a:xfrm>
          <a:prstGeom prst="ellipse">
            <a:avLst/>
          </a:prstGeom>
          <a:solidFill>
            <a:srgbClr val="0080C8"/>
          </a:solidFill>
          <a:ln w="12700">
            <a:solidFill>
              <a:srgbClr val="0080C8"/>
            </a:solidFill>
            <a:prstDash val="solid"/>
          </a:ln>
        </p:spPr>
      </p:sp>
      <p:sp>
        <p:nvSpPr>
          <p:cNvPr id="10" name="Text 8"/>
          <p:cNvSpPr/>
          <p:nvPr/>
        </p:nvSpPr>
        <p:spPr>
          <a:xfrm>
            <a:off x="365760" y="2494026"/>
            <a:ext cx="301752" cy="301752"/>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1" name="Text 9"/>
          <p:cNvSpPr/>
          <p:nvPr/>
        </p:nvSpPr>
        <p:spPr>
          <a:xfrm>
            <a:off x="731520" y="2484882"/>
            <a:ext cx="3566160" cy="182880"/>
          </a:xfrm>
          <a:prstGeom prst="rect">
            <a:avLst/>
          </a:prstGeom>
          <a:noFill/>
          <a:ln/>
        </p:spPr>
        <p:txBody>
          <a:bodyPr wrap="square" lIns="0" tIns="0" rIns="0" bIns="0" rtlCol="0" anchor="ctr"/>
          <a:lstStyle/>
          <a:p>
            <a:r>
              <a:rPr lang="en-US" sz="1000" b="1" dirty="0">
                <a:solidFill>
                  <a:srgbClr val="1A3A5C"/>
                </a:solidFill>
                <a:latin typeface="Calibri" pitchFamily="34" charset="0"/>
                <a:ea typeface="Calibri" pitchFamily="34" charset="-122"/>
                <a:cs typeface="Calibri" pitchFamily="34" charset="-120"/>
              </a:rPr>
              <a:t>Configure PLL1: </a:t>
            </a:r>
            <a:endParaRPr lang="en-US" sz="1000" dirty="0"/>
          </a:p>
        </p:txBody>
      </p:sp>
      <p:sp>
        <p:nvSpPr>
          <p:cNvPr id="12" name="Text 10"/>
          <p:cNvSpPr/>
          <p:nvPr/>
        </p:nvSpPr>
        <p:spPr>
          <a:xfrm>
            <a:off x="731520" y="2667762"/>
            <a:ext cx="3566160" cy="201168"/>
          </a:xfrm>
          <a:prstGeom prst="rect">
            <a:avLst/>
          </a:prstGeom>
          <a:noFill/>
          <a:ln/>
        </p:spPr>
        <p:txBody>
          <a:bodyPr wrap="square" lIns="0" tIns="0" rIns="0" bIns="0" rtlCol="0" anchor="ctr"/>
          <a:lstStyle/>
          <a:p>
            <a:r>
              <a:rPr lang="en-US" sz="900" dirty="0">
                <a:solidFill>
                  <a:srgbClr val="4A5568"/>
                </a:solidFill>
                <a:latin typeface="Calibri" pitchFamily="34" charset="0"/>
                <a:ea typeface="Calibri" pitchFamily="34" charset="-122"/>
                <a:cs typeface="Calibri" pitchFamily="34" charset="-120"/>
              </a:rPr>
              <a:t>Set M=5, N=192, P=2. PLL1 source = HSE. VCO = 25/5×192 = 960 MHz. Output = 960/2 = 480 MHz.</a:t>
            </a:r>
            <a:endParaRPr lang="en-US" sz="900" dirty="0"/>
          </a:p>
        </p:txBody>
      </p:sp>
      <p:sp>
        <p:nvSpPr>
          <p:cNvPr id="13" name="Shape 11"/>
          <p:cNvSpPr/>
          <p:nvPr/>
        </p:nvSpPr>
        <p:spPr>
          <a:xfrm>
            <a:off x="365760" y="2960370"/>
            <a:ext cx="301752" cy="301752"/>
          </a:xfrm>
          <a:prstGeom prst="ellipse">
            <a:avLst/>
          </a:prstGeom>
          <a:solidFill>
            <a:srgbClr val="0080C8"/>
          </a:solidFill>
          <a:ln w="12700">
            <a:solidFill>
              <a:srgbClr val="0080C8"/>
            </a:solidFill>
            <a:prstDash val="solid"/>
          </a:ln>
        </p:spPr>
      </p:sp>
      <p:sp>
        <p:nvSpPr>
          <p:cNvPr id="14" name="Text 12"/>
          <p:cNvSpPr/>
          <p:nvPr/>
        </p:nvSpPr>
        <p:spPr>
          <a:xfrm>
            <a:off x="365760" y="2960370"/>
            <a:ext cx="301752" cy="301752"/>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5" name="Text 13"/>
          <p:cNvSpPr/>
          <p:nvPr/>
        </p:nvSpPr>
        <p:spPr>
          <a:xfrm>
            <a:off x="731520" y="2951226"/>
            <a:ext cx="3566160" cy="182880"/>
          </a:xfrm>
          <a:prstGeom prst="rect">
            <a:avLst/>
          </a:prstGeom>
          <a:noFill/>
          <a:ln/>
        </p:spPr>
        <p:txBody>
          <a:bodyPr wrap="square" lIns="0" tIns="0" rIns="0" bIns="0" rtlCol="0" anchor="ctr"/>
          <a:lstStyle/>
          <a:p>
            <a:r>
              <a:rPr lang="en-US" sz="1000" b="1" dirty="0">
                <a:solidFill>
                  <a:srgbClr val="1A3A5C"/>
                </a:solidFill>
                <a:latin typeface="Calibri" pitchFamily="34" charset="0"/>
                <a:ea typeface="Calibri" pitchFamily="34" charset="-122"/>
                <a:cs typeface="Calibri" pitchFamily="34" charset="-120"/>
              </a:rPr>
              <a:t>Enable PLL1: </a:t>
            </a:r>
            <a:endParaRPr lang="en-US" sz="1000" dirty="0"/>
          </a:p>
        </p:txBody>
      </p:sp>
      <p:sp>
        <p:nvSpPr>
          <p:cNvPr id="16" name="Text 14"/>
          <p:cNvSpPr/>
          <p:nvPr/>
        </p:nvSpPr>
        <p:spPr>
          <a:xfrm>
            <a:off x="731520" y="3134106"/>
            <a:ext cx="3566160" cy="201168"/>
          </a:xfrm>
          <a:prstGeom prst="rect">
            <a:avLst/>
          </a:prstGeom>
          <a:noFill/>
          <a:ln/>
        </p:spPr>
        <p:txBody>
          <a:bodyPr wrap="square" lIns="0" tIns="0" rIns="0" bIns="0" rtlCol="0" anchor="ctr"/>
          <a:lstStyle/>
          <a:p>
            <a:r>
              <a:rPr lang="en-US" sz="900" dirty="0">
                <a:solidFill>
                  <a:srgbClr val="4A5568"/>
                </a:solidFill>
                <a:latin typeface="Calibri" pitchFamily="34" charset="0"/>
                <a:ea typeface="Calibri" pitchFamily="34" charset="-122"/>
                <a:cs typeface="Calibri" pitchFamily="34" charset="-120"/>
              </a:rPr>
              <a:t>Set RCC_CR.PLL1ON=1, poll PLL1RDY until 1.</a:t>
            </a:r>
            <a:endParaRPr lang="en-US" sz="900" dirty="0"/>
          </a:p>
        </p:txBody>
      </p:sp>
      <p:sp>
        <p:nvSpPr>
          <p:cNvPr id="17" name="Shape 15"/>
          <p:cNvSpPr/>
          <p:nvPr/>
        </p:nvSpPr>
        <p:spPr>
          <a:xfrm>
            <a:off x="365760" y="3426714"/>
            <a:ext cx="301752" cy="301752"/>
          </a:xfrm>
          <a:prstGeom prst="ellipse">
            <a:avLst/>
          </a:prstGeom>
          <a:solidFill>
            <a:srgbClr val="0080C8"/>
          </a:solidFill>
          <a:ln w="12700">
            <a:solidFill>
              <a:srgbClr val="0080C8"/>
            </a:solidFill>
            <a:prstDash val="solid"/>
          </a:ln>
        </p:spPr>
      </p:sp>
      <p:sp>
        <p:nvSpPr>
          <p:cNvPr id="18" name="Text 16"/>
          <p:cNvSpPr/>
          <p:nvPr/>
        </p:nvSpPr>
        <p:spPr>
          <a:xfrm>
            <a:off x="365760" y="3426714"/>
            <a:ext cx="301752" cy="301752"/>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9" name="Text 17"/>
          <p:cNvSpPr/>
          <p:nvPr/>
        </p:nvSpPr>
        <p:spPr>
          <a:xfrm>
            <a:off x="731520" y="3417570"/>
            <a:ext cx="3566160" cy="182880"/>
          </a:xfrm>
          <a:prstGeom prst="rect">
            <a:avLst/>
          </a:prstGeom>
          <a:noFill/>
          <a:ln/>
        </p:spPr>
        <p:txBody>
          <a:bodyPr wrap="square" lIns="0" tIns="0" rIns="0" bIns="0" rtlCol="0" anchor="ctr"/>
          <a:lstStyle/>
          <a:p>
            <a:r>
              <a:rPr lang="en-US" sz="1000" b="1" dirty="0">
                <a:solidFill>
                  <a:srgbClr val="1A3A5C"/>
                </a:solidFill>
                <a:latin typeface="Calibri" pitchFamily="34" charset="0"/>
                <a:ea typeface="Calibri" pitchFamily="34" charset="-122"/>
                <a:cs typeface="Calibri" pitchFamily="34" charset="-120"/>
              </a:rPr>
              <a:t>Set flash latency: </a:t>
            </a:r>
            <a:endParaRPr lang="en-US" sz="1000" dirty="0"/>
          </a:p>
        </p:txBody>
      </p:sp>
      <p:sp>
        <p:nvSpPr>
          <p:cNvPr id="20" name="Text 18"/>
          <p:cNvSpPr/>
          <p:nvPr/>
        </p:nvSpPr>
        <p:spPr>
          <a:xfrm>
            <a:off x="731520" y="3600450"/>
            <a:ext cx="3566160" cy="201168"/>
          </a:xfrm>
          <a:prstGeom prst="rect">
            <a:avLst/>
          </a:prstGeom>
          <a:noFill/>
          <a:ln/>
        </p:spPr>
        <p:txBody>
          <a:bodyPr wrap="square" lIns="0" tIns="0" rIns="0" bIns="0" rtlCol="0" anchor="ctr"/>
          <a:lstStyle/>
          <a:p>
            <a:r>
              <a:rPr lang="en-US" sz="900" dirty="0">
                <a:solidFill>
                  <a:srgbClr val="4A5568"/>
                </a:solidFill>
                <a:latin typeface="Calibri" pitchFamily="34" charset="0"/>
                <a:ea typeface="Calibri" pitchFamily="34" charset="-122"/>
                <a:cs typeface="Calibri" pitchFamily="34" charset="-120"/>
              </a:rPr>
              <a:t>Set FLASH_ACR.LATENCY to 4 wait states (required at ≥185 MHz with VOS0).</a:t>
            </a:r>
            <a:endParaRPr lang="en-US" sz="900" dirty="0"/>
          </a:p>
        </p:txBody>
      </p:sp>
      <p:sp>
        <p:nvSpPr>
          <p:cNvPr id="21" name="Shape 19"/>
          <p:cNvSpPr/>
          <p:nvPr/>
        </p:nvSpPr>
        <p:spPr>
          <a:xfrm>
            <a:off x="365760" y="3893058"/>
            <a:ext cx="301752" cy="301752"/>
          </a:xfrm>
          <a:prstGeom prst="ellipse">
            <a:avLst/>
          </a:prstGeom>
          <a:solidFill>
            <a:srgbClr val="0080C8"/>
          </a:solidFill>
          <a:ln w="12700">
            <a:solidFill>
              <a:srgbClr val="0080C8"/>
            </a:solidFill>
            <a:prstDash val="solid"/>
          </a:ln>
        </p:spPr>
      </p:sp>
      <p:sp>
        <p:nvSpPr>
          <p:cNvPr id="22" name="Text 20"/>
          <p:cNvSpPr/>
          <p:nvPr/>
        </p:nvSpPr>
        <p:spPr>
          <a:xfrm>
            <a:off x="365760" y="3893058"/>
            <a:ext cx="301752" cy="301752"/>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Text 21"/>
          <p:cNvSpPr/>
          <p:nvPr/>
        </p:nvSpPr>
        <p:spPr>
          <a:xfrm>
            <a:off x="731520" y="3883914"/>
            <a:ext cx="3566160" cy="182880"/>
          </a:xfrm>
          <a:prstGeom prst="rect">
            <a:avLst/>
          </a:prstGeom>
          <a:noFill/>
          <a:ln/>
        </p:spPr>
        <p:txBody>
          <a:bodyPr wrap="square" lIns="0" tIns="0" rIns="0" bIns="0" rtlCol="0" anchor="ctr"/>
          <a:lstStyle/>
          <a:p>
            <a:r>
              <a:rPr lang="en-US" sz="1000" b="1" dirty="0">
                <a:solidFill>
                  <a:srgbClr val="1A3A5C"/>
                </a:solidFill>
                <a:latin typeface="Calibri" pitchFamily="34" charset="0"/>
                <a:ea typeface="Calibri" pitchFamily="34" charset="-122"/>
                <a:cs typeface="Calibri" pitchFamily="34" charset="-120"/>
              </a:rPr>
              <a:t>Set prescalers: </a:t>
            </a:r>
            <a:endParaRPr lang="en-US" sz="1000" dirty="0"/>
          </a:p>
        </p:txBody>
      </p:sp>
      <p:sp>
        <p:nvSpPr>
          <p:cNvPr id="24" name="Text 22"/>
          <p:cNvSpPr/>
          <p:nvPr/>
        </p:nvSpPr>
        <p:spPr>
          <a:xfrm>
            <a:off x="731520" y="4066794"/>
            <a:ext cx="3566160" cy="201168"/>
          </a:xfrm>
          <a:prstGeom prst="rect">
            <a:avLst/>
          </a:prstGeom>
          <a:noFill/>
          <a:ln/>
        </p:spPr>
        <p:txBody>
          <a:bodyPr wrap="square" lIns="0" tIns="0" rIns="0" bIns="0" rtlCol="0" anchor="ctr"/>
          <a:lstStyle/>
          <a:p>
            <a:r>
              <a:rPr lang="en-US" sz="900" dirty="0">
                <a:solidFill>
                  <a:srgbClr val="4A5568"/>
                </a:solidFill>
                <a:latin typeface="Calibri" pitchFamily="34" charset="0"/>
                <a:ea typeface="Calibri" pitchFamily="34" charset="-122"/>
                <a:cs typeface="Calibri" pitchFamily="34" charset="-120"/>
              </a:rPr>
              <a:t>AHB÷2→240 MHz, APB1÷2, APB2÷2, APB3÷2, APB4÷2 → 120 MHz each.</a:t>
            </a:r>
            <a:endParaRPr lang="en-US" sz="900" dirty="0"/>
          </a:p>
        </p:txBody>
      </p:sp>
      <p:sp>
        <p:nvSpPr>
          <p:cNvPr id="25" name="Shape 23"/>
          <p:cNvSpPr/>
          <p:nvPr/>
        </p:nvSpPr>
        <p:spPr>
          <a:xfrm>
            <a:off x="365760" y="4359402"/>
            <a:ext cx="301752" cy="301752"/>
          </a:xfrm>
          <a:prstGeom prst="ellipse">
            <a:avLst/>
          </a:prstGeom>
          <a:solidFill>
            <a:srgbClr val="0080C8"/>
          </a:solidFill>
          <a:ln w="12700">
            <a:solidFill>
              <a:srgbClr val="0080C8"/>
            </a:solidFill>
            <a:prstDash val="solid"/>
          </a:ln>
        </p:spPr>
      </p:sp>
      <p:sp>
        <p:nvSpPr>
          <p:cNvPr id="26" name="Text 24"/>
          <p:cNvSpPr/>
          <p:nvPr/>
        </p:nvSpPr>
        <p:spPr>
          <a:xfrm>
            <a:off x="365760" y="4359402"/>
            <a:ext cx="301752" cy="301752"/>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7" name="Text 25"/>
          <p:cNvSpPr/>
          <p:nvPr/>
        </p:nvSpPr>
        <p:spPr>
          <a:xfrm>
            <a:off x="731520" y="4350258"/>
            <a:ext cx="3566160" cy="182880"/>
          </a:xfrm>
          <a:prstGeom prst="rect">
            <a:avLst/>
          </a:prstGeom>
          <a:noFill/>
          <a:ln/>
        </p:spPr>
        <p:txBody>
          <a:bodyPr wrap="square" lIns="0" tIns="0" rIns="0" bIns="0" rtlCol="0" anchor="ctr"/>
          <a:lstStyle/>
          <a:p>
            <a:r>
              <a:rPr lang="en-US" sz="1000" b="1" dirty="0">
                <a:solidFill>
                  <a:srgbClr val="1A3A5C"/>
                </a:solidFill>
                <a:latin typeface="Calibri" pitchFamily="34" charset="0"/>
                <a:ea typeface="Calibri" pitchFamily="34" charset="-122"/>
                <a:cs typeface="Calibri" pitchFamily="34" charset="-120"/>
              </a:rPr>
              <a:t>Switch SYSCLK: </a:t>
            </a:r>
            <a:endParaRPr lang="en-US" sz="1000" dirty="0"/>
          </a:p>
        </p:txBody>
      </p:sp>
      <p:sp>
        <p:nvSpPr>
          <p:cNvPr id="28" name="Text 26"/>
          <p:cNvSpPr/>
          <p:nvPr/>
        </p:nvSpPr>
        <p:spPr>
          <a:xfrm>
            <a:off x="731520" y="4533138"/>
            <a:ext cx="3566160" cy="201168"/>
          </a:xfrm>
          <a:prstGeom prst="rect">
            <a:avLst/>
          </a:prstGeom>
          <a:noFill/>
          <a:ln/>
        </p:spPr>
        <p:txBody>
          <a:bodyPr wrap="square" lIns="0" tIns="0" rIns="0" bIns="0" rtlCol="0" anchor="ctr"/>
          <a:lstStyle/>
          <a:p>
            <a:r>
              <a:rPr lang="en-US" sz="900" dirty="0">
                <a:solidFill>
                  <a:srgbClr val="4A5568"/>
                </a:solidFill>
                <a:latin typeface="Calibri" pitchFamily="34" charset="0"/>
                <a:ea typeface="Calibri" pitchFamily="34" charset="-122"/>
                <a:cs typeface="Calibri" pitchFamily="34" charset="-120"/>
              </a:rPr>
              <a:t>Set RCC_CFGR.SW=11 (PLL1_P), poll SWS until =11.</a:t>
            </a:r>
            <a:endParaRPr lang="en-US" sz="900" dirty="0"/>
          </a:p>
        </p:txBody>
      </p:sp>
      <p:sp>
        <p:nvSpPr>
          <p:cNvPr id="29" name="Shape 27"/>
          <p:cNvSpPr/>
          <p:nvPr/>
        </p:nvSpPr>
        <p:spPr>
          <a:xfrm>
            <a:off x="365760" y="4825746"/>
            <a:ext cx="301752" cy="301752"/>
          </a:xfrm>
          <a:prstGeom prst="ellipse">
            <a:avLst/>
          </a:prstGeom>
          <a:solidFill>
            <a:srgbClr val="0080C8"/>
          </a:solidFill>
          <a:ln w="12700">
            <a:solidFill>
              <a:srgbClr val="0080C8"/>
            </a:solidFill>
            <a:prstDash val="solid"/>
          </a:ln>
        </p:spPr>
      </p:sp>
      <p:sp>
        <p:nvSpPr>
          <p:cNvPr id="30" name="Text 28"/>
          <p:cNvSpPr/>
          <p:nvPr/>
        </p:nvSpPr>
        <p:spPr>
          <a:xfrm>
            <a:off x="365760" y="4825746"/>
            <a:ext cx="301752" cy="301752"/>
          </a:xfrm>
          <a:prstGeom prst="rect">
            <a:avLst/>
          </a:prstGeom>
          <a:noFill/>
          <a:ln/>
        </p:spPr>
        <p:txBody>
          <a:bodyPr wrap="square" lIns="0" tIns="0" rIns="0" bIns="0" rtlCol="0" anchor="ctr"/>
          <a:lstStyle/>
          <a:p>
            <a:pPr algn="ct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31" name="Text 29"/>
          <p:cNvSpPr/>
          <p:nvPr/>
        </p:nvSpPr>
        <p:spPr>
          <a:xfrm>
            <a:off x="731520" y="4816602"/>
            <a:ext cx="3566160" cy="182880"/>
          </a:xfrm>
          <a:prstGeom prst="rect">
            <a:avLst/>
          </a:prstGeom>
          <a:noFill/>
          <a:ln/>
        </p:spPr>
        <p:txBody>
          <a:bodyPr wrap="square" lIns="0" tIns="0" rIns="0" bIns="0" rtlCol="0" anchor="ctr"/>
          <a:lstStyle/>
          <a:p>
            <a:r>
              <a:rPr lang="en-US" sz="1000" b="1" dirty="0">
                <a:solidFill>
                  <a:srgbClr val="1A3A5C"/>
                </a:solidFill>
                <a:latin typeface="Calibri" pitchFamily="34" charset="0"/>
                <a:ea typeface="Calibri" pitchFamily="34" charset="-122"/>
                <a:cs typeface="Calibri" pitchFamily="34" charset="-120"/>
              </a:rPr>
              <a:t>Verify: </a:t>
            </a:r>
            <a:endParaRPr lang="en-US" sz="1000" dirty="0"/>
          </a:p>
        </p:txBody>
      </p:sp>
      <p:sp>
        <p:nvSpPr>
          <p:cNvPr id="32" name="Text 30"/>
          <p:cNvSpPr/>
          <p:nvPr/>
        </p:nvSpPr>
        <p:spPr>
          <a:xfrm>
            <a:off x="731520" y="4999482"/>
            <a:ext cx="3566160" cy="201168"/>
          </a:xfrm>
          <a:prstGeom prst="rect">
            <a:avLst/>
          </a:prstGeom>
          <a:noFill/>
          <a:ln/>
        </p:spPr>
        <p:txBody>
          <a:bodyPr wrap="square" lIns="0" tIns="0" rIns="0" bIns="0" rtlCol="0" anchor="ctr"/>
          <a:lstStyle/>
          <a:p>
            <a:r>
              <a:rPr lang="en-US" sz="900" dirty="0">
                <a:solidFill>
                  <a:srgbClr val="4A5568"/>
                </a:solidFill>
                <a:latin typeface="Calibri" pitchFamily="34" charset="0"/>
                <a:ea typeface="Calibri" pitchFamily="34" charset="-122"/>
                <a:cs typeface="Calibri" pitchFamily="34" charset="-120"/>
              </a:rPr>
              <a:t>Read SystemCoreClock or check with HAL_RCC_GetSysClockFreq() == 480000000UL.</a:t>
            </a:r>
            <a:endParaRPr lang="en-US" sz="900" dirty="0"/>
          </a:p>
        </p:txBody>
      </p:sp>
      <p:sp>
        <p:nvSpPr>
          <p:cNvPr id="33" name="Shape 31"/>
          <p:cNvSpPr/>
          <p:nvPr/>
        </p:nvSpPr>
        <p:spPr>
          <a:xfrm>
            <a:off x="4663440" y="1588770"/>
            <a:ext cx="4206240" cy="4160520"/>
          </a:xfrm>
          <a:prstGeom prst="roundRect">
            <a:avLst>
              <a:gd name="adj" fmla="val 2198"/>
            </a:avLst>
          </a:prstGeom>
          <a:solidFill>
            <a:srgbClr val="1E1E2E"/>
          </a:solidFill>
          <a:ln w="12700">
            <a:solidFill>
              <a:srgbClr val="0080C8"/>
            </a:solidFill>
            <a:prstDash val="solid"/>
          </a:ln>
          <a:effectLst>
            <a:outerShdw blurRad="101600" dist="25400" dir="2700000" algn="bl" rotWithShape="0">
              <a:srgbClr val="000000">
                <a:alpha val="10000"/>
              </a:srgbClr>
            </a:outerShdw>
          </a:effectLst>
        </p:spPr>
      </p:sp>
      <p:sp>
        <p:nvSpPr>
          <p:cNvPr id="34" name="Text 32"/>
          <p:cNvSpPr/>
          <p:nvPr/>
        </p:nvSpPr>
        <p:spPr>
          <a:xfrm>
            <a:off x="4800600" y="1698498"/>
            <a:ext cx="3931920" cy="256032"/>
          </a:xfrm>
          <a:prstGeom prst="rect">
            <a:avLst/>
          </a:prstGeom>
          <a:noFill/>
          <a:ln/>
        </p:spPr>
        <p:txBody>
          <a:bodyPr wrap="square" lIns="0" tIns="0" rIns="0" bIns="0" rtlCol="0" anchor="ctr"/>
          <a:lstStyle/>
          <a:p>
            <a:r>
              <a:rPr lang="en-US" sz="850" dirty="0">
                <a:solidFill>
                  <a:srgbClr val="6A9FB5"/>
                </a:solidFill>
                <a:latin typeface="Courier New" pitchFamily="34" charset="0"/>
                <a:ea typeface="Courier New" pitchFamily="34" charset="-122"/>
                <a:cs typeface="Courier New" pitchFamily="34" charset="-120"/>
              </a:rPr>
              <a:t>// STM32H7 — 480 MHz from 25 MHz HSE (HAL)</a:t>
            </a:r>
            <a:endParaRPr lang="en-US" sz="850" dirty="0"/>
          </a:p>
        </p:txBody>
      </p:sp>
      <p:sp>
        <p:nvSpPr>
          <p:cNvPr id="35" name="Text 33"/>
          <p:cNvSpPr/>
          <p:nvPr/>
        </p:nvSpPr>
        <p:spPr>
          <a:xfrm>
            <a:off x="4754880" y="2000250"/>
            <a:ext cx="4069080" cy="3611880"/>
          </a:xfrm>
          <a:prstGeom prst="rect">
            <a:avLst/>
          </a:prstGeom>
          <a:noFill/>
          <a:ln/>
        </p:spPr>
        <p:txBody>
          <a:bodyPr wrap="square" lIns="0" tIns="0" rIns="0" bIns="0" rtlCol="0" anchor="t"/>
          <a:lstStyle/>
          <a:p>
            <a:r>
              <a:rPr lang="en-US" sz="800" dirty="0">
                <a:solidFill>
                  <a:srgbClr val="CDD6F4"/>
                </a:solidFill>
                <a:latin typeface="Courier New" pitchFamily="34" charset="0"/>
                <a:ea typeface="Courier New" pitchFamily="34" charset="-122"/>
                <a:cs typeface="Courier New" pitchFamily="34" charset="-120"/>
              </a:rPr>
              <a:t>RCC_OscInitTypeDef osc = {0};</a:t>
            </a:r>
            <a:endParaRPr lang="en-US" sz="800" dirty="0"/>
          </a:p>
          <a:p>
            <a:r>
              <a:rPr lang="en-US" sz="800" dirty="0">
                <a:solidFill>
                  <a:srgbClr val="CDD6F4"/>
                </a:solidFill>
                <a:latin typeface="Courier New" pitchFamily="34" charset="0"/>
                <a:ea typeface="Courier New" pitchFamily="34" charset="-122"/>
                <a:cs typeface="Courier New" pitchFamily="34" charset="-120"/>
              </a:rPr>
              <a:t>osc.OscillatorType = RCC_OSCILLATORTYPE_HSE;</a:t>
            </a:r>
            <a:endParaRPr lang="en-US" sz="800" dirty="0"/>
          </a:p>
          <a:p>
            <a:r>
              <a:rPr lang="en-US" sz="800" dirty="0">
                <a:solidFill>
                  <a:srgbClr val="CDD6F4"/>
                </a:solidFill>
                <a:latin typeface="Courier New" pitchFamily="34" charset="0"/>
                <a:ea typeface="Courier New" pitchFamily="34" charset="-122"/>
                <a:cs typeface="Courier New" pitchFamily="34" charset="-120"/>
              </a:rPr>
              <a:t>osc.HSEState       = RCC_HSE_ON;</a:t>
            </a:r>
            <a:endParaRPr lang="en-US" sz="800" dirty="0"/>
          </a:p>
          <a:p>
            <a:r>
              <a:rPr lang="en-US" sz="800" dirty="0">
                <a:solidFill>
                  <a:srgbClr val="CDD6F4"/>
                </a:solidFill>
                <a:latin typeface="Courier New" pitchFamily="34" charset="0"/>
                <a:ea typeface="Courier New" pitchFamily="34" charset="-122"/>
                <a:cs typeface="Courier New" pitchFamily="34" charset="-120"/>
              </a:rPr>
              <a:t>osc.PLL.PLLState   = RCC_PLL_ON;</a:t>
            </a:r>
            <a:endParaRPr lang="en-US" sz="800" dirty="0"/>
          </a:p>
          <a:p>
            <a:r>
              <a:rPr lang="en-US" sz="800" dirty="0">
                <a:solidFill>
                  <a:srgbClr val="CDD6F4"/>
                </a:solidFill>
                <a:latin typeface="Courier New" pitchFamily="34" charset="0"/>
                <a:ea typeface="Courier New" pitchFamily="34" charset="-122"/>
                <a:cs typeface="Courier New" pitchFamily="34" charset="-120"/>
              </a:rPr>
              <a:t>osc.PLL.PLLSource  = RCC_PLLSOURCE_HSE;</a:t>
            </a:r>
            <a:endParaRPr lang="en-US" sz="800" dirty="0"/>
          </a:p>
          <a:p>
            <a:r>
              <a:rPr lang="en-US" sz="800" dirty="0">
                <a:solidFill>
                  <a:srgbClr val="CDD6F4"/>
                </a:solidFill>
                <a:latin typeface="Courier New" pitchFamily="34" charset="0"/>
                <a:ea typeface="Courier New" pitchFamily="34" charset="-122"/>
                <a:cs typeface="Courier New" pitchFamily="34" charset="-120"/>
              </a:rPr>
              <a:t>osc.PLL.PLLM       = 5;   // 25 / 5 = 5 MHz</a:t>
            </a:r>
            <a:endParaRPr lang="en-US" sz="800" dirty="0"/>
          </a:p>
          <a:p>
            <a:r>
              <a:rPr lang="en-US" sz="800" dirty="0">
                <a:solidFill>
                  <a:srgbClr val="CDD6F4"/>
                </a:solidFill>
                <a:latin typeface="Courier New" pitchFamily="34" charset="0"/>
                <a:ea typeface="Courier New" pitchFamily="34" charset="-122"/>
                <a:cs typeface="Courier New" pitchFamily="34" charset="-120"/>
              </a:rPr>
              <a:t>osc.PLL.PLLN       = 192; // 5 × 192 = 960 MHz</a:t>
            </a:r>
            <a:endParaRPr lang="en-US" sz="800" dirty="0"/>
          </a:p>
          <a:p>
            <a:r>
              <a:rPr lang="en-US" sz="800" dirty="0">
                <a:solidFill>
                  <a:srgbClr val="CDD6F4"/>
                </a:solidFill>
                <a:latin typeface="Courier New" pitchFamily="34" charset="0"/>
                <a:ea typeface="Courier New" pitchFamily="34" charset="-122"/>
                <a:cs typeface="Courier New" pitchFamily="34" charset="-120"/>
              </a:rPr>
              <a:t>osc.PLL.PLLP       = 2;   // 960 / 2 = 480 MHz</a:t>
            </a:r>
            <a:endParaRPr lang="en-US" sz="800" dirty="0"/>
          </a:p>
          <a:p>
            <a:r>
              <a:rPr lang="en-US" sz="800" dirty="0">
                <a:solidFill>
                  <a:srgbClr val="CDD6F4"/>
                </a:solidFill>
                <a:latin typeface="Courier New" pitchFamily="34" charset="0"/>
                <a:ea typeface="Courier New" pitchFamily="34" charset="-122"/>
                <a:cs typeface="Courier New" pitchFamily="34" charset="-120"/>
              </a:rPr>
              <a:t>osc.PLL.PLLQ       = 10;  // 960 / 10 = 96 MHz (USB)</a:t>
            </a:r>
            <a:endParaRPr lang="en-US" sz="800" dirty="0"/>
          </a:p>
          <a:p>
            <a:r>
              <a:rPr lang="en-US" sz="800" dirty="0">
                <a:solidFill>
                  <a:srgbClr val="CDD6F4"/>
                </a:solidFill>
                <a:latin typeface="Courier New" pitchFamily="34" charset="0"/>
                <a:ea typeface="Courier New" pitchFamily="34" charset="-122"/>
                <a:cs typeface="Courier New" pitchFamily="34" charset="-120"/>
              </a:rPr>
              <a:t>osc.PLL.PLLR       = 2;   // 960 / 2 = 480 MHz</a:t>
            </a:r>
            <a:endParaRPr lang="en-US" sz="800" dirty="0"/>
          </a:p>
          <a:p>
            <a:r>
              <a:rPr lang="en-US" sz="800" dirty="0">
                <a:solidFill>
                  <a:srgbClr val="CDD6F4"/>
                </a:solidFill>
                <a:latin typeface="Courier New" pitchFamily="34" charset="0"/>
                <a:ea typeface="Courier New" pitchFamily="34" charset="-122"/>
                <a:cs typeface="Courier New" pitchFamily="34" charset="-120"/>
              </a:rPr>
              <a:t>HAL_RCC_OscConfig(&amp;osc);</a:t>
            </a:r>
            <a:endParaRPr lang="en-US" sz="800" dirty="0"/>
          </a:p>
          <a:p>
            <a:endParaRPr lang="en-US" sz="800" dirty="0"/>
          </a:p>
          <a:p>
            <a:r>
              <a:rPr lang="en-US" sz="800" dirty="0">
                <a:solidFill>
                  <a:srgbClr val="CDD6F4"/>
                </a:solidFill>
                <a:latin typeface="Courier New" pitchFamily="34" charset="0"/>
                <a:ea typeface="Courier New" pitchFamily="34" charset="-122"/>
                <a:cs typeface="Courier New" pitchFamily="34" charset="-120"/>
              </a:rPr>
              <a:t>RCC_ClkInitTypeDef clk = {0};</a:t>
            </a:r>
            <a:endParaRPr lang="en-US" sz="800" dirty="0"/>
          </a:p>
          <a:p>
            <a:r>
              <a:rPr lang="en-US" sz="800" dirty="0">
                <a:solidFill>
                  <a:srgbClr val="CDD6F4"/>
                </a:solidFill>
                <a:latin typeface="Courier New" pitchFamily="34" charset="0"/>
                <a:ea typeface="Courier New" pitchFamily="34" charset="-122"/>
                <a:cs typeface="Courier New" pitchFamily="34" charset="-120"/>
              </a:rPr>
              <a:t>clk.ClockType = RCC_CLOCKTYPE_SYSCLK</a:t>
            </a:r>
            <a:endParaRPr lang="en-US" sz="800" dirty="0"/>
          </a:p>
          <a:p>
            <a:r>
              <a:rPr lang="en-US" sz="800" dirty="0">
                <a:solidFill>
                  <a:srgbClr val="CDD6F4"/>
                </a:solidFill>
                <a:latin typeface="Courier New" pitchFamily="34" charset="0"/>
                <a:ea typeface="Courier New" pitchFamily="34" charset="-122"/>
                <a:cs typeface="Courier New" pitchFamily="34" charset="-120"/>
              </a:rPr>
              <a:t>              | RCC_CLOCKTYPE_HCLK</a:t>
            </a:r>
            <a:endParaRPr lang="en-US" sz="800" dirty="0"/>
          </a:p>
          <a:p>
            <a:r>
              <a:rPr lang="en-US" sz="800" dirty="0">
                <a:solidFill>
                  <a:srgbClr val="CDD6F4"/>
                </a:solidFill>
                <a:latin typeface="Courier New" pitchFamily="34" charset="0"/>
                <a:ea typeface="Courier New" pitchFamily="34" charset="-122"/>
                <a:cs typeface="Courier New" pitchFamily="34" charset="-120"/>
              </a:rPr>
              <a:t>              | RCC_CLOCKTYPE_PCLK1</a:t>
            </a:r>
            <a:endParaRPr lang="en-US" sz="800" dirty="0"/>
          </a:p>
          <a:p>
            <a:r>
              <a:rPr lang="en-US" sz="800" dirty="0">
                <a:solidFill>
                  <a:srgbClr val="CDD6F4"/>
                </a:solidFill>
                <a:latin typeface="Courier New" pitchFamily="34" charset="0"/>
                <a:ea typeface="Courier New" pitchFamily="34" charset="-122"/>
                <a:cs typeface="Courier New" pitchFamily="34" charset="-120"/>
              </a:rPr>
              <a:t>              | RCC_CLOCKTYPE_PCLK2;</a:t>
            </a:r>
            <a:endParaRPr lang="en-US" sz="800" dirty="0"/>
          </a:p>
          <a:p>
            <a:r>
              <a:rPr lang="en-US" sz="800" dirty="0">
                <a:solidFill>
                  <a:srgbClr val="CDD6F4"/>
                </a:solidFill>
                <a:latin typeface="Courier New" pitchFamily="34" charset="0"/>
                <a:ea typeface="Courier New" pitchFamily="34" charset="-122"/>
                <a:cs typeface="Courier New" pitchFamily="34" charset="-120"/>
              </a:rPr>
              <a:t>clk.SYSCLKSource   = RCC_SYSCLKSOURCE_PLLCLK;</a:t>
            </a:r>
            <a:endParaRPr lang="en-US" sz="800" dirty="0"/>
          </a:p>
          <a:p>
            <a:r>
              <a:rPr lang="en-US" sz="800" dirty="0">
                <a:solidFill>
                  <a:srgbClr val="CDD6F4"/>
                </a:solidFill>
                <a:latin typeface="Courier New" pitchFamily="34" charset="0"/>
                <a:ea typeface="Courier New" pitchFamily="34" charset="-122"/>
                <a:cs typeface="Courier New" pitchFamily="34" charset="-120"/>
              </a:rPr>
              <a:t>clk.AHBCLKDivider  = RCC_HCLK_DIV2;  // 240MHz</a:t>
            </a:r>
            <a:endParaRPr lang="en-US" sz="800" dirty="0"/>
          </a:p>
          <a:p>
            <a:r>
              <a:rPr lang="en-US" sz="800" dirty="0">
                <a:solidFill>
                  <a:srgbClr val="CDD6F4"/>
                </a:solidFill>
                <a:latin typeface="Courier New" pitchFamily="34" charset="0"/>
                <a:ea typeface="Courier New" pitchFamily="34" charset="-122"/>
                <a:cs typeface="Courier New" pitchFamily="34" charset="-120"/>
              </a:rPr>
              <a:t>clk.APB1CLKDivider = RCC_APB1_DIV2;  // 120MHz</a:t>
            </a:r>
            <a:endParaRPr lang="en-US" sz="800" dirty="0"/>
          </a:p>
          <a:p>
            <a:r>
              <a:rPr lang="en-US" sz="800" dirty="0">
                <a:solidFill>
                  <a:srgbClr val="CDD6F4"/>
                </a:solidFill>
                <a:latin typeface="Courier New" pitchFamily="34" charset="0"/>
                <a:ea typeface="Courier New" pitchFamily="34" charset="-122"/>
                <a:cs typeface="Courier New" pitchFamily="34" charset="-120"/>
              </a:rPr>
              <a:t>clk.APB2CLKDivider = RCC_APB2_DIV2;  // 120MHz</a:t>
            </a:r>
            <a:endParaRPr lang="en-US" sz="800" dirty="0"/>
          </a:p>
          <a:p>
            <a:r>
              <a:rPr lang="en-US" sz="800" dirty="0">
                <a:solidFill>
                  <a:srgbClr val="CDD6F4"/>
                </a:solidFill>
                <a:latin typeface="Courier New" pitchFamily="34" charset="0"/>
                <a:ea typeface="Courier New" pitchFamily="34" charset="-122"/>
                <a:cs typeface="Courier New" pitchFamily="34" charset="-120"/>
              </a:rPr>
              <a:t>HAL_RCC_ClockConfig(&amp;clk, FLASH_LATENCY_4);</a:t>
            </a:r>
            <a:endParaRPr lang="en-US" sz="800" dirty="0"/>
          </a:p>
        </p:txBody>
      </p:sp>
      <p:sp>
        <p:nvSpPr>
          <p:cNvPr id="36" name="Shape 34"/>
          <p:cNvSpPr/>
          <p:nvPr/>
        </p:nvSpPr>
        <p:spPr>
          <a:xfrm>
            <a:off x="365760" y="5228082"/>
            <a:ext cx="4114800" cy="594360"/>
          </a:xfrm>
          <a:prstGeom prst="roundRect">
            <a:avLst>
              <a:gd name="adj" fmla="val 9231"/>
            </a:avLst>
          </a:prstGeom>
          <a:solidFill>
            <a:srgbClr val="FFF3F0"/>
          </a:solidFill>
          <a:ln w="12700">
            <a:solidFill>
              <a:srgbClr val="D4660A"/>
            </a:solidFill>
            <a:prstDash val="solid"/>
          </a:ln>
        </p:spPr>
      </p:sp>
      <p:sp>
        <p:nvSpPr>
          <p:cNvPr id="37" name="Text 35"/>
          <p:cNvSpPr/>
          <p:nvPr/>
        </p:nvSpPr>
        <p:spPr>
          <a:xfrm>
            <a:off x="502920" y="5273802"/>
            <a:ext cx="3840480" cy="502920"/>
          </a:xfrm>
          <a:prstGeom prst="rect">
            <a:avLst/>
          </a:prstGeom>
          <a:noFill/>
          <a:ln/>
        </p:spPr>
        <p:txBody>
          <a:bodyPr wrap="square" rtlCol="0" anchor="t"/>
          <a:lstStyle/>
          <a:p>
            <a:r>
              <a:rPr lang="en-US" sz="1000" b="1" dirty="0">
                <a:solidFill>
                  <a:srgbClr val="D4660A"/>
                </a:solidFill>
                <a:latin typeface="Calibri" pitchFamily="34" charset="0"/>
                <a:ea typeface="Calibri" pitchFamily="34" charset="-122"/>
                <a:cs typeface="Calibri" pitchFamily="34" charset="-120"/>
              </a:rPr>
              <a:t>⚡ Power domain: </a:t>
            </a:r>
            <a:r>
              <a:rPr lang="en-US" sz="1000" dirty="0">
                <a:solidFill>
                  <a:srgbClr val="1A1A2E"/>
                </a:solidFill>
                <a:latin typeface="Calibri" pitchFamily="34" charset="0"/>
                <a:ea typeface="Calibri" pitchFamily="34" charset="-122"/>
                <a:cs typeface="Calibri" pitchFamily="34" charset="-120"/>
              </a:rPr>
              <a:t>480 MHz requires VOS0 (Voltage Scale 0) via PWR_D3CR. Enable it BEFORE configuring PLL to 480 MHz or the MCU will hard-fault.</a:t>
            </a:r>
            <a:endParaRPr lang="en-US" sz="1000" dirty="0"/>
          </a:p>
        </p:txBody>
      </p:sp>
    </p:spTree>
    <p:extLst>
      <p:ext uri="{BB962C8B-B14F-4D97-AF65-F5344CB8AC3E}">
        <p14:creationId xmlns:p14="http://schemas.microsoft.com/office/powerpoint/2010/main" val="232702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57250"/>
            <a:ext cx="9144000" cy="594360"/>
          </a:xfrm>
          <a:prstGeom prst="rect">
            <a:avLst/>
          </a:prstGeom>
          <a:solidFill>
            <a:srgbClr val="1A3A5C"/>
          </a:solidFill>
          <a:ln w="12700">
            <a:solidFill>
              <a:srgbClr val="1A3A5C"/>
            </a:solidFill>
            <a:prstDash val="solid"/>
          </a:ln>
        </p:spPr>
      </p:sp>
      <p:sp>
        <p:nvSpPr>
          <p:cNvPr id="3" name="Text 1"/>
          <p:cNvSpPr/>
          <p:nvPr/>
        </p:nvSpPr>
        <p:spPr>
          <a:xfrm>
            <a:off x="365760" y="857250"/>
            <a:ext cx="8412480" cy="594360"/>
          </a:xfrm>
          <a:prstGeom prst="rect">
            <a:avLst/>
          </a:prstGeom>
          <a:noFill/>
          <a:ln/>
        </p:spPr>
        <p:txBody>
          <a:bodyPr wrap="square" lIns="0" tIns="0" rIns="0" bIns="0" rtlCol="0" anchor="ctr"/>
          <a:lstStyle/>
          <a:p>
            <a:r>
              <a:rPr lang="en-US" b="1" dirty="0">
                <a:solidFill>
                  <a:srgbClr val="FFFFFF"/>
                </a:solidFill>
                <a:latin typeface="Cambria" pitchFamily="34" charset="0"/>
                <a:ea typeface="Cambria" pitchFamily="34" charset="-122"/>
                <a:cs typeface="Cambria" pitchFamily="34" charset="-120"/>
              </a:rPr>
              <a:t>Summary — STM32H7 Clock Tree Key Takeaways</a:t>
            </a:r>
            <a:endParaRPr lang="en-US" dirty="0"/>
          </a:p>
        </p:txBody>
      </p:sp>
      <p:sp>
        <p:nvSpPr>
          <p:cNvPr id="4" name="Shape 2"/>
          <p:cNvSpPr/>
          <p:nvPr/>
        </p:nvSpPr>
        <p:spPr>
          <a:xfrm>
            <a:off x="274320" y="1634490"/>
            <a:ext cx="2743200" cy="1600200"/>
          </a:xfrm>
          <a:prstGeom prst="roundRect">
            <a:avLst>
              <a:gd name="adj" fmla="val 5714"/>
            </a:avLst>
          </a:prstGeom>
          <a:solidFill>
            <a:srgbClr val="FFFFFF"/>
          </a:solidFill>
          <a:ln w="19050">
            <a:solidFill>
              <a:srgbClr val="0D7A5C"/>
            </a:solidFill>
            <a:prstDash val="solid"/>
          </a:ln>
          <a:effectLst>
            <a:outerShdw blurRad="101600" dist="25400" dir="2700000" algn="bl" rotWithShape="0">
              <a:srgbClr val="000000">
                <a:alpha val="10000"/>
              </a:srgbClr>
            </a:outerShdw>
          </a:effectLst>
        </p:spPr>
      </p:sp>
      <p:sp>
        <p:nvSpPr>
          <p:cNvPr id="5" name="Shape 3"/>
          <p:cNvSpPr/>
          <p:nvPr/>
        </p:nvSpPr>
        <p:spPr>
          <a:xfrm>
            <a:off x="274320" y="1634490"/>
            <a:ext cx="2743200" cy="457200"/>
          </a:xfrm>
          <a:prstGeom prst="roundRect">
            <a:avLst>
              <a:gd name="adj" fmla="val 20000"/>
            </a:avLst>
          </a:prstGeom>
          <a:solidFill>
            <a:srgbClr val="0D7A5C"/>
          </a:solidFill>
          <a:ln w="12700">
            <a:solidFill>
              <a:srgbClr val="0D7A5C"/>
            </a:solidFill>
            <a:prstDash val="solid"/>
          </a:ln>
        </p:spPr>
      </p:sp>
      <p:sp>
        <p:nvSpPr>
          <p:cNvPr id="6" name="Shape 4"/>
          <p:cNvSpPr/>
          <p:nvPr/>
        </p:nvSpPr>
        <p:spPr>
          <a:xfrm>
            <a:off x="274320" y="1908810"/>
            <a:ext cx="2743200" cy="182880"/>
          </a:xfrm>
          <a:prstGeom prst="rect">
            <a:avLst/>
          </a:prstGeom>
          <a:solidFill>
            <a:srgbClr val="0D7A5C"/>
          </a:solidFill>
          <a:ln w="12700">
            <a:solidFill>
              <a:srgbClr val="0D7A5C"/>
            </a:solidFill>
            <a:prstDash val="solid"/>
          </a:ln>
        </p:spPr>
      </p:sp>
      <p:sp>
        <p:nvSpPr>
          <p:cNvPr id="7" name="Text 5"/>
          <p:cNvSpPr/>
          <p:nvPr/>
        </p:nvSpPr>
        <p:spPr>
          <a:xfrm>
            <a:off x="365760" y="1680210"/>
            <a:ext cx="2560320" cy="365760"/>
          </a:xfrm>
          <a:prstGeom prst="rect">
            <a:avLst/>
          </a:prstGeom>
          <a:noFill/>
          <a:ln/>
        </p:spPr>
        <p:txBody>
          <a:bodyPr wrap="square" lIns="0" tIns="0" rIns="0" bIns="0" rtlCol="0" anchor="ctr"/>
          <a:lstStyle/>
          <a:p>
            <a:r>
              <a:rPr lang="en-US" sz="1000" b="1" dirty="0">
                <a:solidFill>
                  <a:srgbClr val="FFFFFF"/>
                </a:solidFill>
                <a:latin typeface="Calibri" pitchFamily="34" charset="0"/>
                <a:ea typeface="Calibri" pitchFamily="34" charset="-122"/>
                <a:cs typeface="Calibri" pitchFamily="34" charset="-120"/>
              </a:rPr>
              <a:t>🔷  HSE — External Crystal</a:t>
            </a:r>
            <a:endParaRPr lang="en-US" sz="1000" dirty="0"/>
          </a:p>
        </p:txBody>
      </p:sp>
      <p:sp>
        <p:nvSpPr>
          <p:cNvPr id="8" name="Text 6"/>
          <p:cNvSpPr/>
          <p:nvPr/>
        </p:nvSpPr>
        <p:spPr>
          <a:xfrm>
            <a:off x="365760" y="2137410"/>
            <a:ext cx="2560320" cy="1005840"/>
          </a:xfrm>
          <a:prstGeom prst="rect">
            <a:avLst/>
          </a:prstGeom>
          <a:noFill/>
          <a:ln/>
        </p:spPr>
        <p:txBody>
          <a:bodyPr wrap="square" lIns="0" tIns="0" rIns="0" bIns="0" rtlCol="0" anchor="t"/>
          <a:lstStyle/>
          <a:p>
            <a:r>
              <a:rPr lang="en-US" sz="1050" dirty="0">
                <a:solidFill>
                  <a:srgbClr val="1A1A2E"/>
                </a:solidFill>
                <a:latin typeface="Calibri" pitchFamily="34" charset="0"/>
                <a:ea typeface="Calibri" pitchFamily="34" charset="-122"/>
                <a:cs typeface="Calibri" pitchFamily="34" charset="-120"/>
              </a:rPr>
              <a:t>Use HSE (4–48 MHz crystal) for precision — USB, Ethernet, UART baud accuracy. Always wait for HSERDY before switching.</a:t>
            </a:r>
            <a:endParaRPr lang="en-US" sz="1050" dirty="0"/>
          </a:p>
        </p:txBody>
      </p:sp>
      <p:sp>
        <p:nvSpPr>
          <p:cNvPr id="9" name="Shape 7"/>
          <p:cNvSpPr/>
          <p:nvPr/>
        </p:nvSpPr>
        <p:spPr>
          <a:xfrm>
            <a:off x="3154680" y="1634490"/>
            <a:ext cx="2743200" cy="1600200"/>
          </a:xfrm>
          <a:prstGeom prst="roundRect">
            <a:avLst>
              <a:gd name="adj" fmla="val 5714"/>
            </a:avLst>
          </a:prstGeom>
          <a:solidFill>
            <a:srgbClr val="FFFFFF"/>
          </a:solidFill>
          <a:ln w="19050">
            <a:solidFill>
              <a:srgbClr val="0080C8"/>
            </a:solidFill>
            <a:prstDash val="solid"/>
          </a:ln>
          <a:effectLst>
            <a:outerShdw blurRad="101600" dist="25400" dir="2700000" algn="bl" rotWithShape="0">
              <a:srgbClr val="000000">
                <a:alpha val="10000"/>
              </a:srgbClr>
            </a:outerShdw>
          </a:effectLst>
        </p:spPr>
      </p:sp>
      <p:sp>
        <p:nvSpPr>
          <p:cNvPr id="10" name="Shape 8"/>
          <p:cNvSpPr/>
          <p:nvPr/>
        </p:nvSpPr>
        <p:spPr>
          <a:xfrm>
            <a:off x="3154680" y="1634490"/>
            <a:ext cx="2743200" cy="457200"/>
          </a:xfrm>
          <a:prstGeom prst="roundRect">
            <a:avLst>
              <a:gd name="adj" fmla="val 20000"/>
            </a:avLst>
          </a:prstGeom>
          <a:solidFill>
            <a:srgbClr val="0080C8"/>
          </a:solidFill>
          <a:ln w="12700">
            <a:solidFill>
              <a:srgbClr val="0080C8"/>
            </a:solidFill>
            <a:prstDash val="solid"/>
          </a:ln>
        </p:spPr>
      </p:sp>
      <p:sp>
        <p:nvSpPr>
          <p:cNvPr id="11" name="Shape 9"/>
          <p:cNvSpPr/>
          <p:nvPr/>
        </p:nvSpPr>
        <p:spPr>
          <a:xfrm>
            <a:off x="3154680" y="1908810"/>
            <a:ext cx="2743200" cy="182880"/>
          </a:xfrm>
          <a:prstGeom prst="rect">
            <a:avLst/>
          </a:prstGeom>
          <a:solidFill>
            <a:srgbClr val="0080C8"/>
          </a:solidFill>
          <a:ln w="12700">
            <a:solidFill>
              <a:srgbClr val="0080C8"/>
            </a:solidFill>
            <a:prstDash val="solid"/>
          </a:ln>
        </p:spPr>
      </p:sp>
      <p:sp>
        <p:nvSpPr>
          <p:cNvPr id="12" name="Text 10"/>
          <p:cNvSpPr/>
          <p:nvPr/>
        </p:nvSpPr>
        <p:spPr>
          <a:xfrm>
            <a:off x="3246120" y="1680210"/>
            <a:ext cx="2560320" cy="365760"/>
          </a:xfrm>
          <a:prstGeom prst="rect">
            <a:avLst/>
          </a:prstGeom>
          <a:noFill/>
          <a:ln/>
        </p:spPr>
        <p:txBody>
          <a:bodyPr wrap="square" lIns="0" tIns="0" rIns="0" bIns="0" rtlCol="0" anchor="ctr"/>
          <a:lstStyle/>
          <a:p>
            <a:r>
              <a:rPr lang="en-US" sz="1000" b="1" dirty="0">
                <a:solidFill>
                  <a:srgbClr val="FFFFFF"/>
                </a:solidFill>
                <a:latin typeface="Calibri" pitchFamily="34" charset="0"/>
                <a:ea typeface="Calibri" pitchFamily="34" charset="-122"/>
                <a:cs typeface="Calibri" pitchFamily="34" charset="-120"/>
              </a:rPr>
              <a:t>🔵  HSI — Internal RC 64 MHz</a:t>
            </a:r>
            <a:endParaRPr lang="en-US" sz="1000" dirty="0"/>
          </a:p>
        </p:txBody>
      </p:sp>
      <p:sp>
        <p:nvSpPr>
          <p:cNvPr id="13" name="Text 11"/>
          <p:cNvSpPr/>
          <p:nvPr/>
        </p:nvSpPr>
        <p:spPr>
          <a:xfrm>
            <a:off x="3246120" y="2137410"/>
            <a:ext cx="2560320" cy="1005840"/>
          </a:xfrm>
          <a:prstGeom prst="rect">
            <a:avLst/>
          </a:prstGeom>
          <a:noFill/>
          <a:ln/>
        </p:spPr>
        <p:txBody>
          <a:bodyPr wrap="square" lIns="0" tIns="0" rIns="0" bIns="0" rtlCol="0" anchor="t"/>
          <a:lstStyle/>
          <a:p>
            <a:r>
              <a:rPr lang="en-US" sz="1050" dirty="0">
                <a:solidFill>
                  <a:srgbClr val="1A1A2E"/>
                </a:solidFill>
                <a:latin typeface="Calibri" pitchFamily="34" charset="0"/>
                <a:ea typeface="Calibri" pitchFamily="34" charset="-122"/>
                <a:cs typeface="Calibri" pitchFamily="34" charset="-120"/>
              </a:rPr>
              <a:t>Default clock at reset. No external parts but ±1% accuracy. Good for bootloaders and non-USB applications.</a:t>
            </a:r>
            <a:endParaRPr lang="en-US" sz="1050" dirty="0"/>
          </a:p>
        </p:txBody>
      </p:sp>
      <p:sp>
        <p:nvSpPr>
          <p:cNvPr id="14" name="Shape 12"/>
          <p:cNvSpPr/>
          <p:nvPr/>
        </p:nvSpPr>
        <p:spPr>
          <a:xfrm>
            <a:off x="6035040" y="1634490"/>
            <a:ext cx="2743200" cy="1600200"/>
          </a:xfrm>
          <a:prstGeom prst="roundRect">
            <a:avLst>
              <a:gd name="adj" fmla="val 5714"/>
            </a:avLst>
          </a:prstGeom>
          <a:solidFill>
            <a:srgbClr val="FFFFFF"/>
          </a:solidFill>
          <a:ln w="19050">
            <a:solidFill>
              <a:srgbClr val="D4660A"/>
            </a:solidFill>
            <a:prstDash val="solid"/>
          </a:ln>
          <a:effectLst>
            <a:outerShdw blurRad="101600" dist="25400" dir="2700000" algn="bl" rotWithShape="0">
              <a:srgbClr val="000000">
                <a:alpha val="10000"/>
              </a:srgbClr>
            </a:outerShdw>
          </a:effectLst>
        </p:spPr>
      </p:sp>
      <p:sp>
        <p:nvSpPr>
          <p:cNvPr id="15" name="Shape 13"/>
          <p:cNvSpPr/>
          <p:nvPr/>
        </p:nvSpPr>
        <p:spPr>
          <a:xfrm>
            <a:off x="6035040" y="1634490"/>
            <a:ext cx="2743200" cy="457200"/>
          </a:xfrm>
          <a:prstGeom prst="roundRect">
            <a:avLst>
              <a:gd name="adj" fmla="val 20000"/>
            </a:avLst>
          </a:prstGeom>
          <a:solidFill>
            <a:srgbClr val="D4660A"/>
          </a:solidFill>
          <a:ln w="12700">
            <a:solidFill>
              <a:srgbClr val="D4660A"/>
            </a:solidFill>
            <a:prstDash val="solid"/>
          </a:ln>
        </p:spPr>
      </p:sp>
      <p:sp>
        <p:nvSpPr>
          <p:cNvPr id="16" name="Shape 14"/>
          <p:cNvSpPr/>
          <p:nvPr/>
        </p:nvSpPr>
        <p:spPr>
          <a:xfrm>
            <a:off x="6035040" y="1908810"/>
            <a:ext cx="2743200" cy="182880"/>
          </a:xfrm>
          <a:prstGeom prst="rect">
            <a:avLst/>
          </a:prstGeom>
          <a:solidFill>
            <a:srgbClr val="D4660A"/>
          </a:solidFill>
          <a:ln w="12700">
            <a:solidFill>
              <a:srgbClr val="D4660A"/>
            </a:solidFill>
            <a:prstDash val="solid"/>
          </a:ln>
        </p:spPr>
      </p:sp>
      <p:sp>
        <p:nvSpPr>
          <p:cNvPr id="17" name="Text 15"/>
          <p:cNvSpPr/>
          <p:nvPr/>
        </p:nvSpPr>
        <p:spPr>
          <a:xfrm>
            <a:off x="6126480" y="1680210"/>
            <a:ext cx="2560320" cy="365760"/>
          </a:xfrm>
          <a:prstGeom prst="rect">
            <a:avLst/>
          </a:prstGeom>
          <a:noFill/>
          <a:ln/>
        </p:spPr>
        <p:txBody>
          <a:bodyPr wrap="square" lIns="0" tIns="0" rIns="0" bIns="0" rtlCol="0" anchor="ctr"/>
          <a:lstStyle/>
          <a:p>
            <a:r>
              <a:rPr lang="en-US" sz="1000" b="1" dirty="0">
                <a:solidFill>
                  <a:srgbClr val="FFFFFF"/>
                </a:solidFill>
                <a:latin typeface="Calibri" pitchFamily="34" charset="0"/>
                <a:ea typeface="Calibri" pitchFamily="34" charset="-122"/>
                <a:cs typeface="Calibri" pitchFamily="34" charset="-120"/>
              </a:rPr>
              <a:t>🔶  PLL — Frequency Multiplier</a:t>
            </a:r>
            <a:endParaRPr lang="en-US" sz="1000" dirty="0"/>
          </a:p>
        </p:txBody>
      </p:sp>
      <p:sp>
        <p:nvSpPr>
          <p:cNvPr id="18" name="Text 16"/>
          <p:cNvSpPr/>
          <p:nvPr/>
        </p:nvSpPr>
        <p:spPr>
          <a:xfrm>
            <a:off x="6126480" y="2137410"/>
            <a:ext cx="2560320" cy="1005840"/>
          </a:xfrm>
          <a:prstGeom prst="rect">
            <a:avLst/>
          </a:prstGeom>
          <a:noFill/>
          <a:ln/>
        </p:spPr>
        <p:txBody>
          <a:bodyPr wrap="square" lIns="0" tIns="0" rIns="0" bIns="0" rtlCol="0" anchor="t"/>
          <a:lstStyle/>
          <a:p>
            <a:r>
              <a:rPr lang="en-US" sz="1050" dirty="0">
                <a:solidFill>
                  <a:srgbClr val="1A1A2E"/>
                </a:solidFill>
                <a:latin typeface="Calibri" pitchFamily="34" charset="0"/>
                <a:ea typeface="Calibri" pitchFamily="34" charset="-122"/>
                <a:cs typeface="Calibri" pitchFamily="34" charset="-120"/>
              </a:rPr>
              <a:t>3 PLLs available. Formula: f_out = (f_in/M)×N/P. VCO must stay 192–960 MHz. Critical for reaching 480 MHz.</a:t>
            </a:r>
            <a:endParaRPr lang="en-US" sz="1050" dirty="0"/>
          </a:p>
        </p:txBody>
      </p:sp>
      <p:sp>
        <p:nvSpPr>
          <p:cNvPr id="19" name="Shape 17"/>
          <p:cNvSpPr/>
          <p:nvPr/>
        </p:nvSpPr>
        <p:spPr>
          <a:xfrm>
            <a:off x="274320" y="3463290"/>
            <a:ext cx="2743200" cy="1600200"/>
          </a:xfrm>
          <a:prstGeom prst="roundRect">
            <a:avLst>
              <a:gd name="adj" fmla="val 5714"/>
            </a:avLst>
          </a:prstGeom>
          <a:solidFill>
            <a:srgbClr val="FFFFFF"/>
          </a:solidFill>
          <a:ln w="19050">
            <a:solidFill>
              <a:srgbClr val="1A3A5C"/>
            </a:solidFill>
            <a:prstDash val="solid"/>
          </a:ln>
          <a:effectLst>
            <a:outerShdw blurRad="101600" dist="25400" dir="2700000" algn="bl" rotWithShape="0">
              <a:srgbClr val="000000">
                <a:alpha val="10000"/>
              </a:srgbClr>
            </a:outerShdw>
          </a:effectLst>
        </p:spPr>
      </p:sp>
      <p:sp>
        <p:nvSpPr>
          <p:cNvPr id="20" name="Shape 18"/>
          <p:cNvSpPr/>
          <p:nvPr/>
        </p:nvSpPr>
        <p:spPr>
          <a:xfrm>
            <a:off x="274320" y="3463290"/>
            <a:ext cx="2743200" cy="457200"/>
          </a:xfrm>
          <a:prstGeom prst="roundRect">
            <a:avLst>
              <a:gd name="adj" fmla="val 20000"/>
            </a:avLst>
          </a:prstGeom>
          <a:solidFill>
            <a:srgbClr val="1A3A5C"/>
          </a:solidFill>
          <a:ln w="12700">
            <a:solidFill>
              <a:srgbClr val="1A3A5C"/>
            </a:solidFill>
            <a:prstDash val="solid"/>
          </a:ln>
        </p:spPr>
      </p:sp>
      <p:sp>
        <p:nvSpPr>
          <p:cNvPr id="21" name="Shape 19"/>
          <p:cNvSpPr/>
          <p:nvPr/>
        </p:nvSpPr>
        <p:spPr>
          <a:xfrm>
            <a:off x="274320" y="3737610"/>
            <a:ext cx="2743200" cy="182880"/>
          </a:xfrm>
          <a:prstGeom prst="rect">
            <a:avLst/>
          </a:prstGeom>
          <a:solidFill>
            <a:srgbClr val="1A3A5C"/>
          </a:solidFill>
          <a:ln w="12700">
            <a:solidFill>
              <a:srgbClr val="1A3A5C"/>
            </a:solidFill>
            <a:prstDash val="solid"/>
          </a:ln>
        </p:spPr>
      </p:sp>
      <p:sp>
        <p:nvSpPr>
          <p:cNvPr id="22" name="Text 20"/>
          <p:cNvSpPr/>
          <p:nvPr/>
        </p:nvSpPr>
        <p:spPr>
          <a:xfrm>
            <a:off x="365760" y="3509010"/>
            <a:ext cx="2560320" cy="365760"/>
          </a:xfrm>
          <a:prstGeom prst="rect">
            <a:avLst/>
          </a:prstGeom>
          <a:noFill/>
          <a:ln/>
        </p:spPr>
        <p:txBody>
          <a:bodyPr wrap="square" lIns="0" tIns="0" rIns="0" bIns="0" rtlCol="0" anchor="ctr"/>
          <a:lstStyle/>
          <a:p>
            <a:r>
              <a:rPr lang="en-US" sz="1000" b="1" dirty="0">
                <a:solidFill>
                  <a:srgbClr val="FFFFFF"/>
                </a:solidFill>
                <a:latin typeface="Calibri" pitchFamily="34" charset="0"/>
                <a:ea typeface="Calibri" pitchFamily="34" charset="-122"/>
                <a:cs typeface="Calibri" pitchFamily="34" charset="-120"/>
              </a:rPr>
              <a:t>⚙️  SYSCLK — Master System Clock</a:t>
            </a:r>
            <a:endParaRPr lang="en-US" sz="1000" dirty="0"/>
          </a:p>
        </p:txBody>
      </p:sp>
      <p:sp>
        <p:nvSpPr>
          <p:cNvPr id="23" name="Text 21"/>
          <p:cNvSpPr/>
          <p:nvPr/>
        </p:nvSpPr>
        <p:spPr>
          <a:xfrm>
            <a:off x="365760" y="3966210"/>
            <a:ext cx="2560320" cy="1005840"/>
          </a:xfrm>
          <a:prstGeom prst="rect">
            <a:avLst/>
          </a:prstGeom>
          <a:noFill/>
          <a:ln/>
        </p:spPr>
        <p:txBody>
          <a:bodyPr wrap="square" lIns="0" tIns="0" rIns="0" bIns="0" rtlCol="0" anchor="t"/>
          <a:lstStyle/>
          <a:p>
            <a:r>
              <a:rPr lang="en-US" sz="1050" dirty="0">
                <a:solidFill>
                  <a:srgbClr val="1A1A2E"/>
                </a:solidFill>
                <a:latin typeface="Calibri" pitchFamily="34" charset="0"/>
                <a:ea typeface="Calibri" pitchFamily="34" charset="-122"/>
                <a:cs typeface="Calibri" pitchFamily="34" charset="-120"/>
              </a:rPr>
              <a:t>Select source via RCC_CFGR.SW. Max 480 MHz (VOS0). Always poll SWS to confirm the switch completed.</a:t>
            </a:r>
            <a:endParaRPr lang="en-US" sz="1050" dirty="0"/>
          </a:p>
        </p:txBody>
      </p:sp>
      <p:sp>
        <p:nvSpPr>
          <p:cNvPr id="24" name="Shape 22"/>
          <p:cNvSpPr/>
          <p:nvPr/>
        </p:nvSpPr>
        <p:spPr>
          <a:xfrm>
            <a:off x="3154680" y="3463290"/>
            <a:ext cx="2743200" cy="1600200"/>
          </a:xfrm>
          <a:prstGeom prst="roundRect">
            <a:avLst>
              <a:gd name="adj" fmla="val 5714"/>
            </a:avLst>
          </a:prstGeom>
          <a:solidFill>
            <a:srgbClr val="FFFFFF"/>
          </a:solidFill>
          <a:ln w="19050">
            <a:solidFill>
              <a:srgbClr val="005F8E"/>
            </a:solidFill>
            <a:prstDash val="solid"/>
          </a:ln>
          <a:effectLst>
            <a:outerShdw blurRad="101600" dist="25400" dir="2700000" algn="bl" rotWithShape="0">
              <a:srgbClr val="000000">
                <a:alpha val="10000"/>
              </a:srgbClr>
            </a:outerShdw>
          </a:effectLst>
        </p:spPr>
      </p:sp>
      <p:sp>
        <p:nvSpPr>
          <p:cNvPr id="25" name="Shape 23"/>
          <p:cNvSpPr/>
          <p:nvPr/>
        </p:nvSpPr>
        <p:spPr>
          <a:xfrm>
            <a:off x="3154680" y="3463290"/>
            <a:ext cx="2743200" cy="457200"/>
          </a:xfrm>
          <a:prstGeom prst="roundRect">
            <a:avLst>
              <a:gd name="adj" fmla="val 20000"/>
            </a:avLst>
          </a:prstGeom>
          <a:solidFill>
            <a:srgbClr val="005F8E"/>
          </a:solidFill>
          <a:ln w="12700">
            <a:solidFill>
              <a:srgbClr val="005F8E"/>
            </a:solidFill>
            <a:prstDash val="solid"/>
          </a:ln>
        </p:spPr>
      </p:sp>
      <p:sp>
        <p:nvSpPr>
          <p:cNvPr id="26" name="Shape 24"/>
          <p:cNvSpPr/>
          <p:nvPr/>
        </p:nvSpPr>
        <p:spPr>
          <a:xfrm>
            <a:off x="3154680" y="3737610"/>
            <a:ext cx="2743200" cy="182880"/>
          </a:xfrm>
          <a:prstGeom prst="rect">
            <a:avLst/>
          </a:prstGeom>
          <a:solidFill>
            <a:srgbClr val="005F8E"/>
          </a:solidFill>
          <a:ln w="12700">
            <a:solidFill>
              <a:srgbClr val="005F8E"/>
            </a:solidFill>
            <a:prstDash val="solid"/>
          </a:ln>
        </p:spPr>
      </p:sp>
      <p:sp>
        <p:nvSpPr>
          <p:cNvPr id="27" name="Text 25"/>
          <p:cNvSpPr/>
          <p:nvPr/>
        </p:nvSpPr>
        <p:spPr>
          <a:xfrm>
            <a:off x="3246120" y="3509010"/>
            <a:ext cx="2560320" cy="365760"/>
          </a:xfrm>
          <a:prstGeom prst="rect">
            <a:avLst/>
          </a:prstGeom>
          <a:noFill/>
          <a:ln/>
        </p:spPr>
        <p:txBody>
          <a:bodyPr wrap="square" lIns="0" tIns="0" rIns="0" bIns="0" rtlCol="0" anchor="ctr"/>
          <a:lstStyle/>
          <a:p>
            <a:r>
              <a:rPr lang="en-US" sz="1000" b="1" dirty="0">
                <a:solidFill>
                  <a:srgbClr val="FFFFFF"/>
                </a:solidFill>
                <a:latin typeface="Calibri" pitchFamily="34" charset="0"/>
                <a:ea typeface="Calibri" pitchFamily="34" charset="-122"/>
                <a:cs typeface="Calibri" pitchFamily="34" charset="-120"/>
              </a:rPr>
              <a:t>📐  AHB — Bus Clock ÷1–512</a:t>
            </a:r>
            <a:endParaRPr lang="en-US" sz="1000" dirty="0"/>
          </a:p>
        </p:txBody>
      </p:sp>
      <p:sp>
        <p:nvSpPr>
          <p:cNvPr id="28" name="Text 26"/>
          <p:cNvSpPr/>
          <p:nvPr/>
        </p:nvSpPr>
        <p:spPr>
          <a:xfrm>
            <a:off x="3246120" y="3966210"/>
            <a:ext cx="2560320" cy="1005840"/>
          </a:xfrm>
          <a:prstGeom prst="rect">
            <a:avLst/>
          </a:prstGeom>
          <a:noFill/>
          <a:ln/>
        </p:spPr>
        <p:txBody>
          <a:bodyPr wrap="square" lIns="0" tIns="0" rIns="0" bIns="0" rtlCol="0" anchor="t"/>
          <a:lstStyle/>
          <a:p>
            <a:r>
              <a:rPr lang="en-US" sz="1050" dirty="0">
                <a:solidFill>
                  <a:srgbClr val="1A1A2E"/>
                </a:solidFill>
                <a:latin typeface="Calibri" pitchFamily="34" charset="0"/>
                <a:ea typeface="Calibri" pitchFamily="34" charset="-122"/>
                <a:cs typeface="Calibri" pitchFamily="34" charset="-120"/>
              </a:rPr>
              <a:t>HCLK feeds CPU, DMA, Flash. Max 240 MHz. All APB clocks derive from HCLK, so prescale carefully.</a:t>
            </a:r>
            <a:endParaRPr lang="en-US" sz="1050" dirty="0"/>
          </a:p>
        </p:txBody>
      </p:sp>
      <p:sp>
        <p:nvSpPr>
          <p:cNvPr id="29" name="Shape 27"/>
          <p:cNvSpPr/>
          <p:nvPr/>
        </p:nvSpPr>
        <p:spPr>
          <a:xfrm>
            <a:off x="6035040" y="3463290"/>
            <a:ext cx="2743200" cy="1600200"/>
          </a:xfrm>
          <a:prstGeom prst="roundRect">
            <a:avLst>
              <a:gd name="adj" fmla="val 5714"/>
            </a:avLst>
          </a:prstGeom>
          <a:solidFill>
            <a:srgbClr val="FFFFFF"/>
          </a:solidFill>
          <a:ln w="19050">
            <a:solidFill>
              <a:srgbClr val="5B6E9E"/>
            </a:solidFill>
            <a:prstDash val="solid"/>
          </a:ln>
          <a:effectLst>
            <a:outerShdw blurRad="101600" dist="25400" dir="2700000" algn="bl" rotWithShape="0">
              <a:srgbClr val="000000">
                <a:alpha val="10000"/>
              </a:srgbClr>
            </a:outerShdw>
          </a:effectLst>
        </p:spPr>
      </p:sp>
      <p:sp>
        <p:nvSpPr>
          <p:cNvPr id="30" name="Shape 28"/>
          <p:cNvSpPr/>
          <p:nvPr/>
        </p:nvSpPr>
        <p:spPr>
          <a:xfrm>
            <a:off x="6035040" y="3463290"/>
            <a:ext cx="2743200" cy="457200"/>
          </a:xfrm>
          <a:prstGeom prst="roundRect">
            <a:avLst>
              <a:gd name="adj" fmla="val 20000"/>
            </a:avLst>
          </a:prstGeom>
          <a:solidFill>
            <a:srgbClr val="5B6E9E"/>
          </a:solidFill>
          <a:ln w="12700">
            <a:solidFill>
              <a:srgbClr val="5B6E9E"/>
            </a:solidFill>
            <a:prstDash val="solid"/>
          </a:ln>
        </p:spPr>
      </p:sp>
      <p:sp>
        <p:nvSpPr>
          <p:cNvPr id="31" name="Shape 29"/>
          <p:cNvSpPr/>
          <p:nvPr/>
        </p:nvSpPr>
        <p:spPr>
          <a:xfrm>
            <a:off x="6035040" y="3737610"/>
            <a:ext cx="2743200" cy="182880"/>
          </a:xfrm>
          <a:prstGeom prst="rect">
            <a:avLst/>
          </a:prstGeom>
          <a:solidFill>
            <a:srgbClr val="5B6E9E"/>
          </a:solidFill>
          <a:ln w="12700">
            <a:solidFill>
              <a:srgbClr val="5B6E9E"/>
            </a:solidFill>
            <a:prstDash val="solid"/>
          </a:ln>
        </p:spPr>
      </p:sp>
      <p:sp>
        <p:nvSpPr>
          <p:cNvPr id="32" name="Text 30"/>
          <p:cNvSpPr/>
          <p:nvPr/>
        </p:nvSpPr>
        <p:spPr>
          <a:xfrm>
            <a:off x="6126480" y="3509010"/>
            <a:ext cx="2560320" cy="365760"/>
          </a:xfrm>
          <a:prstGeom prst="rect">
            <a:avLst/>
          </a:prstGeom>
          <a:noFill/>
          <a:ln/>
        </p:spPr>
        <p:txBody>
          <a:bodyPr wrap="square" lIns="0" tIns="0" rIns="0" bIns="0" rtlCol="0" anchor="ctr"/>
          <a:lstStyle/>
          <a:p>
            <a:r>
              <a:rPr lang="en-US" sz="1000" b="1" dirty="0">
                <a:solidFill>
                  <a:srgbClr val="FFFFFF"/>
                </a:solidFill>
                <a:latin typeface="Calibri" pitchFamily="34" charset="0"/>
                <a:ea typeface="Calibri" pitchFamily="34" charset="-122"/>
                <a:cs typeface="Calibri" pitchFamily="34" charset="-120"/>
              </a:rPr>
              <a:t>🔌  APBx — Peripheral Clocks ÷1–16</a:t>
            </a:r>
            <a:endParaRPr lang="en-US" sz="1000" dirty="0"/>
          </a:p>
        </p:txBody>
      </p:sp>
      <p:sp>
        <p:nvSpPr>
          <p:cNvPr id="33" name="Text 31"/>
          <p:cNvSpPr/>
          <p:nvPr/>
        </p:nvSpPr>
        <p:spPr>
          <a:xfrm>
            <a:off x="6126480" y="3966210"/>
            <a:ext cx="2560320" cy="1005840"/>
          </a:xfrm>
          <a:prstGeom prst="rect">
            <a:avLst/>
          </a:prstGeom>
          <a:noFill/>
          <a:ln/>
        </p:spPr>
        <p:txBody>
          <a:bodyPr wrap="square" lIns="0" tIns="0" rIns="0" bIns="0" rtlCol="0" anchor="t"/>
          <a:lstStyle/>
          <a:p>
            <a:r>
              <a:rPr lang="en-US" sz="1050" dirty="0">
                <a:solidFill>
                  <a:srgbClr val="1A1A2E"/>
                </a:solidFill>
                <a:latin typeface="Calibri" pitchFamily="34" charset="0"/>
                <a:ea typeface="Calibri" pitchFamily="34" charset="-122"/>
                <a:cs typeface="Calibri" pitchFamily="34" charset="-120"/>
              </a:rPr>
              <a:t>APB1–4 each ≤120 MHz. Timer clocks are ×2 when prescaler &gt;1. Configure before enabling peripherals.</a:t>
            </a:r>
            <a:endParaRPr lang="en-US" sz="1050" dirty="0"/>
          </a:p>
        </p:txBody>
      </p:sp>
      <p:sp>
        <p:nvSpPr>
          <p:cNvPr id="34" name="Shape 32"/>
          <p:cNvSpPr/>
          <p:nvPr/>
        </p:nvSpPr>
        <p:spPr>
          <a:xfrm>
            <a:off x="274320" y="5246370"/>
            <a:ext cx="8595360" cy="566928"/>
          </a:xfrm>
          <a:prstGeom prst="roundRect">
            <a:avLst>
              <a:gd name="adj" fmla="val 12903"/>
            </a:avLst>
          </a:prstGeom>
          <a:solidFill>
            <a:srgbClr val="1A3A5C"/>
          </a:solidFill>
          <a:ln w="12700">
            <a:solidFill>
              <a:srgbClr val="1A3A5C"/>
            </a:solidFill>
            <a:prstDash val="solid"/>
          </a:ln>
        </p:spPr>
      </p:sp>
      <p:sp>
        <p:nvSpPr>
          <p:cNvPr id="35" name="Text 33"/>
          <p:cNvSpPr/>
          <p:nvPr/>
        </p:nvSpPr>
        <p:spPr>
          <a:xfrm>
            <a:off x="457200" y="5292090"/>
            <a:ext cx="8321040" cy="475488"/>
          </a:xfrm>
          <a:prstGeom prst="rect">
            <a:avLst/>
          </a:prstGeom>
          <a:noFill/>
          <a:ln/>
        </p:spPr>
        <p:txBody>
          <a:bodyPr wrap="square" lIns="0" tIns="0" rIns="0" bIns="0" rtlCol="0" anchor="ctr"/>
          <a:lstStyle/>
          <a:p>
            <a:r>
              <a:rPr lang="en-US" sz="1100" dirty="0">
                <a:solidFill>
                  <a:srgbClr val="FFFFFF"/>
                </a:solidFill>
                <a:latin typeface="Calibri" pitchFamily="34" charset="0"/>
                <a:ea typeface="Calibri" pitchFamily="34" charset="-122"/>
                <a:cs typeface="Calibri" pitchFamily="34" charset="-120"/>
              </a:rPr>
              <a:t>🏆  Golden Rule: Source → PLL (multiply) → SYSCLK (select) → AHB (divide) → APBx (divide) → Peripheral. Each stage must be stable before the next is enabled.</a:t>
            </a:r>
            <a:endParaRPr lang="en-US" sz="1100" dirty="0"/>
          </a:p>
        </p:txBody>
      </p:sp>
    </p:spTree>
    <p:extLst>
      <p:ext uri="{BB962C8B-B14F-4D97-AF65-F5344CB8AC3E}">
        <p14:creationId xmlns:p14="http://schemas.microsoft.com/office/powerpoint/2010/main" val="2591001196"/>
      </p:ext>
    </p:extLst>
  </p:cSld>
  <p:clrMapOvr>
    <a:masterClrMapping/>
  </p:clrMapOvr>
</p:sld>
</file>

<file path=ppt/theme/theme1.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TotalTime>
  <Words>2199</Words>
  <Application>Microsoft Office PowerPoint</Application>
  <PresentationFormat>On-screen Show (4:3)</PresentationFormat>
  <Paragraphs>309</Paragraphs>
  <Slides>10</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Calibri</vt:lpstr>
      <vt:lpstr>Cambria</vt:lpstr>
      <vt:lpstr>Courier New</vt:lpstr>
      <vt:lpstr>Gill Sans MT</vt:lpstr>
      <vt:lpstr>1_Gallery</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RAVI KANTH</dc:creator>
  <cp:keywords/>
  <dc:description>generated using python-pptx</dc:description>
  <cp:lastModifiedBy>Dr. Prabakaran N</cp:lastModifiedBy>
  <cp:revision>15</cp:revision>
  <dcterms:created xsi:type="dcterms:W3CDTF">2013-01-27T09:14:16Z</dcterms:created>
  <dcterms:modified xsi:type="dcterms:W3CDTF">2026-06-30T16:17:27Z</dcterms:modified>
  <cp:category/>
</cp:coreProperties>
</file>